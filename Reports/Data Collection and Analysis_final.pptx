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1" r:id="rId1"/>
  </p:sldMasterIdLst>
  <p:notesMasterIdLst>
    <p:notesMasterId r:id="rId33"/>
  </p:notesMasterIdLst>
  <p:sldIdLst>
    <p:sldId id="256" r:id="rId2"/>
    <p:sldId id="265" r:id="rId3"/>
    <p:sldId id="260" r:id="rId4"/>
    <p:sldId id="320" r:id="rId5"/>
    <p:sldId id="321" r:id="rId6"/>
    <p:sldId id="316" r:id="rId7"/>
    <p:sldId id="322" r:id="rId8"/>
    <p:sldId id="323" r:id="rId9"/>
    <p:sldId id="324" r:id="rId10"/>
    <p:sldId id="325" r:id="rId11"/>
    <p:sldId id="317" r:id="rId12"/>
    <p:sldId id="326" r:id="rId13"/>
    <p:sldId id="328" r:id="rId14"/>
    <p:sldId id="330" r:id="rId15"/>
    <p:sldId id="318" r:id="rId16"/>
    <p:sldId id="331" r:id="rId17"/>
    <p:sldId id="332" r:id="rId18"/>
    <p:sldId id="335" r:id="rId19"/>
    <p:sldId id="336" r:id="rId20"/>
    <p:sldId id="337" r:id="rId21"/>
    <p:sldId id="338" r:id="rId22"/>
    <p:sldId id="339" r:id="rId23"/>
    <p:sldId id="340" r:id="rId24"/>
    <p:sldId id="341" r:id="rId25"/>
    <p:sldId id="343" r:id="rId26"/>
    <p:sldId id="342" r:id="rId27"/>
    <p:sldId id="344" r:id="rId28"/>
    <p:sldId id="345" r:id="rId29"/>
    <p:sldId id="346" r:id="rId30"/>
    <p:sldId id="347" r:id="rId31"/>
    <p:sldId id="259" r:id="rId32"/>
  </p:sldIdLst>
  <p:sldSz cx="9144000" cy="5143500" type="screen16x9"/>
  <p:notesSz cx="6858000" cy="9144000"/>
  <p:embeddedFontLst>
    <p:embeddedFont>
      <p:font typeface="DM Sans" pitchFamily="2" charset="0"/>
      <p:regular r:id="rId34"/>
      <p:bold r:id="rId35"/>
      <p:italic r:id="rId36"/>
      <p:boldItalic r:id="rId37"/>
    </p:embeddedFont>
    <p:embeddedFont>
      <p:font typeface="Outfit" panose="020B0604020202020204" charset="0"/>
      <p:regular r:id="rId38"/>
      <p:bold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46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1B584F8-9B41-45E2-8634-020A909CEA77}">
  <a:tblStyle styleId="{91B584F8-9B41-45E2-8634-020A909CEA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199" autoAdjust="0"/>
  </p:normalViewPr>
  <p:slideViewPr>
    <p:cSldViewPr snapToGrid="0">
      <p:cViewPr varScale="1">
        <p:scale>
          <a:sx n="97" d="100"/>
          <a:sy n="97" d="100"/>
        </p:scale>
        <p:origin x="1042" y="-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2" name="Google Shape;342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gd5260bdd85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4" name="Google Shape;524;gd5260bdd85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361996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7DD2019D-5703-0C8E-EAE2-B3DBBAE6D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F9193C82-E1EE-5F5B-D88E-1592D607AD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6D660943-6166-6594-DD2A-0D354F2804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79409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73F122F8-2608-242C-7E56-0D8BD36A65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54C65E0C-16E9-09E1-D02F-FE392BB779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C8A8C58B-CA9F-1180-1A6D-83620FFB9E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646233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>
          <a:extLst>
            <a:ext uri="{FF2B5EF4-FFF2-40B4-BE49-F238E27FC236}">
              <a16:creationId xmlns:a16="http://schemas.microsoft.com/office/drawing/2014/main" id="{239B279D-D267-8D4D-AC47-74D70A23D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54dda1946d_6_308:notes">
            <a:extLst>
              <a:ext uri="{FF2B5EF4-FFF2-40B4-BE49-F238E27FC236}">
                <a16:creationId xmlns:a16="http://schemas.microsoft.com/office/drawing/2014/main" id="{0B08CD70-0700-3AFE-4C91-FC12F8CD75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54dda1946d_6_308:notes">
            <a:extLst>
              <a:ext uri="{FF2B5EF4-FFF2-40B4-BE49-F238E27FC236}">
                <a16:creationId xmlns:a16="http://schemas.microsoft.com/office/drawing/2014/main" id="{D2BBFA52-1B11-717F-D339-E7F9B6A658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524323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23600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3765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B9E31-3328-BA30-815C-7C79D0061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29F32-2498-DA3B-DAF5-E8CE6B4F8D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62F518-2824-35C6-2C38-DDFD92FCB4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7568458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91366-3283-3B82-C698-F64FB726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12539-824B-58F8-23DB-2E655827CB5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0C5E76-EDB2-997E-5689-75ED1E377B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6653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687864-B6F9-7291-5467-42633C7D9C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2E1F996-15BD-BAE9-D6A6-1EEE08C703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3CC58-BD36-BA5C-2F4D-B9779ADD7E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05299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EE8388-431D-0B17-C0B0-9034075AD3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332FEEC-FF37-0D82-383B-7B05EE7BF3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0591EC-952B-26E4-0CDD-2405A2FD9D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825868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85612-9E2C-01C4-DE21-B00F68FDB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4149117-3B01-0D34-F219-5EF2DDF42C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64C5F38-4C0A-7170-64C9-699ECC6AF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98868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5419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36ABD2-650F-512D-71B6-023840F49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912E79-DC2E-CC84-40FE-DDEA17B32D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A2FB41-A8C0-AD2D-CD9E-759B501DED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1806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D44B1-2603-8EF3-F728-A3A5AF134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482DBF-A506-6160-B0C5-FD48E316B7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E601FE-811B-90D3-4A87-20F38D07F3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94951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F34D59-A5AB-66CF-1BB4-E4D7AD3E9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CE896-0202-7BCD-E6F8-6D437609C9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F1D0C96-EB40-AE46-2A10-9316C1949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6386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3D45DE-5D0D-36DA-E5C8-76051464C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0A5251C-367A-64CE-2D3E-3A061F1780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51CFB9-16D0-F8E0-BEC7-80E1C3EBBA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029871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EE0E3-0402-52CD-306A-AE0502048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19DADE9-780F-372B-7FC2-B0C9DB29D5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64EA7-24B9-2C8E-51B9-490F1C3D51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87025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5479B-BD94-AFE5-53C6-D5DDDDFE2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4DC6867-4E3C-CFC3-DC1D-7508551379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F1ED665-E382-14BF-CCA3-69C716AF15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91736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B0E1E-9404-EBCE-5BBC-F7D865EBF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69B4B-D349-7E44-F2FC-F4DDC781C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5865CF-1A4F-5F2A-B9CC-17BAA6017F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98332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2" name="Google Shape;402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156000"/>
            <a:ext cx="4160700" cy="2385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42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5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713225" y="2384250"/>
            <a:ext cx="4344300" cy="915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713225" y="3300150"/>
            <a:ext cx="4344300" cy="3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3862975" y="1655500"/>
            <a:ext cx="45678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5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ubTitle" idx="1"/>
          </p:nvPr>
        </p:nvSpPr>
        <p:spPr>
          <a:xfrm>
            <a:off x="3862975" y="2816925"/>
            <a:ext cx="45678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1" name="Google Shape;261;p27"/>
          <p:cNvGrpSpPr/>
          <p:nvPr/>
        </p:nvGrpSpPr>
        <p:grpSpPr>
          <a:xfrm>
            <a:off x="-519458" y="2674710"/>
            <a:ext cx="10224210" cy="2744938"/>
            <a:chOff x="-519458" y="2674710"/>
            <a:chExt cx="10224210" cy="2744938"/>
          </a:xfrm>
        </p:grpSpPr>
        <p:sp>
          <p:nvSpPr>
            <p:cNvPr id="262" name="Google Shape;262;p27"/>
            <p:cNvSpPr/>
            <p:nvPr/>
          </p:nvSpPr>
          <p:spPr>
            <a:xfrm rot="10800000" flipH="1">
              <a:off x="-118698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3" name="Google Shape;263;p27"/>
            <p:cNvSpPr/>
            <p:nvPr/>
          </p:nvSpPr>
          <p:spPr>
            <a:xfrm rot="10800000" flipH="1">
              <a:off x="-519458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7"/>
            <p:cNvSpPr/>
            <p:nvPr/>
          </p:nvSpPr>
          <p:spPr>
            <a:xfrm>
              <a:off x="-519448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7"/>
            <p:cNvSpPr/>
            <p:nvPr/>
          </p:nvSpPr>
          <p:spPr>
            <a:xfrm>
              <a:off x="213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6" name="Google Shape;266;p27"/>
            <p:cNvSpPr/>
            <p:nvPr/>
          </p:nvSpPr>
          <p:spPr>
            <a:xfrm rot="10800000">
              <a:off x="8465282" y="30847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7" name="Google Shape;267;p27"/>
            <p:cNvSpPr/>
            <p:nvPr/>
          </p:nvSpPr>
          <p:spPr>
            <a:xfrm rot="10800000">
              <a:off x="8866042" y="2674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8" name="Google Shape;268;p27"/>
            <p:cNvSpPr/>
            <p:nvPr/>
          </p:nvSpPr>
          <p:spPr>
            <a:xfrm flipH="1">
              <a:off x="8866032" y="395571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9" name="Google Shape;269;p27"/>
            <p:cNvSpPr/>
            <p:nvPr/>
          </p:nvSpPr>
          <p:spPr>
            <a:xfrm flipH="1">
              <a:off x="8325192" y="445152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70" name="Google Shape;270;p2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27"/>
          <p:cNvSpPr txBox="1">
            <a:spLocks noGrp="1"/>
          </p:cNvSpPr>
          <p:nvPr>
            <p:ph type="subTitle" idx="1"/>
          </p:nvPr>
        </p:nvSpPr>
        <p:spPr>
          <a:xfrm>
            <a:off x="1142950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2" name="Google Shape;272;p27"/>
          <p:cNvSpPr txBox="1">
            <a:spLocks noGrp="1"/>
          </p:cNvSpPr>
          <p:nvPr>
            <p:ph type="subTitle" idx="2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subTitle" idx="3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4" name="Google Shape;274;p27"/>
          <p:cNvSpPr txBox="1">
            <a:spLocks noGrp="1"/>
          </p:cNvSpPr>
          <p:nvPr>
            <p:ph type="subTitle" idx="4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27"/>
          <p:cNvSpPr txBox="1">
            <a:spLocks noGrp="1"/>
          </p:cNvSpPr>
          <p:nvPr>
            <p:ph type="subTitle" idx="5"/>
          </p:nvPr>
        </p:nvSpPr>
        <p:spPr>
          <a:xfrm>
            <a:off x="1142962" y="186058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6" name="Google Shape;276;p27"/>
          <p:cNvSpPr txBox="1">
            <a:spLocks noGrp="1"/>
          </p:cNvSpPr>
          <p:nvPr>
            <p:ph type="subTitle" idx="6"/>
          </p:nvPr>
        </p:nvSpPr>
        <p:spPr>
          <a:xfrm>
            <a:off x="1142962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7" name="Google Shape;277;p27"/>
          <p:cNvSpPr txBox="1">
            <a:spLocks noGrp="1"/>
          </p:cNvSpPr>
          <p:nvPr>
            <p:ph type="subTitle" idx="7"/>
          </p:nvPr>
        </p:nvSpPr>
        <p:spPr>
          <a:xfrm>
            <a:off x="4749338" y="186058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  <p:sp>
        <p:nvSpPr>
          <p:cNvPr id="278" name="Google Shape;278;p27"/>
          <p:cNvSpPr txBox="1">
            <a:spLocks noGrp="1"/>
          </p:cNvSpPr>
          <p:nvPr>
            <p:ph type="subTitle" idx="8"/>
          </p:nvPr>
        </p:nvSpPr>
        <p:spPr>
          <a:xfrm>
            <a:off x="4749338" y="3651938"/>
            <a:ext cx="3251700" cy="50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400" b="1"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4" name="Google Shape;314;p31"/>
          <p:cNvGrpSpPr/>
          <p:nvPr/>
        </p:nvGrpSpPr>
        <p:grpSpPr>
          <a:xfrm>
            <a:off x="-247298" y="-446215"/>
            <a:ext cx="9638610" cy="6030088"/>
            <a:chOff x="-247298" y="-446215"/>
            <a:chExt cx="9638610" cy="6030088"/>
          </a:xfrm>
        </p:grpSpPr>
        <p:sp>
          <p:nvSpPr>
            <p:cNvPr id="315" name="Google Shape;315;p31"/>
            <p:cNvSpPr/>
            <p:nvPr/>
          </p:nvSpPr>
          <p:spPr>
            <a:xfrm>
              <a:off x="-125573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-125583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1"/>
            <p:cNvSpPr/>
            <p:nvPr/>
          </p:nvSpPr>
          <p:spPr>
            <a:xfrm rot="10800000" flipH="1">
              <a:off x="-247298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1"/>
            <p:cNvSpPr/>
            <p:nvPr/>
          </p:nvSpPr>
          <p:spPr>
            <a:xfrm rot="10800000" flipH="1">
              <a:off x="346967" y="-44621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" name="Google Shape;319;p31"/>
            <p:cNvSpPr/>
            <p:nvPr/>
          </p:nvSpPr>
          <p:spPr>
            <a:xfrm rot="10800000">
              <a:off x="7958317" y="-42862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" name="Google Shape;320;p31"/>
            <p:cNvSpPr/>
            <p:nvPr/>
          </p:nvSpPr>
          <p:spPr>
            <a:xfrm rot="10800000">
              <a:off x="8552602" y="496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8430777" y="411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8430767" y="4615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4" name="Google Shape;324;p32"/>
          <p:cNvGrpSpPr/>
          <p:nvPr/>
        </p:nvGrpSpPr>
        <p:grpSpPr>
          <a:xfrm>
            <a:off x="-476796" y="2900252"/>
            <a:ext cx="10097585" cy="2865204"/>
            <a:chOff x="-476796" y="2900252"/>
            <a:chExt cx="10097585" cy="2865204"/>
          </a:xfrm>
        </p:grpSpPr>
        <p:grpSp>
          <p:nvGrpSpPr>
            <p:cNvPr id="325" name="Google Shape;325;p32"/>
            <p:cNvGrpSpPr/>
            <p:nvPr/>
          </p:nvGrpSpPr>
          <p:grpSpPr>
            <a:xfrm>
              <a:off x="-476796" y="2900252"/>
              <a:ext cx="10097585" cy="2865204"/>
              <a:chOff x="-476796" y="2900252"/>
              <a:chExt cx="10097585" cy="2865204"/>
            </a:xfrm>
          </p:grpSpPr>
          <p:sp>
            <p:nvSpPr>
              <p:cNvPr id="326" name="Google Shape;326;p32"/>
              <p:cNvSpPr/>
              <p:nvPr/>
            </p:nvSpPr>
            <p:spPr>
              <a:xfrm rot="10800000" flipH="1">
                <a:off x="-266661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7" name="Google Shape;327;p32"/>
              <p:cNvSpPr/>
              <p:nvPr/>
            </p:nvSpPr>
            <p:spPr>
              <a:xfrm>
                <a:off x="-90736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8" name="Google Shape;328;p32"/>
              <p:cNvSpPr/>
              <p:nvPr/>
            </p:nvSpPr>
            <p:spPr>
              <a:xfrm>
                <a:off x="-476796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29" name="Google Shape;329;p32"/>
              <p:cNvSpPr/>
              <p:nvPr/>
            </p:nvSpPr>
            <p:spPr>
              <a:xfrm rot="10800000">
                <a:off x="8571944" y="2900252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0" name="Google Shape;330;p32"/>
              <p:cNvSpPr/>
              <p:nvPr/>
            </p:nvSpPr>
            <p:spPr>
              <a:xfrm flipH="1">
                <a:off x="8396019" y="4425247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1" name="Google Shape;331;p32"/>
              <p:cNvSpPr/>
              <p:nvPr/>
            </p:nvSpPr>
            <p:spPr>
              <a:xfrm flipH="1">
                <a:off x="8782079" y="3522814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14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2" name="Google Shape;332;p32"/>
              <p:cNvSpPr/>
              <p:nvPr/>
            </p:nvSpPr>
            <p:spPr>
              <a:xfrm rot="10800000">
                <a:off x="8009979" y="4797335"/>
                <a:ext cx="838710" cy="968121"/>
              </a:xfrm>
              <a:custGeom>
                <a:avLst/>
                <a:gdLst/>
                <a:ahLst/>
                <a:cxnLst/>
                <a:rect l="l" t="t" r="r" b="b"/>
                <a:pathLst>
                  <a:path w="181539" h="209550" extrusionOk="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180"/>
                </a:srgbClr>
              </a:solidFill>
              <a:ln w="19050" cap="flat" cmpd="sng">
                <a:solidFill>
                  <a:schemeClr val="lt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3" name="Google Shape;333;p32"/>
            <p:cNvSpPr/>
            <p:nvPr/>
          </p:nvSpPr>
          <p:spPr>
            <a:xfrm rot="10800000" flipH="1">
              <a:off x="293867" y="47973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"/>
              <a:buNone/>
              <a:defRPr sz="3500" b="1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Outfit Medium"/>
              <a:buNone/>
              <a:defRPr sz="3500">
                <a:solidFill>
                  <a:schemeClr val="dk1"/>
                </a:solidFill>
                <a:latin typeface="Outfit Medium"/>
                <a:ea typeface="Outfit Medium"/>
                <a:cs typeface="Outfit Medium"/>
                <a:sym typeface="Outfit Mediu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5" r:id="rId3"/>
    <p:sldLayoutId id="2147483658" r:id="rId4"/>
    <p:sldLayoutId id="2147483673" r:id="rId5"/>
    <p:sldLayoutId id="2147483677" r:id="rId6"/>
    <p:sldLayoutId id="2147483678" r:id="rId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6"/>
          <p:cNvSpPr txBox="1">
            <a:spLocks noGrp="1"/>
          </p:cNvSpPr>
          <p:nvPr>
            <p:ph type="ctrTitle"/>
          </p:nvPr>
        </p:nvSpPr>
        <p:spPr>
          <a:xfrm>
            <a:off x="713225" y="638503"/>
            <a:ext cx="4160700" cy="290309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4400" dirty="0"/>
              <a:t>Hotel Booking Demand &amp; Cancellation Analysis</a:t>
            </a:r>
            <a:endParaRPr sz="4800" dirty="0"/>
          </a:p>
        </p:txBody>
      </p:sp>
      <p:sp>
        <p:nvSpPr>
          <p:cNvPr id="345" name="Google Shape;345;p36"/>
          <p:cNvSpPr txBox="1">
            <a:spLocks noGrp="1"/>
          </p:cNvSpPr>
          <p:nvPr>
            <p:ph type="subTitle" idx="1"/>
          </p:nvPr>
        </p:nvSpPr>
        <p:spPr>
          <a:xfrm>
            <a:off x="713225" y="3541600"/>
            <a:ext cx="4160700" cy="69435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US" sz="1300" i="1" dirty="0"/>
              <a:t>Uncovering booking trends and cancellation behavior to drive data-informed hotel strategies.</a:t>
            </a:r>
            <a:endParaRPr sz="1300" i="1" dirty="0"/>
          </a:p>
        </p:txBody>
      </p:sp>
      <p:grpSp>
        <p:nvGrpSpPr>
          <p:cNvPr id="347" name="Google Shape;347;p36"/>
          <p:cNvGrpSpPr/>
          <p:nvPr/>
        </p:nvGrpSpPr>
        <p:grpSpPr>
          <a:xfrm>
            <a:off x="5115337" y="-428624"/>
            <a:ext cx="4275118" cy="6450405"/>
            <a:chOff x="5115337" y="-428624"/>
            <a:chExt cx="4275118" cy="6450405"/>
          </a:xfrm>
        </p:grpSpPr>
        <p:sp>
          <p:nvSpPr>
            <p:cNvPr id="348" name="Google Shape;348;p36"/>
            <p:cNvSpPr/>
            <p:nvPr/>
          </p:nvSpPr>
          <p:spPr>
            <a:xfrm rot="10800000" flipH="1">
              <a:off x="8492525" y="-19272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9" name="Google Shape;349;p36"/>
            <p:cNvSpPr/>
            <p:nvPr/>
          </p:nvSpPr>
          <p:spPr>
            <a:xfrm>
              <a:off x="8551745" y="32678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0" name="Google Shape;350;p36"/>
            <p:cNvSpPr/>
            <p:nvPr/>
          </p:nvSpPr>
          <p:spPr>
            <a:xfrm>
              <a:off x="6606686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1" name="Google Shape;351;p36"/>
            <p:cNvSpPr/>
            <p:nvPr/>
          </p:nvSpPr>
          <p:spPr>
            <a:xfrm>
              <a:off x="7103477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2" name="Google Shape;352;p36"/>
            <p:cNvSpPr/>
            <p:nvPr/>
          </p:nvSpPr>
          <p:spPr>
            <a:xfrm>
              <a:off x="6684072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" name="Google Shape;353;p36"/>
            <p:cNvSpPr/>
            <p:nvPr/>
          </p:nvSpPr>
          <p:spPr>
            <a:xfrm>
              <a:off x="6109895" y="119408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6"/>
            <p:cNvSpPr/>
            <p:nvPr/>
          </p:nvSpPr>
          <p:spPr>
            <a:xfrm>
              <a:off x="6109895" y="6977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" name="Google Shape;355;p36"/>
            <p:cNvSpPr/>
            <p:nvPr/>
          </p:nvSpPr>
          <p:spPr>
            <a:xfrm>
              <a:off x="7587339" y="11940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36"/>
            <p:cNvSpPr/>
            <p:nvPr/>
          </p:nvSpPr>
          <p:spPr>
            <a:xfrm>
              <a:off x="5634170" y="-42862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6"/>
            <p:cNvSpPr/>
            <p:nvPr/>
          </p:nvSpPr>
          <p:spPr>
            <a:xfrm>
              <a:off x="7017892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6"/>
            <p:cNvSpPr/>
            <p:nvPr/>
          </p:nvSpPr>
          <p:spPr>
            <a:xfrm>
              <a:off x="5193798" y="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36"/>
            <p:cNvSpPr/>
            <p:nvPr/>
          </p:nvSpPr>
          <p:spPr>
            <a:xfrm>
              <a:off x="8068891" y="162220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36"/>
            <p:cNvSpPr/>
            <p:nvPr/>
          </p:nvSpPr>
          <p:spPr>
            <a:xfrm rot="10800000" flipH="1">
              <a:off x="5115337" y="3655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6"/>
            <p:cNvSpPr/>
            <p:nvPr/>
          </p:nvSpPr>
          <p:spPr>
            <a:xfrm rot="10800000" flipH="1">
              <a:off x="6606680" y="39247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6"/>
            <p:cNvSpPr/>
            <p:nvPr/>
          </p:nvSpPr>
          <p:spPr>
            <a:xfrm rot="10800000" flipH="1">
              <a:off x="5983934" y="505366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6"/>
            <p:cNvSpPr/>
            <p:nvPr/>
          </p:nvSpPr>
          <p:spPr>
            <a:xfrm rot="10800000" flipH="1">
              <a:off x="7178797" y="353334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6"/>
            <p:cNvSpPr/>
            <p:nvPr/>
          </p:nvSpPr>
          <p:spPr>
            <a:xfrm rot="10800000" flipH="1">
              <a:off x="6606686" y="4609409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" name="Google Shape;365;p36"/>
            <p:cNvSpPr/>
            <p:nvPr/>
          </p:nvSpPr>
          <p:spPr>
            <a:xfrm rot="10800000" flipH="1">
              <a:off x="5526543" y="412830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6" name="Google Shape;366;p36"/>
            <p:cNvSpPr/>
            <p:nvPr/>
          </p:nvSpPr>
          <p:spPr>
            <a:xfrm>
              <a:off x="8117298" y="28522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6"/>
            <p:cNvSpPr/>
            <p:nvPr/>
          </p:nvSpPr>
          <p:spPr>
            <a:xfrm>
              <a:off x="8172542" y="30360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E575DDD3-FE78-0623-2AB1-BD6BD84A869A}"/>
              </a:ext>
            </a:extLst>
          </p:cNvPr>
          <p:cNvSpPr txBox="1"/>
          <p:nvPr/>
        </p:nvSpPr>
        <p:spPr>
          <a:xfrm>
            <a:off x="7587339" y="4761186"/>
            <a:ext cx="1556661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b="1" dirty="0">
                <a:solidFill>
                  <a:schemeClr val="bg1">
                    <a:lumMod val="50000"/>
                  </a:schemeClr>
                </a:solidFill>
                <a:latin typeface="DM Sans" pitchFamily="2" charset="0"/>
              </a:rPr>
              <a:t>~ </a:t>
            </a:r>
            <a:r>
              <a:rPr lang="en-IN" sz="1050" dirty="0">
                <a:solidFill>
                  <a:schemeClr val="bg1">
                    <a:lumMod val="50000"/>
                  </a:schemeClr>
                </a:solidFill>
              </a:rPr>
              <a:t>Presented by: Dhruv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45"/>
          <p:cNvSpPr txBox="1">
            <a:spLocks noGrp="1"/>
          </p:cNvSpPr>
          <p:nvPr>
            <p:ph type="title"/>
          </p:nvPr>
        </p:nvSpPr>
        <p:spPr>
          <a:xfrm>
            <a:off x="720000" y="368387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" dirty="0"/>
              <a:t>Table of contents</a:t>
            </a:r>
            <a:endParaRPr dirty="0"/>
          </a:p>
        </p:txBody>
      </p:sp>
      <p:sp>
        <p:nvSpPr>
          <p:cNvPr id="527" name="Google Shape;527;p45"/>
          <p:cNvSpPr txBox="1">
            <a:spLocks noGrp="1"/>
          </p:cNvSpPr>
          <p:nvPr>
            <p:ph type="subTitle" idx="1"/>
          </p:nvPr>
        </p:nvSpPr>
        <p:spPr>
          <a:xfrm>
            <a:off x="1142950" y="2219063"/>
            <a:ext cx="318080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Dataset import, structure &amp; objectives</a:t>
            </a:r>
          </a:p>
        </p:txBody>
      </p:sp>
      <p:sp>
        <p:nvSpPr>
          <p:cNvPr id="528" name="Google Shape;528;p45"/>
          <p:cNvSpPr txBox="1">
            <a:spLocks noGrp="1"/>
          </p:cNvSpPr>
          <p:nvPr>
            <p:ph type="subTitle" idx="2"/>
          </p:nvPr>
        </p:nvSpPr>
        <p:spPr>
          <a:xfrm>
            <a:off x="4749341" y="221906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Data fixing &amp; derived metrics</a:t>
            </a:r>
          </a:p>
        </p:txBody>
      </p:sp>
      <p:sp>
        <p:nvSpPr>
          <p:cNvPr id="529" name="Google Shape;529;p45"/>
          <p:cNvSpPr txBox="1">
            <a:spLocks noGrp="1"/>
          </p:cNvSpPr>
          <p:nvPr>
            <p:ph type="subTitle" idx="3"/>
          </p:nvPr>
        </p:nvSpPr>
        <p:spPr>
          <a:xfrm>
            <a:off x="1142950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IN" dirty="0"/>
              <a:t>SQL trends &amp; performance metrics</a:t>
            </a:r>
          </a:p>
        </p:txBody>
      </p:sp>
      <p:sp>
        <p:nvSpPr>
          <p:cNvPr id="530" name="Google Shape;530;p45"/>
          <p:cNvSpPr txBox="1">
            <a:spLocks noGrp="1"/>
          </p:cNvSpPr>
          <p:nvPr>
            <p:ph type="subTitle" idx="4"/>
          </p:nvPr>
        </p:nvSpPr>
        <p:spPr>
          <a:xfrm>
            <a:off x="4749341" y="4010313"/>
            <a:ext cx="325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-IN" dirty="0"/>
              <a:t>Visual storytelling &amp; business insights</a:t>
            </a:r>
            <a:endParaRPr lang="en-IN" sz="1600" dirty="0">
              <a:solidFill>
                <a:srgbClr val="666666"/>
              </a:solidFill>
            </a:endParaRPr>
          </a:p>
        </p:txBody>
      </p:sp>
      <p:sp>
        <p:nvSpPr>
          <p:cNvPr id="531" name="Google Shape;531;p45"/>
          <p:cNvSpPr txBox="1">
            <a:spLocks noGrp="1"/>
          </p:cNvSpPr>
          <p:nvPr>
            <p:ph type="subTitle" idx="5"/>
          </p:nvPr>
        </p:nvSpPr>
        <p:spPr>
          <a:xfrm>
            <a:off x="1142962" y="1590832"/>
            <a:ext cx="3251700" cy="76161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dirty="0">
                <a:latin typeface="Outfit" panose="020B0604020202020204" charset="0"/>
              </a:rPr>
              <a:t>Project Setup &amp; Data Understanding</a:t>
            </a:r>
          </a:p>
        </p:txBody>
      </p:sp>
      <p:sp>
        <p:nvSpPr>
          <p:cNvPr id="532" name="Google Shape;532;p45"/>
          <p:cNvSpPr txBox="1">
            <a:spLocks noGrp="1"/>
          </p:cNvSpPr>
          <p:nvPr>
            <p:ph type="subTitle" idx="6"/>
          </p:nvPr>
        </p:nvSpPr>
        <p:spPr>
          <a:xfrm>
            <a:off x="1142962" y="3412227"/>
            <a:ext cx="3251700" cy="74521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dirty="0">
                <a:latin typeface="Outfit" panose="020B0604020202020204" charset="0"/>
              </a:rPr>
              <a:t>Exploratory Analysis &amp; KPI Development</a:t>
            </a:r>
          </a:p>
        </p:txBody>
      </p:sp>
      <p:sp>
        <p:nvSpPr>
          <p:cNvPr id="533" name="Google Shape;533;p45"/>
          <p:cNvSpPr txBox="1">
            <a:spLocks noGrp="1"/>
          </p:cNvSpPr>
          <p:nvPr>
            <p:ph type="subTitle" idx="7"/>
          </p:nvPr>
        </p:nvSpPr>
        <p:spPr>
          <a:xfrm>
            <a:off x="4749338" y="1620378"/>
            <a:ext cx="3251700" cy="74571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dirty="0">
                <a:latin typeface="Outfit" panose="020B0604020202020204" charset="0"/>
              </a:rPr>
              <a:t>Data Cleaning &amp; Feature Preparation</a:t>
            </a:r>
          </a:p>
        </p:txBody>
      </p:sp>
      <p:sp>
        <p:nvSpPr>
          <p:cNvPr id="534" name="Google Shape;534;p45"/>
          <p:cNvSpPr txBox="1">
            <a:spLocks noGrp="1"/>
          </p:cNvSpPr>
          <p:nvPr>
            <p:ph type="subTitle" idx="8"/>
          </p:nvPr>
        </p:nvSpPr>
        <p:spPr>
          <a:xfrm>
            <a:off x="4749338" y="3385929"/>
            <a:ext cx="3251700" cy="77150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/>
            <a:r>
              <a:rPr lang="en-IN" sz="2000" dirty="0">
                <a:latin typeface="Outfit" panose="020B0604020202020204" charset="0"/>
              </a:rPr>
              <a:t>Dashboard Visualization &amp; Strategic Insights</a:t>
            </a:r>
          </a:p>
        </p:txBody>
      </p:sp>
      <p:grpSp>
        <p:nvGrpSpPr>
          <p:cNvPr id="535" name="Google Shape;535;p45"/>
          <p:cNvGrpSpPr/>
          <p:nvPr/>
        </p:nvGrpSpPr>
        <p:grpSpPr>
          <a:xfrm>
            <a:off x="2584240" y="1236991"/>
            <a:ext cx="391048" cy="391048"/>
            <a:chOff x="3288275" y="2636227"/>
            <a:chExt cx="391048" cy="391048"/>
          </a:xfrm>
        </p:grpSpPr>
        <p:sp>
          <p:nvSpPr>
            <p:cNvPr id="536" name="Google Shape;536;p45"/>
            <p:cNvSpPr/>
            <p:nvPr/>
          </p:nvSpPr>
          <p:spPr>
            <a:xfrm>
              <a:off x="3334288" y="2681133"/>
              <a:ext cx="152279" cy="69020"/>
            </a:xfrm>
            <a:custGeom>
              <a:avLst/>
              <a:gdLst/>
              <a:ahLst/>
              <a:cxnLst/>
              <a:rect l="l" t="t" r="r" b="b"/>
              <a:pathLst>
                <a:path w="6738" h="3054" extrusionOk="0">
                  <a:moveTo>
                    <a:pt x="5719" y="1018"/>
                  </a:moveTo>
                  <a:lnTo>
                    <a:pt x="5719" y="2036"/>
                  </a:lnTo>
                  <a:lnTo>
                    <a:pt x="1018" y="2036"/>
                  </a:lnTo>
                  <a:lnTo>
                    <a:pt x="1018" y="1018"/>
                  </a:lnTo>
                  <a:close/>
                  <a:moveTo>
                    <a:pt x="485" y="0"/>
                  </a:moveTo>
                  <a:lnTo>
                    <a:pt x="291" y="49"/>
                  </a:lnTo>
                  <a:lnTo>
                    <a:pt x="146" y="194"/>
                  </a:lnTo>
                  <a:lnTo>
                    <a:pt x="0" y="339"/>
                  </a:lnTo>
                  <a:lnTo>
                    <a:pt x="0" y="533"/>
                  </a:lnTo>
                  <a:lnTo>
                    <a:pt x="0" y="2569"/>
                  </a:lnTo>
                  <a:lnTo>
                    <a:pt x="0" y="2763"/>
                  </a:lnTo>
                  <a:lnTo>
                    <a:pt x="146" y="2908"/>
                  </a:lnTo>
                  <a:lnTo>
                    <a:pt x="291" y="3053"/>
                  </a:lnTo>
                  <a:lnTo>
                    <a:pt x="6446" y="3053"/>
                  </a:lnTo>
                  <a:lnTo>
                    <a:pt x="6592" y="2908"/>
                  </a:lnTo>
                  <a:lnTo>
                    <a:pt x="6689" y="2763"/>
                  </a:lnTo>
                  <a:lnTo>
                    <a:pt x="6737" y="2569"/>
                  </a:lnTo>
                  <a:lnTo>
                    <a:pt x="6737" y="533"/>
                  </a:lnTo>
                  <a:lnTo>
                    <a:pt x="6689" y="339"/>
                  </a:lnTo>
                  <a:lnTo>
                    <a:pt x="6592" y="194"/>
                  </a:lnTo>
                  <a:lnTo>
                    <a:pt x="6446" y="49"/>
                  </a:lnTo>
                  <a:lnTo>
                    <a:pt x="625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7" name="Google Shape;537;p45"/>
            <p:cNvSpPr/>
            <p:nvPr/>
          </p:nvSpPr>
          <p:spPr>
            <a:xfrm>
              <a:off x="3334288" y="2773138"/>
              <a:ext cx="102988" cy="23007"/>
            </a:xfrm>
            <a:custGeom>
              <a:avLst/>
              <a:gdLst/>
              <a:ahLst/>
              <a:cxnLst/>
              <a:rect l="l" t="t" r="r" b="b"/>
              <a:pathLst>
                <a:path w="4557" h="1018" extrusionOk="0">
                  <a:moveTo>
                    <a:pt x="485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0" y="339"/>
                  </a:lnTo>
                  <a:lnTo>
                    <a:pt x="0" y="533"/>
                  </a:lnTo>
                  <a:lnTo>
                    <a:pt x="0" y="727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8"/>
                  </a:lnTo>
                  <a:lnTo>
                    <a:pt x="4023" y="1018"/>
                  </a:lnTo>
                  <a:lnTo>
                    <a:pt x="4217" y="970"/>
                  </a:lnTo>
                  <a:lnTo>
                    <a:pt x="4411" y="873"/>
                  </a:lnTo>
                  <a:lnTo>
                    <a:pt x="4508" y="727"/>
                  </a:lnTo>
                  <a:lnTo>
                    <a:pt x="4556" y="533"/>
                  </a:lnTo>
                  <a:lnTo>
                    <a:pt x="4508" y="339"/>
                  </a:lnTo>
                  <a:lnTo>
                    <a:pt x="4411" y="146"/>
                  </a:lnTo>
                  <a:lnTo>
                    <a:pt x="4217" y="49"/>
                  </a:lnTo>
                  <a:lnTo>
                    <a:pt x="402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8" name="Google Shape;538;p45"/>
            <p:cNvSpPr/>
            <p:nvPr/>
          </p:nvSpPr>
          <p:spPr>
            <a:xfrm>
              <a:off x="3334288" y="2819129"/>
              <a:ext cx="75597" cy="23029"/>
            </a:xfrm>
            <a:custGeom>
              <a:avLst/>
              <a:gdLst/>
              <a:ahLst/>
              <a:cxnLst/>
              <a:rect l="l" t="t" r="r" b="b"/>
              <a:pathLst>
                <a:path w="3345" h="1019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0" y="340"/>
                  </a:lnTo>
                  <a:lnTo>
                    <a:pt x="0" y="534"/>
                  </a:lnTo>
                  <a:lnTo>
                    <a:pt x="0" y="728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8"/>
                  </a:lnTo>
                  <a:lnTo>
                    <a:pt x="2860" y="1018"/>
                  </a:lnTo>
                  <a:lnTo>
                    <a:pt x="3054" y="970"/>
                  </a:lnTo>
                  <a:lnTo>
                    <a:pt x="3199" y="873"/>
                  </a:lnTo>
                  <a:lnTo>
                    <a:pt x="3345" y="728"/>
                  </a:lnTo>
                  <a:lnTo>
                    <a:pt x="3345" y="534"/>
                  </a:lnTo>
                  <a:lnTo>
                    <a:pt x="3345" y="340"/>
                  </a:lnTo>
                  <a:lnTo>
                    <a:pt x="3199" y="146"/>
                  </a:lnTo>
                  <a:lnTo>
                    <a:pt x="3054" y="49"/>
                  </a:lnTo>
                  <a:lnTo>
                    <a:pt x="286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9" name="Google Shape;539;p45"/>
            <p:cNvSpPr/>
            <p:nvPr/>
          </p:nvSpPr>
          <p:spPr>
            <a:xfrm>
              <a:off x="3288275" y="2636227"/>
              <a:ext cx="391048" cy="391048"/>
            </a:xfrm>
            <a:custGeom>
              <a:avLst/>
              <a:gdLst/>
              <a:ahLst/>
              <a:cxnLst/>
              <a:rect l="l" t="t" r="r" b="b"/>
              <a:pathLst>
                <a:path w="17303" h="17303" extrusionOk="0">
                  <a:moveTo>
                    <a:pt x="13862" y="969"/>
                  </a:moveTo>
                  <a:lnTo>
                    <a:pt x="13862" y="7706"/>
                  </a:lnTo>
                  <a:lnTo>
                    <a:pt x="13571" y="7415"/>
                  </a:lnTo>
                  <a:lnTo>
                    <a:pt x="13280" y="7076"/>
                  </a:lnTo>
                  <a:lnTo>
                    <a:pt x="12893" y="6834"/>
                  </a:lnTo>
                  <a:lnTo>
                    <a:pt x="12553" y="6591"/>
                  </a:lnTo>
                  <a:lnTo>
                    <a:pt x="12166" y="6446"/>
                  </a:lnTo>
                  <a:lnTo>
                    <a:pt x="11729" y="6301"/>
                  </a:lnTo>
                  <a:lnTo>
                    <a:pt x="11342" y="6204"/>
                  </a:lnTo>
                  <a:lnTo>
                    <a:pt x="10906" y="6155"/>
                  </a:lnTo>
                  <a:lnTo>
                    <a:pt x="10518" y="6107"/>
                  </a:lnTo>
                  <a:lnTo>
                    <a:pt x="10082" y="6155"/>
                  </a:lnTo>
                  <a:lnTo>
                    <a:pt x="9645" y="6204"/>
                  </a:lnTo>
                  <a:lnTo>
                    <a:pt x="9258" y="6301"/>
                  </a:lnTo>
                  <a:lnTo>
                    <a:pt x="8822" y="6446"/>
                  </a:lnTo>
                  <a:lnTo>
                    <a:pt x="8434" y="6591"/>
                  </a:lnTo>
                  <a:lnTo>
                    <a:pt x="8095" y="6834"/>
                  </a:lnTo>
                  <a:lnTo>
                    <a:pt x="7707" y="7076"/>
                  </a:lnTo>
                  <a:lnTo>
                    <a:pt x="7416" y="7415"/>
                  </a:lnTo>
                  <a:lnTo>
                    <a:pt x="7125" y="7706"/>
                  </a:lnTo>
                  <a:lnTo>
                    <a:pt x="6883" y="7997"/>
                  </a:lnTo>
                  <a:lnTo>
                    <a:pt x="6689" y="8336"/>
                  </a:lnTo>
                  <a:lnTo>
                    <a:pt x="6495" y="8675"/>
                  </a:lnTo>
                  <a:lnTo>
                    <a:pt x="6350" y="9063"/>
                  </a:lnTo>
                  <a:lnTo>
                    <a:pt x="6253" y="9402"/>
                  </a:lnTo>
                  <a:lnTo>
                    <a:pt x="6156" y="9790"/>
                  </a:lnTo>
                  <a:lnTo>
                    <a:pt x="6108" y="10178"/>
                  </a:lnTo>
                  <a:lnTo>
                    <a:pt x="1019" y="10178"/>
                  </a:lnTo>
                  <a:lnTo>
                    <a:pt x="1019" y="969"/>
                  </a:lnTo>
                  <a:close/>
                  <a:moveTo>
                    <a:pt x="10809" y="7124"/>
                  </a:moveTo>
                  <a:lnTo>
                    <a:pt x="11148" y="7173"/>
                  </a:lnTo>
                  <a:lnTo>
                    <a:pt x="11439" y="7270"/>
                  </a:lnTo>
                  <a:lnTo>
                    <a:pt x="11778" y="7367"/>
                  </a:lnTo>
                  <a:lnTo>
                    <a:pt x="12069" y="7512"/>
                  </a:lnTo>
                  <a:lnTo>
                    <a:pt x="12360" y="7658"/>
                  </a:lnTo>
                  <a:lnTo>
                    <a:pt x="12602" y="7900"/>
                  </a:lnTo>
                  <a:lnTo>
                    <a:pt x="12893" y="8094"/>
                  </a:lnTo>
                  <a:lnTo>
                    <a:pt x="13087" y="8385"/>
                  </a:lnTo>
                  <a:lnTo>
                    <a:pt x="13280" y="8627"/>
                  </a:lnTo>
                  <a:lnTo>
                    <a:pt x="13474" y="8918"/>
                  </a:lnTo>
                  <a:lnTo>
                    <a:pt x="13620" y="9208"/>
                  </a:lnTo>
                  <a:lnTo>
                    <a:pt x="13717" y="9548"/>
                  </a:lnTo>
                  <a:lnTo>
                    <a:pt x="13813" y="9838"/>
                  </a:lnTo>
                  <a:lnTo>
                    <a:pt x="13862" y="10178"/>
                  </a:lnTo>
                  <a:lnTo>
                    <a:pt x="13862" y="10469"/>
                  </a:lnTo>
                  <a:lnTo>
                    <a:pt x="13862" y="10808"/>
                  </a:lnTo>
                  <a:lnTo>
                    <a:pt x="13813" y="11147"/>
                  </a:lnTo>
                  <a:lnTo>
                    <a:pt x="13717" y="11438"/>
                  </a:lnTo>
                  <a:lnTo>
                    <a:pt x="13620" y="11777"/>
                  </a:lnTo>
                  <a:lnTo>
                    <a:pt x="13474" y="12068"/>
                  </a:lnTo>
                  <a:lnTo>
                    <a:pt x="13280" y="12359"/>
                  </a:lnTo>
                  <a:lnTo>
                    <a:pt x="13087" y="12601"/>
                  </a:lnTo>
                  <a:lnTo>
                    <a:pt x="12893" y="12843"/>
                  </a:lnTo>
                  <a:lnTo>
                    <a:pt x="12602" y="13086"/>
                  </a:lnTo>
                  <a:lnTo>
                    <a:pt x="12360" y="13279"/>
                  </a:lnTo>
                  <a:lnTo>
                    <a:pt x="12069" y="13473"/>
                  </a:lnTo>
                  <a:lnTo>
                    <a:pt x="11778" y="13619"/>
                  </a:lnTo>
                  <a:lnTo>
                    <a:pt x="11439" y="13716"/>
                  </a:lnTo>
                  <a:lnTo>
                    <a:pt x="11148" y="13813"/>
                  </a:lnTo>
                  <a:lnTo>
                    <a:pt x="10809" y="13813"/>
                  </a:lnTo>
                  <a:lnTo>
                    <a:pt x="10518" y="13861"/>
                  </a:lnTo>
                  <a:lnTo>
                    <a:pt x="10179" y="13813"/>
                  </a:lnTo>
                  <a:lnTo>
                    <a:pt x="9839" y="13813"/>
                  </a:lnTo>
                  <a:lnTo>
                    <a:pt x="9549" y="13716"/>
                  </a:lnTo>
                  <a:lnTo>
                    <a:pt x="9209" y="13619"/>
                  </a:lnTo>
                  <a:lnTo>
                    <a:pt x="8919" y="13473"/>
                  </a:lnTo>
                  <a:lnTo>
                    <a:pt x="8628" y="13279"/>
                  </a:lnTo>
                  <a:lnTo>
                    <a:pt x="8385" y="13086"/>
                  </a:lnTo>
                  <a:lnTo>
                    <a:pt x="8095" y="12843"/>
                  </a:lnTo>
                  <a:lnTo>
                    <a:pt x="7901" y="12601"/>
                  </a:lnTo>
                  <a:lnTo>
                    <a:pt x="7707" y="12359"/>
                  </a:lnTo>
                  <a:lnTo>
                    <a:pt x="7513" y="12068"/>
                  </a:lnTo>
                  <a:lnTo>
                    <a:pt x="7368" y="11777"/>
                  </a:lnTo>
                  <a:lnTo>
                    <a:pt x="7271" y="11438"/>
                  </a:lnTo>
                  <a:lnTo>
                    <a:pt x="7174" y="11147"/>
                  </a:lnTo>
                  <a:lnTo>
                    <a:pt x="7125" y="10808"/>
                  </a:lnTo>
                  <a:lnTo>
                    <a:pt x="7125" y="10469"/>
                  </a:lnTo>
                  <a:lnTo>
                    <a:pt x="7125" y="10178"/>
                  </a:lnTo>
                  <a:lnTo>
                    <a:pt x="7174" y="9838"/>
                  </a:lnTo>
                  <a:lnTo>
                    <a:pt x="7271" y="9548"/>
                  </a:lnTo>
                  <a:lnTo>
                    <a:pt x="7368" y="9208"/>
                  </a:lnTo>
                  <a:lnTo>
                    <a:pt x="7513" y="8918"/>
                  </a:lnTo>
                  <a:lnTo>
                    <a:pt x="7707" y="8627"/>
                  </a:lnTo>
                  <a:lnTo>
                    <a:pt x="7901" y="8385"/>
                  </a:lnTo>
                  <a:lnTo>
                    <a:pt x="8095" y="8094"/>
                  </a:lnTo>
                  <a:lnTo>
                    <a:pt x="8385" y="7900"/>
                  </a:lnTo>
                  <a:lnTo>
                    <a:pt x="8628" y="7658"/>
                  </a:lnTo>
                  <a:lnTo>
                    <a:pt x="8919" y="7512"/>
                  </a:lnTo>
                  <a:lnTo>
                    <a:pt x="9209" y="7367"/>
                  </a:lnTo>
                  <a:lnTo>
                    <a:pt x="9549" y="7270"/>
                  </a:lnTo>
                  <a:lnTo>
                    <a:pt x="9839" y="7173"/>
                  </a:lnTo>
                  <a:lnTo>
                    <a:pt x="10179" y="7124"/>
                  </a:lnTo>
                  <a:close/>
                  <a:moveTo>
                    <a:pt x="13910" y="13183"/>
                  </a:moveTo>
                  <a:lnTo>
                    <a:pt x="16140" y="15412"/>
                  </a:lnTo>
                  <a:lnTo>
                    <a:pt x="16285" y="15606"/>
                  </a:lnTo>
                  <a:lnTo>
                    <a:pt x="16285" y="15800"/>
                  </a:lnTo>
                  <a:lnTo>
                    <a:pt x="16285" y="15993"/>
                  </a:lnTo>
                  <a:lnTo>
                    <a:pt x="16140" y="16139"/>
                  </a:lnTo>
                  <a:lnTo>
                    <a:pt x="15994" y="16284"/>
                  </a:lnTo>
                  <a:lnTo>
                    <a:pt x="15607" y="16284"/>
                  </a:lnTo>
                  <a:lnTo>
                    <a:pt x="15461" y="16139"/>
                  </a:lnTo>
                  <a:lnTo>
                    <a:pt x="13232" y="13910"/>
                  </a:lnTo>
                  <a:lnTo>
                    <a:pt x="13571" y="13570"/>
                  </a:lnTo>
                  <a:lnTo>
                    <a:pt x="13910" y="13183"/>
                  </a:lnTo>
                  <a:close/>
                  <a:moveTo>
                    <a:pt x="292" y="0"/>
                  </a:moveTo>
                  <a:lnTo>
                    <a:pt x="146" y="146"/>
                  </a:lnTo>
                  <a:lnTo>
                    <a:pt x="1" y="291"/>
                  </a:lnTo>
                  <a:lnTo>
                    <a:pt x="1" y="485"/>
                  </a:lnTo>
                  <a:lnTo>
                    <a:pt x="1" y="10662"/>
                  </a:lnTo>
                  <a:lnTo>
                    <a:pt x="1" y="10856"/>
                  </a:lnTo>
                  <a:lnTo>
                    <a:pt x="146" y="11050"/>
                  </a:lnTo>
                  <a:lnTo>
                    <a:pt x="292" y="11147"/>
                  </a:lnTo>
                  <a:lnTo>
                    <a:pt x="486" y="11195"/>
                  </a:lnTo>
                  <a:lnTo>
                    <a:pt x="6156" y="11195"/>
                  </a:lnTo>
                  <a:lnTo>
                    <a:pt x="6350" y="11826"/>
                  </a:lnTo>
                  <a:lnTo>
                    <a:pt x="6592" y="12456"/>
                  </a:lnTo>
                  <a:lnTo>
                    <a:pt x="6931" y="13037"/>
                  </a:lnTo>
                  <a:lnTo>
                    <a:pt x="7416" y="13570"/>
                  </a:lnTo>
                  <a:lnTo>
                    <a:pt x="7707" y="13910"/>
                  </a:lnTo>
                  <a:lnTo>
                    <a:pt x="8095" y="14152"/>
                  </a:lnTo>
                  <a:lnTo>
                    <a:pt x="8434" y="14346"/>
                  </a:lnTo>
                  <a:lnTo>
                    <a:pt x="8822" y="14540"/>
                  </a:lnTo>
                  <a:lnTo>
                    <a:pt x="9258" y="14685"/>
                  </a:lnTo>
                  <a:lnTo>
                    <a:pt x="9645" y="14782"/>
                  </a:lnTo>
                  <a:lnTo>
                    <a:pt x="10082" y="14830"/>
                  </a:lnTo>
                  <a:lnTo>
                    <a:pt x="10518" y="14879"/>
                  </a:lnTo>
                  <a:lnTo>
                    <a:pt x="10954" y="14830"/>
                  </a:lnTo>
                  <a:lnTo>
                    <a:pt x="11439" y="14782"/>
                  </a:lnTo>
                  <a:lnTo>
                    <a:pt x="11875" y="14636"/>
                  </a:lnTo>
                  <a:lnTo>
                    <a:pt x="12311" y="14491"/>
                  </a:lnTo>
                  <a:lnTo>
                    <a:pt x="14734" y="16866"/>
                  </a:lnTo>
                  <a:lnTo>
                    <a:pt x="14977" y="17060"/>
                  </a:lnTo>
                  <a:lnTo>
                    <a:pt x="15219" y="17205"/>
                  </a:lnTo>
                  <a:lnTo>
                    <a:pt x="15510" y="17302"/>
                  </a:lnTo>
                  <a:lnTo>
                    <a:pt x="16091" y="17302"/>
                  </a:lnTo>
                  <a:lnTo>
                    <a:pt x="16382" y="17205"/>
                  </a:lnTo>
                  <a:lnTo>
                    <a:pt x="16624" y="17060"/>
                  </a:lnTo>
                  <a:lnTo>
                    <a:pt x="16867" y="16866"/>
                  </a:lnTo>
                  <a:lnTo>
                    <a:pt x="17061" y="16624"/>
                  </a:lnTo>
                  <a:lnTo>
                    <a:pt x="17206" y="16381"/>
                  </a:lnTo>
                  <a:lnTo>
                    <a:pt x="17303" y="16090"/>
                  </a:lnTo>
                  <a:lnTo>
                    <a:pt x="17303" y="15800"/>
                  </a:lnTo>
                  <a:lnTo>
                    <a:pt x="17303" y="15509"/>
                  </a:lnTo>
                  <a:lnTo>
                    <a:pt x="17206" y="15218"/>
                  </a:lnTo>
                  <a:lnTo>
                    <a:pt x="17061" y="14976"/>
                  </a:lnTo>
                  <a:lnTo>
                    <a:pt x="16867" y="14733"/>
                  </a:lnTo>
                  <a:lnTo>
                    <a:pt x="14492" y="12310"/>
                  </a:lnTo>
                  <a:lnTo>
                    <a:pt x="14637" y="11874"/>
                  </a:lnTo>
                  <a:lnTo>
                    <a:pt x="14783" y="11389"/>
                  </a:lnTo>
                  <a:lnTo>
                    <a:pt x="14831" y="10953"/>
                  </a:lnTo>
                  <a:lnTo>
                    <a:pt x="14880" y="10469"/>
                  </a:lnTo>
                  <a:lnTo>
                    <a:pt x="14880" y="485"/>
                  </a:lnTo>
                  <a:lnTo>
                    <a:pt x="14831" y="291"/>
                  </a:lnTo>
                  <a:lnTo>
                    <a:pt x="14734" y="146"/>
                  </a:lnTo>
                  <a:lnTo>
                    <a:pt x="145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0" name="Google Shape;540;p45"/>
            <p:cNvSpPr/>
            <p:nvPr/>
          </p:nvSpPr>
          <p:spPr>
            <a:xfrm>
              <a:off x="3470114" y="2861843"/>
              <a:ext cx="23007" cy="23029"/>
            </a:xfrm>
            <a:custGeom>
              <a:avLst/>
              <a:gdLst/>
              <a:ahLst/>
              <a:cxnLst/>
              <a:rect l="l" t="t" r="r" b="b"/>
              <a:pathLst>
                <a:path w="1018" h="1019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485" y="1019"/>
                  </a:lnTo>
                  <a:lnTo>
                    <a:pt x="727" y="970"/>
                  </a:lnTo>
                  <a:lnTo>
                    <a:pt x="873" y="873"/>
                  </a:lnTo>
                  <a:lnTo>
                    <a:pt x="969" y="679"/>
                  </a:lnTo>
                  <a:lnTo>
                    <a:pt x="1018" y="486"/>
                  </a:lnTo>
                  <a:lnTo>
                    <a:pt x="969" y="292"/>
                  </a:lnTo>
                  <a:lnTo>
                    <a:pt x="873" y="146"/>
                  </a:lnTo>
                  <a:lnTo>
                    <a:pt x="727" y="4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1" name="Google Shape;541;p45"/>
            <p:cNvSpPr/>
            <p:nvPr/>
          </p:nvSpPr>
          <p:spPr>
            <a:xfrm>
              <a:off x="3513913" y="2861843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485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5" y="1019"/>
                  </a:lnTo>
                  <a:lnTo>
                    <a:pt x="679" y="970"/>
                  </a:lnTo>
                  <a:lnTo>
                    <a:pt x="873" y="873"/>
                  </a:lnTo>
                  <a:lnTo>
                    <a:pt x="970" y="679"/>
                  </a:lnTo>
                  <a:lnTo>
                    <a:pt x="1019" y="486"/>
                  </a:lnTo>
                  <a:lnTo>
                    <a:pt x="970" y="292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2" name="Google Shape;542;p45"/>
            <p:cNvSpPr/>
            <p:nvPr/>
          </p:nvSpPr>
          <p:spPr>
            <a:xfrm>
              <a:off x="3557735" y="2861843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533" y="1"/>
                  </a:moveTo>
                  <a:lnTo>
                    <a:pt x="340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340" y="970"/>
                  </a:lnTo>
                  <a:lnTo>
                    <a:pt x="533" y="1019"/>
                  </a:lnTo>
                  <a:lnTo>
                    <a:pt x="727" y="970"/>
                  </a:lnTo>
                  <a:lnTo>
                    <a:pt x="873" y="873"/>
                  </a:lnTo>
                  <a:lnTo>
                    <a:pt x="970" y="679"/>
                  </a:lnTo>
                  <a:lnTo>
                    <a:pt x="1018" y="486"/>
                  </a:lnTo>
                  <a:lnTo>
                    <a:pt x="970" y="292"/>
                  </a:lnTo>
                  <a:lnTo>
                    <a:pt x="873" y="146"/>
                  </a:lnTo>
                  <a:lnTo>
                    <a:pt x="727" y="49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3" name="Google Shape;543;p45"/>
            <p:cNvSpPr/>
            <p:nvPr/>
          </p:nvSpPr>
          <p:spPr>
            <a:xfrm>
              <a:off x="3509529" y="2681133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534" y="0"/>
                  </a:moveTo>
                  <a:lnTo>
                    <a:pt x="340" y="49"/>
                  </a:lnTo>
                  <a:lnTo>
                    <a:pt x="146" y="194"/>
                  </a:lnTo>
                  <a:lnTo>
                    <a:pt x="49" y="339"/>
                  </a:lnTo>
                  <a:lnTo>
                    <a:pt x="1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340" y="1018"/>
                  </a:lnTo>
                  <a:lnTo>
                    <a:pt x="728" y="1018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9" y="533"/>
                  </a:lnTo>
                  <a:lnTo>
                    <a:pt x="970" y="339"/>
                  </a:lnTo>
                  <a:lnTo>
                    <a:pt x="873" y="194"/>
                  </a:lnTo>
                  <a:lnTo>
                    <a:pt x="728" y="49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4" name="Google Shape;544;p45"/>
            <p:cNvSpPr/>
            <p:nvPr/>
          </p:nvSpPr>
          <p:spPr>
            <a:xfrm>
              <a:off x="3555542" y="2681133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534" y="0"/>
                  </a:moveTo>
                  <a:lnTo>
                    <a:pt x="340" y="49"/>
                  </a:lnTo>
                  <a:lnTo>
                    <a:pt x="146" y="194"/>
                  </a:lnTo>
                  <a:lnTo>
                    <a:pt x="49" y="339"/>
                  </a:lnTo>
                  <a:lnTo>
                    <a:pt x="0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340" y="1018"/>
                  </a:lnTo>
                  <a:lnTo>
                    <a:pt x="727" y="1018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8" y="533"/>
                  </a:lnTo>
                  <a:lnTo>
                    <a:pt x="970" y="339"/>
                  </a:lnTo>
                  <a:lnTo>
                    <a:pt x="873" y="194"/>
                  </a:lnTo>
                  <a:lnTo>
                    <a:pt x="727" y="49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45" name="Google Shape;545;p45"/>
          <p:cNvGrpSpPr/>
          <p:nvPr/>
        </p:nvGrpSpPr>
        <p:grpSpPr>
          <a:xfrm>
            <a:off x="2582058" y="2980679"/>
            <a:ext cx="391048" cy="391048"/>
            <a:chOff x="3968467" y="2636227"/>
            <a:chExt cx="391048" cy="391048"/>
          </a:xfrm>
        </p:grpSpPr>
        <p:sp>
          <p:nvSpPr>
            <p:cNvPr id="546" name="Google Shape;546;p45"/>
            <p:cNvSpPr/>
            <p:nvPr/>
          </p:nvSpPr>
          <p:spPr>
            <a:xfrm>
              <a:off x="3968467" y="2636227"/>
              <a:ext cx="113949" cy="391048"/>
            </a:xfrm>
            <a:custGeom>
              <a:avLst/>
              <a:gdLst/>
              <a:ahLst/>
              <a:cxnLst/>
              <a:rect l="l" t="t" r="r" b="b"/>
              <a:pathLst>
                <a:path w="5042" h="17303" extrusionOk="0">
                  <a:moveTo>
                    <a:pt x="3539" y="969"/>
                  </a:moveTo>
                  <a:lnTo>
                    <a:pt x="3733" y="1018"/>
                  </a:lnTo>
                  <a:lnTo>
                    <a:pt x="3878" y="1115"/>
                  </a:lnTo>
                  <a:lnTo>
                    <a:pt x="4023" y="1309"/>
                  </a:lnTo>
                  <a:lnTo>
                    <a:pt x="4023" y="1503"/>
                  </a:lnTo>
                  <a:lnTo>
                    <a:pt x="4023" y="2326"/>
                  </a:lnTo>
                  <a:lnTo>
                    <a:pt x="1019" y="2326"/>
                  </a:lnTo>
                  <a:lnTo>
                    <a:pt x="1019" y="1503"/>
                  </a:lnTo>
                  <a:lnTo>
                    <a:pt x="1019" y="1309"/>
                  </a:lnTo>
                  <a:lnTo>
                    <a:pt x="1115" y="1115"/>
                  </a:lnTo>
                  <a:lnTo>
                    <a:pt x="1309" y="1018"/>
                  </a:lnTo>
                  <a:lnTo>
                    <a:pt x="1503" y="969"/>
                  </a:lnTo>
                  <a:close/>
                  <a:moveTo>
                    <a:pt x="2036" y="3344"/>
                  </a:moveTo>
                  <a:lnTo>
                    <a:pt x="2036" y="12552"/>
                  </a:lnTo>
                  <a:lnTo>
                    <a:pt x="1019" y="12552"/>
                  </a:lnTo>
                  <a:lnTo>
                    <a:pt x="1019" y="3344"/>
                  </a:lnTo>
                  <a:close/>
                  <a:moveTo>
                    <a:pt x="4023" y="3344"/>
                  </a:moveTo>
                  <a:lnTo>
                    <a:pt x="4023" y="12552"/>
                  </a:lnTo>
                  <a:lnTo>
                    <a:pt x="3054" y="12552"/>
                  </a:lnTo>
                  <a:lnTo>
                    <a:pt x="3054" y="3344"/>
                  </a:lnTo>
                  <a:close/>
                  <a:moveTo>
                    <a:pt x="3684" y="13570"/>
                  </a:moveTo>
                  <a:lnTo>
                    <a:pt x="2569" y="15751"/>
                  </a:lnTo>
                  <a:lnTo>
                    <a:pt x="1358" y="13570"/>
                  </a:lnTo>
                  <a:close/>
                  <a:moveTo>
                    <a:pt x="1164" y="0"/>
                  </a:moveTo>
                  <a:lnTo>
                    <a:pt x="922" y="97"/>
                  </a:lnTo>
                  <a:lnTo>
                    <a:pt x="631" y="242"/>
                  </a:lnTo>
                  <a:lnTo>
                    <a:pt x="437" y="436"/>
                  </a:lnTo>
                  <a:lnTo>
                    <a:pt x="243" y="630"/>
                  </a:lnTo>
                  <a:lnTo>
                    <a:pt x="98" y="872"/>
                  </a:lnTo>
                  <a:lnTo>
                    <a:pt x="1" y="1163"/>
                  </a:lnTo>
                  <a:lnTo>
                    <a:pt x="1" y="1503"/>
                  </a:lnTo>
                  <a:lnTo>
                    <a:pt x="1" y="13086"/>
                  </a:lnTo>
                  <a:lnTo>
                    <a:pt x="1" y="13231"/>
                  </a:lnTo>
                  <a:lnTo>
                    <a:pt x="49" y="13328"/>
                  </a:lnTo>
                  <a:lnTo>
                    <a:pt x="2133" y="17060"/>
                  </a:lnTo>
                  <a:lnTo>
                    <a:pt x="2182" y="17157"/>
                  </a:lnTo>
                  <a:lnTo>
                    <a:pt x="2279" y="17254"/>
                  </a:lnTo>
                  <a:lnTo>
                    <a:pt x="2424" y="17302"/>
                  </a:lnTo>
                  <a:lnTo>
                    <a:pt x="2715" y="17302"/>
                  </a:lnTo>
                  <a:lnTo>
                    <a:pt x="2812" y="17254"/>
                  </a:lnTo>
                  <a:lnTo>
                    <a:pt x="2909" y="17157"/>
                  </a:lnTo>
                  <a:lnTo>
                    <a:pt x="3006" y="17060"/>
                  </a:lnTo>
                  <a:lnTo>
                    <a:pt x="4993" y="13328"/>
                  </a:lnTo>
                  <a:lnTo>
                    <a:pt x="5041" y="13231"/>
                  </a:lnTo>
                  <a:lnTo>
                    <a:pt x="5041" y="13086"/>
                  </a:lnTo>
                  <a:lnTo>
                    <a:pt x="5041" y="1503"/>
                  </a:lnTo>
                  <a:lnTo>
                    <a:pt x="5041" y="1163"/>
                  </a:lnTo>
                  <a:lnTo>
                    <a:pt x="4944" y="872"/>
                  </a:lnTo>
                  <a:lnTo>
                    <a:pt x="4799" y="630"/>
                  </a:lnTo>
                  <a:lnTo>
                    <a:pt x="4605" y="436"/>
                  </a:lnTo>
                  <a:lnTo>
                    <a:pt x="4411" y="242"/>
                  </a:lnTo>
                  <a:lnTo>
                    <a:pt x="4120" y="97"/>
                  </a:lnTo>
                  <a:lnTo>
                    <a:pt x="38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7" name="Google Shape;547;p45"/>
            <p:cNvSpPr/>
            <p:nvPr/>
          </p:nvSpPr>
          <p:spPr>
            <a:xfrm>
              <a:off x="4105378" y="2636227"/>
              <a:ext cx="254137" cy="391048"/>
            </a:xfrm>
            <a:custGeom>
              <a:avLst/>
              <a:gdLst/>
              <a:ahLst/>
              <a:cxnLst/>
              <a:rect l="l" t="t" r="r" b="b"/>
              <a:pathLst>
                <a:path w="11245" h="17303" extrusionOk="0">
                  <a:moveTo>
                    <a:pt x="2957" y="14346"/>
                  </a:moveTo>
                  <a:lnTo>
                    <a:pt x="2957" y="15606"/>
                  </a:lnTo>
                  <a:lnTo>
                    <a:pt x="1746" y="14346"/>
                  </a:lnTo>
                  <a:close/>
                  <a:moveTo>
                    <a:pt x="10227" y="969"/>
                  </a:moveTo>
                  <a:lnTo>
                    <a:pt x="10227" y="16284"/>
                  </a:lnTo>
                  <a:lnTo>
                    <a:pt x="3975" y="16284"/>
                  </a:lnTo>
                  <a:lnTo>
                    <a:pt x="3975" y="13861"/>
                  </a:lnTo>
                  <a:lnTo>
                    <a:pt x="3975" y="13667"/>
                  </a:lnTo>
                  <a:lnTo>
                    <a:pt x="3830" y="13473"/>
                  </a:lnTo>
                  <a:lnTo>
                    <a:pt x="3684" y="13376"/>
                  </a:lnTo>
                  <a:lnTo>
                    <a:pt x="3490" y="13328"/>
                  </a:lnTo>
                  <a:lnTo>
                    <a:pt x="1019" y="13328"/>
                  </a:lnTo>
                  <a:lnTo>
                    <a:pt x="1019" y="969"/>
                  </a:lnTo>
                  <a:close/>
                  <a:moveTo>
                    <a:pt x="340" y="0"/>
                  </a:move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1" y="13861"/>
                  </a:lnTo>
                  <a:lnTo>
                    <a:pt x="49" y="14055"/>
                  </a:lnTo>
                  <a:lnTo>
                    <a:pt x="146" y="14200"/>
                  </a:lnTo>
                  <a:lnTo>
                    <a:pt x="3151" y="17157"/>
                  </a:lnTo>
                  <a:lnTo>
                    <a:pt x="3297" y="17302"/>
                  </a:lnTo>
                  <a:lnTo>
                    <a:pt x="10954" y="17302"/>
                  </a:lnTo>
                  <a:lnTo>
                    <a:pt x="11099" y="17157"/>
                  </a:lnTo>
                  <a:lnTo>
                    <a:pt x="11245" y="17011"/>
                  </a:lnTo>
                  <a:lnTo>
                    <a:pt x="11245" y="16817"/>
                  </a:lnTo>
                  <a:lnTo>
                    <a:pt x="11245" y="485"/>
                  </a:lnTo>
                  <a:lnTo>
                    <a:pt x="11245" y="291"/>
                  </a:lnTo>
                  <a:lnTo>
                    <a:pt x="11099" y="146"/>
                  </a:lnTo>
                  <a:lnTo>
                    <a:pt x="1095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48" name="Google Shape;548;p45"/>
            <p:cNvSpPr/>
            <p:nvPr/>
          </p:nvSpPr>
          <p:spPr>
            <a:xfrm>
              <a:off x="4151391" y="2845413"/>
              <a:ext cx="162132" cy="69043"/>
            </a:xfrm>
            <a:custGeom>
              <a:avLst/>
              <a:gdLst/>
              <a:ahLst/>
              <a:cxnLst/>
              <a:rect l="l" t="t" r="r" b="b"/>
              <a:pathLst>
                <a:path w="7174" h="3055" extrusionOk="0">
                  <a:moveTo>
                    <a:pt x="6155" y="1019"/>
                  </a:moveTo>
                  <a:lnTo>
                    <a:pt x="6155" y="2036"/>
                  </a:lnTo>
                  <a:lnTo>
                    <a:pt x="1018" y="2036"/>
                  </a:lnTo>
                  <a:lnTo>
                    <a:pt x="1018" y="1019"/>
                  </a:lnTo>
                  <a:close/>
                  <a:moveTo>
                    <a:pt x="340" y="1"/>
                  </a:moveTo>
                  <a:lnTo>
                    <a:pt x="146" y="146"/>
                  </a:lnTo>
                  <a:lnTo>
                    <a:pt x="49" y="292"/>
                  </a:lnTo>
                  <a:lnTo>
                    <a:pt x="0" y="486"/>
                  </a:lnTo>
                  <a:lnTo>
                    <a:pt x="0" y="2521"/>
                  </a:lnTo>
                  <a:lnTo>
                    <a:pt x="49" y="2715"/>
                  </a:lnTo>
                  <a:lnTo>
                    <a:pt x="146" y="2860"/>
                  </a:lnTo>
                  <a:lnTo>
                    <a:pt x="340" y="3006"/>
                  </a:lnTo>
                  <a:lnTo>
                    <a:pt x="534" y="3054"/>
                  </a:lnTo>
                  <a:lnTo>
                    <a:pt x="6689" y="3054"/>
                  </a:lnTo>
                  <a:lnTo>
                    <a:pt x="6882" y="3006"/>
                  </a:lnTo>
                  <a:lnTo>
                    <a:pt x="7028" y="2860"/>
                  </a:lnTo>
                  <a:lnTo>
                    <a:pt x="7173" y="2715"/>
                  </a:lnTo>
                  <a:lnTo>
                    <a:pt x="7173" y="2521"/>
                  </a:lnTo>
                  <a:lnTo>
                    <a:pt x="7173" y="486"/>
                  </a:lnTo>
                  <a:lnTo>
                    <a:pt x="7173" y="292"/>
                  </a:lnTo>
                  <a:lnTo>
                    <a:pt x="7028" y="146"/>
                  </a:lnTo>
                  <a:lnTo>
                    <a:pt x="6882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9" name="Google Shape;549;p45"/>
            <p:cNvSpPr/>
            <p:nvPr/>
          </p:nvSpPr>
          <p:spPr>
            <a:xfrm>
              <a:off x="4244481" y="2781884"/>
              <a:ext cx="69043" cy="23029"/>
            </a:xfrm>
            <a:custGeom>
              <a:avLst/>
              <a:gdLst/>
              <a:ahLst/>
              <a:cxnLst/>
              <a:rect l="l" t="t" r="r" b="b"/>
              <a:pathLst>
                <a:path w="3055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292"/>
                  </a:lnTo>
                  <a:lnTo>
                    <a:pt x="1" y="486"/>
                  </a:lnTo>
                  <a:lnTo>
                    <a:pt x="49" y="728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9"/>
                  </a:lnTo>
                  <a:lnTo>
                    <a:pt x="2570" y="1019"/>
                  </a:lnTo>
                  <a:lnTo>
                    <a:pt x="2763" y="970"/>
                  </a:lnTo>
                  <a:lnTo>
                    <a:pt x="2909" y="873"/>
                  </a:lnTo>
                  <a:lnTo>
                    <a:pt x="3054" y="728"/>
                  </a:lnTo>
                  <a:lnTo>
                    <a:pt x="3054" y="486"/>
                  </a:lnTo>
                  <a:lnTo>
                    <a:pt x="3054" y="292"/>
                  </a:lnTo>
                  <a:lnTo>
                    <a:pt x="2909" y="146"/>
                  </a:lnTo>
                  <a:lnTo>
                    <a:pt x="2763" y="49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0" name="Google Shape;550;p45"/>
            <p:cNvSpPr/>
            <p:nvPr/>
          </p:nvSpPr>
          <p:spPr>
            <a:xfrm>
              <a:off x="4244481" y="2731509"/>
              <a:ext cx="69043" cy="23029"/>
            </a:xfrm>
            <a:custGeom>
              <a:avLst/>
              <a:gdLst/>
              <a:ahLst/>
              <a:cxnLst/>
              <a:rect l="l" t="t" r="r" b="b"/>
              <a:pathLst>
                <a:path w="3055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1" y="534"/>
                  </a:lnTo>
                  <a:lnTo>
                    <a:pt x="49" y="728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8"/>
                  </a:lnTo>
                  <a:lnTo>
                    <a:pt x="2570" y="1018"/>
                  </a:lnTo>
                  <a:lnTo>
                    <a:pt x="2763" y="970"/>
                  </a:lnTo>
                  <a:lnTo>
                    <a:pt x="2909" y="873"/>
                  </a:lnTo>
                  <a:lnTo>
                    <a:pt x="3054" y="728"/>
                  </a:lnTo>
                  <a:lnTo>
                    <a:pt x="3054" y="534"/>
                  </a:lnTo>
                  <a:lnTo>
                    <a:pt x="3054" y="340"/>
                  </a:lnTo>
                  <a:lnTo>
                    <a:pt x="2909" y="146"/>
                  </a:lnTo>
                  <a:lnTo>
                    <a:pt x="2763" y="49"/>
                  </a:lnTo>
                  <a:lnTo>
                    <a:pt x="257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1" name="Google Shape;551;p45"/>
            <p:cNvSpPr/>
            <p:nvPr/>
          </p:nvSpPr>
          <p:spPr>
            <a:xfrm>
              <a:off x="4244481" y="2681133"/>
              <a:ext cx="69043" cy="23007"/>
            </a:xfrm>
            <a:custGeom>
              <a:avLst/>
              <a:gdLst/>
              <a:ahLst/>
              <a:cxnLst/>
              <a:rect l="l" t="t" r="r" b="b"/>
              <a:pathLst>
                <a:path w="3055" h="1018" extrusionOk="0">
                  <a:moveTo>
                    <a:pt x="486" y="0"/>
                  </a:moveTo>
                  <a:lnTo>
                    <a:pt x="292" y="49"/>
                  </a:lnTo>
                  <a:lnTo>
                    <a:pt x="146" y="194"/>
                  </a:lnTo>
                  <a:lnTo>
                    <a:pt x="49" y="339"/>
                  </a:lnTo>
                  <a:lnTo>
                    <a:pt x="1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292" y="1018"/>
                  </a:lnTo>
                  <a:lnTo>
                    <a:pt x="2763" y="1018"/>
                  </a:lnTo>
                  <a:lnTo>
                    <a:pt x="2909" y="873"/>
                  </a:lnTo>
                  <a:lnTo>
                    <a:pt x="3054" y="727"/>
                  </a:lnTo>
                  <a:lnTo>
                    <a:pt x="3054" y="533"/>
                  </a:lnTo>
                  <a:lnTo>
                    <a:pt x="3054" y="339"/>
                  </a:lnTo>
                  <a:lnTo>
                    <a:pt x="2909" y="194"/>
                  </a:lnTo>
                  <a:lnTo>
                    <a:pt x="2763" y="49"/>
                  </a:lnTo>
                  <a:lnTo>
                    <a:pt x="257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2" name="Google Shape;552;p45"/>
            <p:cNvSpPr/>
            <p:nvPr/>
          </p:nvSpPr>
          <p:spPr>
            <a:xfrm>
              <a:off x="4151391" y="2681133"/>
              <a:ext cx="73405" cy="54782"/>
            </a:xfrm>
            <a:custGeom>
              <a:avLst/>
              <a:gdLst/>
              <a:ahLst/>
              <a:cxnLst/>
              <a:rect l="l" t="t" r="r" b="b"/>
              <a:pathLst>
                <a:path w="3248" h="2424" extrusionOk="0">
                  <a:moveTo>
                    <a:pt x="2714" y="0"/>
                  </a:moveTo>
                  <a:lnTo>
                    <a:pt x="2521" y="49"/>
                  </a:lnTo>
                  <a:lnTo>
                    <a:pt x="2375" y="194"/>
                  </a:lnTo>
                  <a:lnTo>
                    <a:pt x="1357" y="1212"/>
                  </a:lnTo>
                  <a:lnTo>
                    <a:pt x="873" y="727"/>
                  </a:lnTo>
                  <a:lnTo>
                    <a:pt x="727" y="630"/>
                  </a:lnTo>
                  <a:lnTo>
                    <a:pt x="534" y="582"/>
                  </a:lnTo>
                  <a:lnTo>
                    <a:pt x="340" y="630"/>
                  </a:lnTo>
                  <a:lnTo>
                    <a:pt x="146" y="727"/>
                  </a:lnTo>
                  <a:lnTo>
                    <a:pt x="49" y="921"/>
                  </a:lnTo>
                  <a:lnTo>
                    <a:pt x="0" y="1115"/>
                  </a:lnTo>
                  <a:lnTo>
                    <a:pt x="49" y="1309"/>
                  </a:lnTo>
                  <a:lnTo>
                    <a:pt x="146" y="1454"/>
                  </a:lnTo>
                  <a:lnTo>
                    <a:pt x="970" y="2278"/>
                  </a:lnTo>
                  <a:lnTo>
                    <a:pt x="1164" y="2375"/>
                  </a:lnTo>
                  <a:lnTo>
                    <a:pt x="1357" y="2423"/>
                  </a:lnTo>
                  <a:lnTo>
                    <a:pt x="1503" y="2375"/>
                  </a:lnTo>
                  <a:lnTo>
                    <a:pt x="1697" y="2278"/>
                  </a:lnTo>
                  <a:lnTo>
                    <a:pt x="3102" y="873"/>
                  </a:lnTo>
                  <a:lnTo>
                    <a:pt x="3199" y="727"/>
                  </a:lnTo>
                  <a:lnTo>
                    <a:pt x="3248" y="533"/>
                  </a:lnTo>
                  <a:lnTo>
                    <a:pt x="3199" y="339"/>
                  </a:lnTo>
                  <a:lnTo>
                    <a:pt x="3102" y="194"/>
                  </a:lnTo>
                  <a:lnTo>
                    <a:pt x="2908" y="49"/>
                  </a:lnTo>
                  <a:lnTo>
                    <a:pt x="27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3" name="Google Shape;553;p45"/>
            <p:cNvSpPr/>
            <p:nvPr/>
          </p:nvSpPr>
          <p:spPr>
            <a:xfrm>
              <a:off x="4151391" y="2750131"/>
              <a:ext cx="73405" cy="54782"/>
            </a:xfrm>
            <a:custGeom>
              <a:avLst/>
              <a:gdLst/>
              <a:ahLst/>
              <a:cxnLst/>
              <a:rect l="l" t="t" r="r" b="b"/>
              <a:pathLst>
                <a:path w="3248" h="2424" extrusionOk="0">
                  <a:moveTo>
                    <a:pt x="2714" y="0"/>
                  </a:moveTo>
                  <a:lnTo>
                    <a:pt x="2521" y="49"/>
                  </a:lnTo>
                  <a:lnTo>
                    <a:pt x="2375" y="146"/>
                  </a:lnTo>
                  <a:lnTo>
                    <a:pt x="1357" y="1212"/>
                  </a:lnTo>
                  <a:lnTo>
                    <a:pt x="873" y="727"/>
                  </a:lnTo>
                  <a:lnTo>
                    <a:pt x="727" y="630"/>
                  </a:lnTo>
                  <a:lnTo>
                    <a:pt x="534" y="582"/>
                  </a:lnTo>
                  <a:lnTo>
                    <a:pt x="340" y="630"/>
                  </a:lnTo>
                  <a:lnTo>
                    <a:pt x="146" y="727"/>
                  </a:lnTo>
                  <a:lnTo>
                    <a:pt x="49" y="921"/>
                  </a:lnTo>
                  <a:lnTo>
                    <a:pt x="0" y="1115"/>
                  </a:lnTo>
                  <a:lnTo>
                    <a:pt x="49" y="1309"/>
                  </a:lnTo>
                  <a:lnTo>
                    <a:pt x="146" y="1454"/>
                  </a:lnTo>
                  <a:lnTo>
                    <a:pt x="970" y="2278"/>
                  </a:lnTo>
                  <a:lnTo>
                    <a:pt x="1164" y="2375"/>
                  </a:lnTo>
                  <a:lnTo>
                    <a:pt x="1357" y="2424"/>
                  </a:lnTo>
                  <a:lnTo>
                    <a:pt x="1503" y="2375"/>
                  </a:lnTo>
                  <a:lnTo>
                    <a:pt x="1697" y="2278"/>
                  </a:lnTo>
                  <a:lnTo>
                    <a:pt x="3102" y="873"/>
                  </a:lnTo>
                  <a:lnTo>
                    <a:pt x="3199" y="727"/>
                  </a:lnTo>
                  <a:lnTo>
                    <a:pt x="3248" y="534"/>
                  </a:lnTo>
                  <a:lnTo>
                    <a:pt x="3199" y="340"/>
                  </a:lnTo>
                  <a:lnTo>
                    <a:pt x="3102" y="146"/>
                  </a:lnTo>
                  <a:lnTo>
                    <a:pt x="2908" y="49"/>
                  </a:lnTo>
                  <a:lnTo>
                    <a:pt x="271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4" name="Google Shape;554;p45"/>
          <p:cNvGrpSpPr/>
          <p:nvPr/>
        </p:nvGrpSpPr>
        <p:grpSpPr>
          <a:xfrm>
            <a:off x="6100269" y="1191856"/>
            <a:ext cx="392133" cy="392155"/>
            <a:chOff x="6018897" y="2635120"/>
            <a:chExt cx="392133" cy="392155"/>
          </a:xfrm>
        </p:grpSpPr>
        <p:sp>
          <p:nvSpPr>
            <p:cNvPr id="555" name="Google Shape;555;p45"/>
            <p:cNvSpPr/>
            <p:nvPr/>
          </p:nvSpPr>
          <p:spPr>
            <a:xfrm>
              <a:off x="6181007" y="2797229"/>
              <a:ext cx="69020" cy="69020"/>
            </a:xfrm>
            <a:custGeom>
              <a:avLst/>
              <a:gdLst/>
              <a:ahLst/>
              <a:cxnLst/>
              <a:rect l="l" t="t" r="r" b="b"/>
              <a:pathLst>
                <a:path w="3054" h="3054" extrusionOk="0">
                  <a:moveTo>
                    <a:pt x="1503" y="1018"/>
                  </a:moveTo>
                  <a:lnTo>
                    <a:pt x="1696" y="1067"/>
                  </a:lnTo>
                  <a:lnTo>
                    <a:pt x="1890" y="1164"/>
                  </a:lnTo>
                  <a:lnTo>
                    <a:pt x="1987" y="1309"/>
                  </a:lnTo>
                  <a:lnTo>
                    <a:pt x="2036" y="1503"/>
                  </a:lnTo>
                  <a:lnTo>
                    <a:pt x="1987" y="1697"/>
                  </a:lnTo>
                  <a:lnTo>
                    <a:pt x="1890" y="1891"/>
                  </a:lnTo>
                  <a:lnTo>
                    <a:pt x="1696" y="1987"/>
                  </a:lnTo>
                  <a:lnTo>
                    <a:pt x="1503" y="2036"/>
                  </a:lnTo>
                  <a:lnTo>
                    <a:pt x="1309" y="1987"/>
                  </a:lnTo>
                  <a:lnTo>
                    <a:pt x="1163" y="1891"/>
                  </a:lnTo>
                  <a:lnTo>
                    <a:pt x="1066" y="1697"/>
                  </a:lnTo>
                  <a:lnTo>
                    <a:pt x="1018" y="1503"/>
                  </a:lnTo>
                  <a:lnTo>
                    <a:pt x="1066" y="1309"/>
                  </a:lnTo>
                  <a:lnTo>
                    <a:pt x="1163" y="1164"/>
                  </a:lnTo>
                  <a:lnTo>
                    <a:pt x="1309" y="1067"/>
                  </a:lnTo>
                  <a:lnTo>
                    <a:pt x="1503" y="1018"/>
                  </a:lnTo>
                  <a:close/>
                  <a:moveTo>
                    <a:pt x="1212" y="0"/>
                  </a:moveTo>
                  <a:lnTo>
                    <a:pt x="921" y="97"/>
                  </a:lnTo>
                  <a:lnTo>
                    <a:pt x="679" y="243"/>
                  </a:lnTo>
                  <a:lnTo>
                    <a:pt x="436" y="437"/>
                  </a:lnTo>
                  <a:lnTo>
                    <a:pt x="243" y="679"/>
                  </a:lnTo>
                  <a:lnTo>
                    <a:pt x="97" y="921"/>
                  </a:lnTo>
                  <a:lnTo>
                    <a:pt x="49" y="1212"/>
                  </a:lnTo>
                  <a:lnTo>
                    <a:pt x="0" y="1503"/>
                  </a:lnTo>
                  <a:lnTo>
                    <a:pt x="49" y="1842"/>
                  </a:lnTo>
                  <a:lnTo>
                    <a:pt x="97" y="2084"/>
                  </a:lnTo>
                  <a:lnTo>
                    <a:pt x="243" y="2375"/>
                  </a:lnTo>
                  <a:lnTo>
                    <a:pt x="436" y="2569"/>
                  </a:lnTo>
                  <a:lnTo>
                    <a:pt x="679" y="2763"/>
                  </a:lnTo>
                  <a:lnTo>
                    <a:pt x="921" y="2908"/>
                  </a:lnTo>
                  <a:lnTo>
                    <a:pt x="1212" y="3005"/>
                  </a:lnTo>
                  <a:lnTo>
                    <a:pt x="1503" y="3054"/>
                  </a:lnTo>
                  <a:lnTo>
                    <a:pt x="1842" y="3005"/>
                  </a:lnTo>
                  <a:lnTo>
                    <a:pt x="2133" y="2908"/>
                  </a:lnTo>
                  <a:lnTo>
                    <a:pt x="2375" y="2763"/>
                  </a:lnTo>
                  <a:lnTo>
                    <a:pt x="2617" y="2569"/>
                  </a:lnTo>
                  <a:lnTo>
                    <a:pt x="2763" y="2375"/>
                  </a:lnTo>
                  <a:lnTo>
                    <a:pt x="2908" y="2084"/>
                  </a:lnTo>
                  <a:lnTo>
                    <a:pt x="3005" y="1842"/>
                  </a:lnTo>
                  <a:lnTo>
                    <a:pt x="3053" y="1503"/>
                  </a:lnTo>
                  <a:lnTo>
                    <a:pt x="3005" y="1212"/>
                  </a:lnTo>
                  <a:lnTo>
                    <a:pt x="2908" y="921"/>
                  </a:lnTo>
                  <a:lnTo>
                    <a:pt x="2763" y="679"/>
                  </a:lnTo>
                  <a:lnTo>
                    <a:pt x="2617" y="437"/>
                  </a:lnTo>
                  <a:lnTo>
                    <a:pt x="2375" y="243"/>
                  </a:lnTo>
                  <a:lnTo>
                    <a:pt x="2133" y="97"/>
                  </a:lnTo>
                  <a:lnTo>
                    <a:pt x="184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6" name="Google Shape;556;p45"/>
            <p:cNvSpPr/>
            <p:nvPr/>
          </p:nvSpPr>
          <p:spPr>
            <a:xfrm>
              <a:off x="6018897" y="2635120"/>
              <a:ext cx="392133" cy="392155"/>
            </a:xfrm>
            <a:custGeom>
              <a:avLst/>
              <a:gdLst/>
              <a:ahLst/>
              <a:cxnLst/>
              <a:rect l="l" t="t" r="r" b="b"/>
              <a:pathLst>
                <a:path w="17351" h="17352" extrusionOk="0">
                  <a:moveTo>
                    <a:pt x="15848" y="4993"/>
                  </a:moveTo>
                  <a:lnTo>
                    <a:pt x="16042" y="5041"/>
                  </a:lnTo>
                  <a:lnTo>
                    <a:pt x="16188" y="5138"/>
                  </a:lnTo>
                  <a:lnTo>
                    <a:pt x="16285" y="5332"/>
                  </a:lnTo>
                  <a:lnTo>
                    <a:pt x="16333" y="5526"/>
                  </a:lnTo>
                  <a:lnTo>
                    <a:pt x="16285" y="5719"/>
                  </a:lnTo>
                  <a:lnTo>
                    <a:pt x="16188" y="5865"/>
                  </a:lnTo>
                  <a:lnTo>
                    <a:pt x="16042" y="5962"/>
                  </a:lnTo>
                  <a:lnTo>
                    <a:pt x="15848" y="6010"/>
                  </a:lnTo>
                  <a:lnTo>
                    <a:pt x="15655" y="5962"/>
                  </a:lnTo>
                  <a:lnTo>
                    <a:pt x="15461" y="5865"/>
                  </a:lnTo>
                  <a:lnTo>
                    <a:pt x="15364" y="5719"/>
                  </a:lnTo>
                  <a:lnTo>
                    <a:pt x="15315" y="5526"/>
                  </a:lnTo>
                  <a:lnTo>
                    <a:pt x="15364" y="5332"/>
                  </a:lnTo>
                  <a:lnTo>
                    <a:pt x="15461" y="5138"/>
                  </a:lnTo>
                  <a:lnTo>
                    <a:pt x="15655" y="5041"/>
                  </a:lnTo>
                  <a:lnTo>
                    <a:pt x="15848" y="4993"/>
                  </a:lnTo>
                  <a:close/>
                  <a:moveTo>
                    <a:pt x="2278" y="1018"/>
                  </a:moveTo>
                  <a:lnTo>
                    <a:pt x="2714" y="1067"/>
                  </a:lnTo>
                  <a:lnTo>
                    <a:pt x="3199" y="1164"/>
                  </a:lnTo>
                  <a:lnTo>
                    <a:pt x="3732" y="1309"/>
                  </a:lnTo>
                  <a:lnTo>
                    <a:pt x="4314" y="1503"/>
                  </a:lnTo>
                  <a:lnTo>
                    <a:pt x="4944" y="1794"/>
                  </a:lnTo>
                  <a:lnTo>
                    <a:pt x="5622" y="2182"/>
                  </a:lnTo>
                  <a:lnTo>
                    <a:pt x="6349" y="2618"/>
                  </a:lnTo>
                  <a:lnTo>
                    <a:pt x="7125" y="3102"/>
                  </a:lnTo>
                  <a:lnTo>
                    <a:pt x="7852" y="3636"/>
                  </a:lnTo>
                  <a:lnTo>
                    <a:pt x="6737" y="4605"/>
                  </a:lnTo>
                  <a:lnTo>
                    <a:pt x="5671" y="5623"/>
                  </a:lnTo>
                  <a:lnTo>
                    <a:pt x="4605" y="6737"/>
                  </a:lnTo>
                  <a:lnTo>
                    <a:pt x="3635" y="7852"/>
                  </a:lnTo>
                  <a:lnTo>
                    <a:pt x="3102" y="7125"/>
                  </a:lnTo>
                  <a:lnTo>
                    <a:pt x="2617" y="6350"/>
                  </a:lnTo>
                  <a:lnTo>
                    <a:pt x="2181" y="5623"/>
                  </a:lnTo>
                  <a:lnTo>
                    <a:pt x="1794" y="4896"/>
                  </a:lnTo>
                  <a:lnTo>
                    <a:pt x="1503" y="4314"/>
                  </a:lnTo>
                  <a:lnTo>
                    <a:pt x="1309" y="3732"/>
                  </a:lnTo>
                  <a:lnTo>
                    <a:pt x="1164" y="3199"/>
                  </a:lnTo>
                  <a:lnTo>
                    <a:pt x="1067" y="2715"/>
                  </a:lnTo>
                  <a:lnTo>
                    <a:pt x="1018" y="2278"/>
                  </a:lnTo>
                  <a:lnTo>
                    <a:pt x="1067" y="1891"/>
                  </a:lnTo>
                  <a:lnTo>
                    <a:pt x="1164" y="1600"/>
                  </a:lnTo>
                  <a:lnTo>
                    <a:pt x="1357" y="1358"/>
                  </a:lnTo>
                  <a:lnTo>
                    <a:pt x="1600" y="1164"/>
                  </a:lnTo>
                  <a:lnTo>
                    <a:pt x="1890" y="1067"/>
                  </a:lnTo>
                  <a:lnTo>
                    <a:pt x="2278" y="1018"/>
                  </a:lnTo>
                  <a:close/>
                  <a:moveTo>
                    <a:pt x="15073" y="1018"/>
                  </a:moveTo>
                  <a:lnTo>
                    <a:pt x="15364" y="1067"/>
                  </a:lnTo>
                  <a:lnTo>
                    <a:pt x="15655" y="1115"/>
                  </a:lnTo>
                  <a:lnTo>
                    <a:pt x="15848" y="1212"/>
                  </a:lnTo>
                  <a:lnTo>
                    <a:pt x="16042" y="1358"/>
                  </a:lnTo>
                  <a:lnTo>
                    <a:pt x="16188" y="1552"/>
                  </a:lnTo>
                  <a:lnTo>
                    <a:pt x="16285" y="1745"/>
                  </a:lnTo>
                  <a:lnTo>
                    <a:pt x="16333" y="2036"/>
                  </a:lnTo>
                  <a:lnTo>
                    <a:pt x="16333" y="2375"/>
                  </a:lnTo>
                  <a:lnTo>
                    <a:pt x="16333" y="2715"/>
                  </a:lnTo>
                  <a:lnTo>
                    <a:pt x="16236" y="3102"/>
                  </a:lnTo>
                  <a:lnTo>
                    <a:pt x="16139" y="3539"/>
                  </a:lnTo>
                  <a:lnTo>
                    <a:pt x="15994" y="3975"/>
                  </a:lnTo>
                  <a:lnTo>
                    <a:pt x="15848" y="3975"/>
                  </a:lnTo>
                  <a:lnTo>
                    <a:pt x="15558" y="4023"/>
                  </a:lnTo>
                  <a:lnTo>
                    <a:pt x="15267" y="4120"/>
                  </a:lnTo>
                  <a:lnTo>
                    <a:pt x="14976" y="4266"/>
                  </a:lnTo>
                  <a:lnTo>
                    <a:pt x="14782" y="4411"/>
                  </a:lnTo>
                  <a:lnTo>
                    <a:pt x="14588" y="4653"/>
                  </a:lnTo>
                  <a:lnTo>
                    <a:pt x="14443" y="4896"/>
                  </a:lnTo>
                  <a:lnTo>
                    <a:pt x="14346" y="5186"/>
                  </a:lnTo>
                  <a:lnTo>
                    <a:pt x="14298" y="5526"/>
                  </a:lnTo>
                  <a:lnTo>
                    <a:pt x="14346" y="5768"/>
                  </a:lnTo>
                  <a:lnTo>
                    <a:pt x="14394" y="6059"/>
                  </a:lnTo>
                  <a:lnTo>
                    <a:pt x="14540" y="6301"/>
                  </a:lnTo>
                  <a:lnTo>
                    <a:pt x="14685" y="6495"/>
                  </a:lnTo>
                  <a:lnTo>
                    <a:pt x="14249" y="7173"/>
                  </a:lnTo>
                  <a:lnTo>
                    <a:pt x="13764" y="7852"/>
                  </a:lnTo>
                  <a:lnTo>
                    <a:pt x="12795" y="6737"/>
                  </a:lnTo>
                  <a:lnTo>
                    <a:pt x="11729" y="5623"/>
                  </a:lnTo>
                  <a:lnTo>
                    <a:pt x="10614" y="4605"/>
                  </a:lnTo>
                  <a:lnTo>
                    <a:pt x="9500" y="3636"/>
                  </a:lnTo>
                  <a:lnTo>
                    <a:pt x="10566" y="2860"/>
                  </a:lnTo>
                  <a:lnTo>
                    <a:pt x="11632" y="2230"/>
                  </a:lnTo>
                  <a:lnTo>
                    <a:pt x="12601" y="1745"/>
                  </a:lnTo>
                  <a:lnTo>
                    <a:pt x="13522" y="1358"/>
                  </a:lnTo>
                  <a:lnTo>
                    <a:pt x="13958" y="1212"/>
                  </a:lnTo>
                  <a:lnTo>
                    <a:pt x="14394" y="1115"/>
                  </a:lnTo>
                  <a:lnTo>
                    <a:pt x="14734" y="1067"/>
                  </a:lnTo>
                  <a:lnTo>
                    <a:pt x="15073" y="1018"/>
                  </a:lnTo>
                  <a:close/>
                  <a:moveTo>
                    <a:pt x="1745" y="11341"/>
                  </a:moveTo>
                  <a:lnTo>
                    <a:pt x="1890" y="11487"/>
                  </a:lnTo>
                  <a:lnTo>
                    <a:pt x="2036" y="11632"/>
                  </a:lnTo>
                  <a:lnTo>
                    <a:pt x="2036" y="11826"/>
                  </a:lnTo>
                  <a:lnTo>
                    <a:pt x="2036" y="12020"/>
                  </a:lnTo>
                  <a:lnTo>
                    <a:pt x="1890" y="12214"/>
                  </a:lnTo>
                  <a:lnTo>
                    <a:pt x="1745" y="12311"/>
                  </a:lnTo>
                  <a:lnTo>
                    <a:pt x="1551" y="12359"/>
                  </a:lnTo>
                  <a:lnTo>
                    <a:pt x="1357" y="12311"/>
                  </a:lnTo>
                  <a:lnTo>
                    <a:pt x="1212" y="12214"/>
                  </a:lnTo>
                  <a:lnTo>
                    <a:pt x="1067" y="12020"/>
                  </a:lnTo>
                  <a:lnTo>
                    <a:pt x="1018" y="11826"/>
                  </a:lnTo>
                  <a:lnTo>
                    <a:pt x="1067" y="11632"/>
                  </a:lnTo>
                  <a:lnTo>
                    <a:pt x="1212" y="11487"/>
                  </a:lnTo>
                  <a:lnTo>
                    <a:pt x="1357" y="11341"/>
                  </a:lnTo>
                  <a:close/>
                  <a:moveTo>
                    <a:pt x="8676" y="4266"/>
                  </a:moveTo>
                  <a:lnTo>
                    <a:pt x="9887" y="5235"/>
                  </a:lnTo>
                  <a:lnTo>
                    <a:pt x="11002" y="6350"/>
                  </a:lnTo>
                  <a:lnTo>
                    <a:pt x="12117" y="7513"/>
                  </a:lnTo>
                  <a:lnTo>
                    <a:pt x="13134" y="8676"/>
                  </a:lnTo>
                  <a:lnTo>
                    <a:pt x="12117" y="9839"/>
                  </a:lnTo>
                  <a:lnTo>
                    <a:pt x="11002" y="11002"/>
                  </a:lnTo>
                  <a:lnTo>
                    <a:pt x="9887" y="12117"/>
                  </a:lnTo>
                  <a:lnTo>
                    <a:pt x="8676" y="13135"/>
                  </a:lnTo>
                  <a:lnTo>
                    <a:pt x="7512" y="12117"/>
                  </a:lnTo>
                  <a:lnTo>
                    <a:pt x="6349" y="11002"/>
                  </a:lnTo>
                  <a:lnTo>
                    <a:pt x="5283" y="9839"/>
                  </a:lnTo>
                  <a:lnTo>
                    <a:pt x="4265" y="8676"/>
                  </a:lnTo>
                  <a:lnTo>
                    <a:pt x="5283" y="7513"/>
                  </a:lnTo>
                  <a:lnTo>
                    <a:pt x="6349" y="6350"/>
                  </a:lnTo>
                  <a:lnTo>
                    <a:pt x="7512" y="5283"/>
                  </a:lnTo>
                  <a:lnTo>
                    <a:pt x="8676" y="4266"/>
                  </a:lnTo>
                  <a:close/>
                  <a:moveTo>
                    <a:pt x="3635" y="9500"/>
                  </a:moveTo>
                  <a:lnTo>
                    <a:pt x="4605" y="10614"/>
                  </a:lnTo>
                  <a:lnTo>
                    <a:pt x="5671" y="11729"/>
                  </a:lnTo>
                  <a:lnTo>
                    <a:pt x="6737" y="12795"/>
                  </a:lnTo>
                  <a:lnTo>
                    <a:pt x="7852" y="13765"/>
                  </a:lnTo>
                  <a:lnTo>
                    <a:pt x="6785" y="14492"/>
                  </a:lnTo>
                  <a:lnTo>
                    <a:pt x="5768" y="15122"/>
                  </a:lnTo>
                  <a:lnTo>
                    <a:pt x="4750" y="15655"/>
                  </a:lnTo>
                  <a:lnTo>
                    <a:pt x="3829" y="16042"/>
                  </a:lnTo>
                  <a:lnTo>
                    <a:pt x="3393" y="16188"/>
                  </a:lnTo>
                  <a:lnTo>
                    <a:pt x="3005" y="16285"/>
                  </a:lnTo>
                  <a:lnTo>
                    <a:pt x="2617" y="16333"/>
                  </a:lnTo>
                  <a:lnTo>
                    <a:pt x="1987" y="16333"/>
                  </a:lnTo>
                  <a:lnTo>
                    <a:pt x="1745" y="16285"/>
                  </a:lnTo>
                  <a:lnTo>
                    <a:pt x="1503" y="16188"/>
                  </a:lnTo>
                  <a:lnTo>
                    <a:pt x="1357" y="16042"/>
                  </a:lnTo>
                  <a:lnTo>
                    <a:pt x="1212" y="15849"/>
                  </a:lnTo>
                  <a:lnTo>
                    <a:pt x="1115" y="15606"/>
                  </a:lnTo>
                  <a:lnTo>
                    <a:pt x="1067" y="15316"/>
                  </a:lnTo>
                  <a:lnTo>
                    <a:pt x="1018" y="15025"/>
                  </a:lnTo>
                  <a:lnTo>
                    <a:pt x="1067" y="14637"/>
                  </a:lnTo>
                  <a:lnTo>
                    <a:pt x="1164" y="14249"/>
                  </a:lnTo>
                  <a:lnTo>
                    <a:pt x="1260" y="13813"/>
                  </a:lnTo>
                  <a:lnTo>
                    <a:pt x="1406" y="13328"/>
                  </a:lnTo>
                  <a:lnTo>
                    <a:pt x="1551" y="13377"/>
                  </a:lnTo>
                  <a:lnTo>
                    <a:pt x="1842" y="13328"/>
                  </a:lnTo>
                  <a:lnTo>
                    <a:pt x="2133" y="13232"/>
                  </a:lnTo>
                  <a:lnTo>
                    <a:pt x="2424" y="13086"/>
                  </a:lnTo>
                  <a:lnTo>
                    <a:pt x="2617" y="12892"/>
                  </a:lnTo>
                  <a:lnTo>
                    <a:pt x="2811" y="12698"/>
                  </a:lnTo>
                  <a:lnTo>
                    <a:pt x="2957" y="12408"/>
                  </a:lnTo>
                  <a:lnTo>
                    <a:pt x="3054" y="12117"/>
                  </a:lnTo>
                  <a:lnTo>
                    <a:pt x="3054" y="11826"/>
                  </a:lnTo>
                  <a:lnTo>
                    <a:pt x="3054" y="11535"/>
                  </a:lnTo>
                  <a:lnTo>
                    <a:pt x="2957" y="11293"/>
                  </a:lnTo>
                  <a:lnTo>
                    <a:pt x="2860" y="11051"/>
                  </a:lnTo>
                  <a:lnTo>
                    <a:pt x="2714" y="10857"/>
                  </a:lnTo>
                  <a:lnTo>
                    <a:pt x="3151" y="10178"/>
                  </a:lnTo>
                  <a:lnTo>
                    <a:pt x="3635" y="9500"/>
                  </a:lnTo>
                  <a:close/>
                  <a:moveTo>
                    <a:pt x="13764" y="9500"/>
                  </a:moveTo>
                  <a:lnTo>
                    <a:pt x="14298" y="10275"/>
                  </a:lnTo>
                  <a:lnTo>
                    <a:pt x="14782" y="11002"/>
                  </a:lnTo>
                  <a:lnTo>
                    <a:pt x="15218" y="11729"/>
                  </a:lnTo>
                  <a:lnTo>
                    <a:pt x="15606" y="12456"/>
                  </a:lnTo>
                  <a:lnTo>
                    <a:pt x="15848" y="13086"/>
                  </a:lnTo>
                  <a:lnTo>
                    <a:pt x="16091" y="13668"/>
                  </a:lnTo>
                  <a:lnTo>
                    <a:pt x="16236" y="14201"/>
                  </a:lnTo>
                  <a:lnTo>
                    <a:pt x="16333" y="14685"/>
                  </a:lnTo>
                  <a:lnTo>
                    <a:pt x="16333" y="15122"/>
                  </a:lnTo>
                  <a:lnTo>
                    <a:pt x="16333" y="15461"/>
                  </a:lnTo>
                  <a:lnTo>
                    <a:pt x="16188" y="15800"/>
                  </a:lnTo>
                  <a:lnTo>
                    <a:pt x="16042" y="16042"/>
                  </a:lnTo>
                  <a:lnTo>
                    <a:pt x="15800" y="16188"/>
                  </a:lnTo>
                  <a:lnTo>
                    <a:pt x="15509" y="16285"/>
                  </a:lnTo>
                  <a:lnTo>
                    <a:pt x="15121" y="16333"/>
                  </a:lnTo>
                  <a:lnTo>
                    <a:pt x="14685" y="16333"/>
                  </a:lnTo>
                  <a:lnTo>
                    <a:pt x="14201" y="16236"/>
                  </a:lnTo>
                  <a:lnTo>
                    <a:pt x="13668" y="16091"/>
                  </a:lnTo>
                  <a:lnTo>
                    <a:pt x="13086" y="15849"/>
                  </a:lnTo>
                  <a:lnTo>
                    <a:pt x="12456" y="15558"/>
                  </a:lnTo>
                  <a:lnTo>
                    <a:pt x="11729" y="15219"/>
                  </a:lnTo>
                  <a:lnTo>
                    <a:pt x="11002" y="14782"/>
                  </a:lnTo>
                  <a:lnTo>
                    <a:pt x="10275" y="14298"/>
                  </a:lnTo>
                  <a:lnTo>
                    <a:pt x="9500" y="13765"/>
                  </a:lnTo>
                  <a:lnTo>
                    <a:pt x="10663" y="12795"/>
                  </a:lnTo>
                  <a:lnTo>
                    <a:pt x="11729" y="11729"/>
                  </a:lnTo>
                  <a:lnTo>
                    <a:pt x="12795" y="10614"/>
                  </a:lnTo>
                  <a:lnTo>
                    <a:pt x="13764" y="9500"/>
                  </a:lnTo>
                  <a:close/>
                  <a:moveTo>
                    <a:pt x="2036" y="1"/>
                  </a:moveTo>
                  <a:lnTo>
                    <a:pt x="1794" y="49"/>
                  </a:lnTo>
                  <a:lnTo>
                    <a:pt x="1503" y="98"/>
                  </a:lnTo>
                  <a:lnTo>
                    <a:pt x="1260" y="195"/>
                  </a:lnTo>
                  <a:lnTo>
                    <a:pt x="1018" y="340"/>
                  </a:lnTo>
                  <a:lnTo>
                    <a:pt x="824" y="437"/>
                  </a:lnTo>
                  <a:lnTo>
                    <a:pt x="630" y="631"/>
                  </a:lnTo>
                  <a:lnTo>
                    <a:pt x="485" y="825"/>
                  </a:lnTo>
                  <a:lnTo>
                    <a:pt x="340" y="1018"/>
                  </a:lnTo>
                  <a:lnTo>
                    <a:pt x="194" y="1261"/>
                  </a:lnTo>
                  <a:lnTo>
                    <a:pt x="146" y="1503"/>
                  </a:lnTo>
                  <a:lnTo>
                    <a:pt x="49" y="1745"/>
                  </a:lnTo>
                  <a:lnTo>
                    <a:pt x="49" y="2036"/>
                  </a:lnTo>
                  <a:lnTo>
                    <a:pt x="49" y="2666"/>
                  </a:lnTo>
                  <a:lnTo>
                    <a:pt x="146" y="3296"/>
                  </a:lnTo>
                  <a:lnTo>
                    <a:pt x="291" y="3926"/>
                  </a:lnTo>
                  <a:lnTo>
                    <a:pt x="582" y="4605"/>
                  </a:lnTo>
                  <a:lnTo>
                    <a:pt x="873" y="5380"/>
                  </a:lnTo>
                  <a:lnTo>
                    <a:pt x="1309" y="6156"/>
                  </a:lnTo>
                  <a:lnTo>
                    <a:pt x="1794" y="6980"/>
                  </a:lnTo>
                  <a:lnTo>
                    <a:pt x="2375" y="7852"/>
                  </a:lnTo>
                  <a:lnTo>
                    <a:pt x="2957" y="8676"/>
                  </a:lnTo>
                  <a:lnTo>
                    <a:pt x="2375" y="9500"/>
                  </a:lnTo>
                  <a:lnTo>
                    <a:pt x="1842" y="10324"/>
                  </a:lnTo>
                  <a:lnTo>
                    <a:pt x="1260" y="10324"/>
                  </a:lnTo>
                  <a:lnTo>
                    <a:pt x="970" y="10421"/>
                  </a:lnTo>
                  <a:lnTo>
                    <a:pt x="679" y="10566"/>
                  </a:lnTo>
                  <a:lnTo>
                    <a:pt x="485" y="10760"/>
                  </a:lnTo>
                  <a:lnTo>
                    <a:pt x="291" y="11002"/>
                  </a:lnTo>
                  <a:lnTo>
                    <a:pt x="146" y="11244"/>
                  </a:lnTo>
                  <a:lnTo>
                    <a:pt x="49" y="11535"/>
                  </a:lnTo>
                  <a:lnTo>
                    <a:pt x="0" y="11826"/>
                  </a:lnTo>
                  <a:lnTo>
                    <a:pt x="49" y="12165"/>
                  </a:lnTo>
                  <a:lnTo>
                    <a:pt x="146" y="12456"/>
                  </a:lnTo>
                  <a:lnTo>
                    <a:pt x="291" y="12698"/>
                  </a:lnTo>
                  <a:lnTo>
                    <a:pt x="485" y="12941"/>
                  </a:lnTo>
                  <a:lnTo>
                    <a:pt x="243" y="13716"/>
                  </a:lnTo>
                  <a:lnTo>
                    <a:pt x="97" y="14395"/>
                  </a:lnTo>
                  <a:lnTo>
                    <a:pt x="0" y="14976"/>
                  </a:lnTo>
                  <a:lnTo>
                    <a:pt x="49" y="15461"/>
                  </a:lnTo>
                  <a:lnTo>
                    <a:pt x="146" y="15897"/>
                  </a:lnTo>
                  <a:lnTo>
                    <a:pt x="243" y="16236"/>
                  </a:lnTo>
                  <a:lnTo>
                    <a:pt x="437" y="16527"/>
                  </a:lnTo>
                  <a:lnTo>
                    <a:pt x="630" y="16769"/>
                  </a:lnTo>
                  <a:lnTo>
                    <a:pt x="970" y="17012"/>
                  </a:lnTo>
                  <a:lnTo>
                    <a:pt x="1406" y="17206"/>
                  </a:lnTo>
                  <a:lnTo>
                    <a:pt x="1842" y="17303"/>
                  </a:lnTo>
                  <a:lnTo>
                    <a:pt x="2278" y="17351"/>
                  </a:lnTo>
                  <a:lnTo>
                    <a:pt x="2763" y="17303"/>
                  </a:lnTo>
                  <a:lnTo>
                    <a:pt x="3248" y="17254"/>
                  </a:lnTo>
                  <a:lnTo>
                    <a:pt x="3732" y="17109"/>
                  </a:lnTo>
                  <a:lnTo>
                    <a:pt x="4168" y="16963"/>
                  </a:lnTo>
                  <a:lnTo>
                    <a:pt x="5235" y="16576"/>
                  </a:lnTo>
                  <a:lnTo>
                    <a:pt x="6349" y="15994"/>
                  </a:lnTo>
                  <a:lnTo>
                    <a:pt x="7512" y="15267"/>
                  </a:lnTo>
                  <a:lnTo>
                    <a:pt x="8676" y="14395"/>
                  </a:lnTo>
                  <a:lnTo>
                    <a:pt x="9548" y="15025"/>
                  </a:lnTo>
                  <a:lnTo>
                    <a:pt x="10372" y="15558"/>
                  </a:lnTo>
                  <a:lnTo>
                    <a:pt x="11196" y="16091"/>
                  </a:lnTo>
                  <a:lnTo>
                    <a:pt x="12020" y="16479"/>
                  </a:lnTo>
                  <a:lnTo>
                    <a:pt x="12747" y="16818"/>
                  </a:lnTo>
                  <a:lnTo>
                    <a:pt x="13474" y="17060"/>
                  </a:lnTo>
                  <a:lnTo>
                    <a:pt x="14104" y="17254"/>
                  </a:lnTo>
                  <a:lnTo>
                    <a:pt x="14685" y="17351"/>
                  </a:lnTo>
                  <a:lnTo>
                    <a:pt x="15073" y="17351"/>
                  </a:lnTo>
                  <a:lnTo>
                    <a:pt x="15606" y="17303"/>
                  </a:lnTo>
                  <a:lnTo>
                    <a:pt x="16042" y="17206"/>
                  </a:lnTo>
                  <a:lnTo>
                    <a:pt x="16430" y="17012"/>
                  </a:lnTo>
                  <a:lnTo>
                    <a:pt x="16769" y="16769"/>
                  </a:lnTo>
                  <a:lnTo>
                    <a:pt x="16915" y="16576"/>
                  </a:lnTo>
                  <a:lnTo>
                    <a:pt x="17060" y="16333"/>
                  </a:lnTo>
                  <a:lnTo>
                    <a:pt x="17157" y="16139"/>
                  </a:lnTo>
                  <a:lnTo>
                    <a:pt x="17254" y="15897"/>
                  </a:lnTo>
                  <a:lnTo>
                    <a:pt x="17302" y="15606"/>
                  </a:lnTo>
                  <a:lnTo>
                    <a:pt x="17351" y="15316"/>
                  </a:lnTo>
                  <a:lnTo>
                    <a:pt x="17351" y="14685"/>
                  </a:lnTo>
                  <a:lnTo>
                    <a:pt x="17254" y="14104"/>
                  </a:lnTo>
                  <a:lnTo>
                    <a:pt x="17060" y="13425"/>
                  </a:lnTo>
                  <a:lnTo>
                    <a:pt x="16818" y="12747"/>
                  </a:lnTo>
                  <a:lnTo>
                    <a:pt x="16478" y="12020"/>
                  </a:lnTo>
                  <a:lnTo>
                    <a:pt x="16091" y="11196"/>
                  </a:lnTo>
                  <a:lnTo>
                    <a:pt x="15606" y="10372"/>
                  </a:lnTo>
                  <a:lnTo>
                    <a:pt x="15025" y="9548"/>
                  </a:lnTo>
                  <a:lnTo>
                    <a:pt x="14394" y="8676"/>
                  </a:lnTo>
                  <a:lnTo>
                    <a:pt x="15025" y="7852"/>
                  </a:lnTo>
                  <a:lnTo>
                    <a:pt x="15558" y="7028"/>
                  </a:lnTo>
                  <a:lnTo>
                    <a:pt x="16139" y="7028"/>
                  </a:lnTo>
                  <a:lnTo>
                    <a:pt x="16430" y="6931"/>
                  </a:lnTo>
                  <a:lnTo>
                    <a:pt x="16672" y="6786"/>
                  </a:lnTo>
                  <a:lnTo>
                    <a:pt x="16915" y="6592"/>
                  </a:lnTo>
                  <a:lnTo>
                    <a:pt x="17109" y="6350"/>
                  </a:lnTo>
                  <a:lnTo>
                    <a:pt x="17254" y="6107"/>
                  </a:lnTo>
                  <a:lnTo>
                    <a:pt x="17351" y="5816"/>
                  </a:lnTo>
                  <a:lnTo>
                    <a:pt x="17351" y="5526"/>
                  </a:lnTo>
                  <a:lnTo>
                    <a:pt x="17351" y="5186"/>
                  </a:lnTo>
                  <a:lnTo>
                    <a:pt x="17254" y="4896"/>
                  </a:lnTo>
                  <a:lnTo>
                    <a:pt x="17109" y="4653"/>
                  </a:lnTo>
                  <a:lnTo>
                    <a:pt x="16915" y="4411"/>
                  </a:lnTo>
                  <a:lnTo>
                    <a:pt x="17157" y="3636"/>
                  </a:lnTo>
                  <a:lnTo>
                    <a:pt x="17302" y="3005"/>
                  </a:lnTo>
                  <a:lnTo>
                    <a:pt x="17351" y="2424"/>
                  </a:lnTo>
                  <a:lnTo>
                    <a:pt x="17351" y="1891"/>
                  </a:lnTo>
                  <a:lnTo>
                    <a:pt x="17254" y="1503"/>
                  </a:lnTo>
                  <a:lnTo>
                    <a:pt x="17109" y="1115"/>
                  </a:lnTo>
                  <a:lnTo>
                    <a:pt x="16963" y="873"/>
                  </a:lnTo>
                  <a:lnTo>
                    <a:pt x="16769" y="631"/>
                  </a:lnTo>
                  <a:lnTo>
                    <a:pt x="16575" y="485"/>
                  </a:lnTo>
                  <a:lnTo>
                    <a:pt x="16382" y="340"/>
                  </a:lnTo>
                  <a:lnTo>
                    <a:pt x="15994" y="146"/>
                  </a:lnTo>
                  <a:lnTo>
                    <a:pt x="15509" y="49"/>
                  </a:lnTo>
                  <a:lnTo>
                    <a:pt x="15073" y="1"/>
                  </a:lnTo>
                  <a:lnTo>
                    <a:pt x="14588" y="49"/>
                  </a:lnTo>
                  <a:lnTo>
                    <a:pt x="14104" y="146"/>
                  </a:lnTo>
                  <a:lnTo>
                    <a:pt x="13619" y="243"/>
                  </a:lnTo>
                  <a:lnTo>
                    <a:pt x="13183" y="388"/>
                  </a:lnTo>
                  <a:lnTo>
                    <a:pt x="12165" y="825"/>
                  </a:lnTo>
                  <a:lnTo>
                    <a:pt x="11050" y="1406"/>
                  </a:lnTo>
                  <a:lnTo>
                    <a:pt x="9887" y="2133"/>
                  </a:lnTo>
                  <a:lnTo>
                    <a:pt x="8676" y="2957"/>
                  </a:lnTo>
                  <a:lnTo>
                    <a:pt x="7852" y="2327"/>
                  </a:lnTo>
                  <a:lnTo>
                    <a:pt x="6979" y="1794"/>
                  </a:lnTo>
                  <a:lnTo>
                    <a:pt x="6155" y="1309"/>
                  </a:lnTo>
                  <a:lnTo>
                    <a:pt x="5380" y="873"/>
                  </a:lnTo>
                  <a:lnTo>
                    <a:pt x="4653" y="534"/>
                  </a:lnTo>
                  <a:lnTo>
                    <a:pt x="3926" y="291"/>
                  </a:lnTo>
                  <a:lnTo>
                    <a:pt x="3296" y="146"/>
                  </a:lnTo>
                  <a:lnTo>
                    <a:pt x="2666" y="49"/>
                  </a:lnTo>
                  <a:lnTo>
                    <a:pt x="203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7" name="Google Shape;557;p45"/>
            <p:cNvSpPr/>
            <p:nvPr/>
          </p:nvSpPr>
          <p:spPr>
            <a:xfrm>
              <a:off x="6203991" y="2635120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486" y="1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1" y="534"/>
                  </a:lnTo>
                  <a:lnTo>
                    <a:pt x="49" y="728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8"/>
                  </a:lnTo>
                  <a:lnTo>
                    <a:pt x="679" y="970"/>
                  </a:lnTo>
                  <a:lnTo>
                    <a:pt x="873" y="873"/>
                  </a:lnTo>
                  <a:lnTo>
                    <a:pt x="970" y="728"/>
                  </a:lnTo>
                  <a:lnTo>
                    <a:pt x="1019" y="534"/>
                  </a:lnTo>
                  <a:lnTo>
                    <a:pt x="970" y="340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8" name="Google Shape;558;p45"/>
            <p:cNvSpPr/>
            <p:nvPr/>
          </p:nvSpPr>
          <p:spPr>
            <a:xfrm>
              <a:off x="6203991" y="3004245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486" y="0"/>
                  </a:moveTo>
                  <a:lnTo>
                    <a:pt x="292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1" y="533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6" y="1018"/>
                  </a:lnTo>
                  <a:lnTo>
                    <a:pt x="679" y="970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9" y="533"/>
                  </a:lnTo>
                  <a:lnTo>
                    <a:pt x="970" y="340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59" name="Google Shape;559;p45"/>
          <p:cNvGrpSpPr/>
          <p:nvPr/>
        </p:nvGrpSpPr>
        <p:grpSpPr>
          <a:xfrm>
            <a:off x="6179110" y="2993798"/>
            <a:ext cx="392155" cy="392133"/>
            <a:chOff x="1971712" y="3315312"/>
            <a:chExt cx="392155" cy="392133"/>
          </a:xfrm>
        </p:grpSpPr>
        <p:sp>
          <p:nvSpPr>
            <p:cNvPr id="560" name="Google Shape;560;p45"/>
            <p:cNvSpPr/>
            <p:nvPr/>
          </p:nvSpPr>
          <p:spPr>
            <a:xfrm>
              <a:off x="2050586" y="3424831"/>
              <a:ext cx="234407" cy="173093"/>
            </a:xfrm>
            <a:custGeom>
              <a:avLst/>
              <a:gdLst/>
              <a:ahLst/>
              <a:cxnLst/>
              <a:rect l="l" t="t" r="r" b="b"/>
              <a:pathLst>
                <a:path w="10372" h="7659" extrusionOk="0">
                  <a:moveTo>
                    <a:pt x="5186" y="1019"/>
                  </a:moveTo>
                  <a:lnTo>
                    <a:pt x="5525" y="1067"/>
                  </a:lnTo>
                  <a:lnTo>
                    <a:pt x="5865" y="1115"/>
                  </a:lnTo>
                  <a:lnTo>
                    <a:pt x="6204" y="1212"/>
                  </a:lnTo>
                  <a:lnTo>
                    <a:pt x="6543" y="1358"/>
                  </a:lnTo>
                  <a:lnTo>
                    <a:pt x="7173" y="1697"/>
                  </a:lnTo>
                  <a:lnTo>
                    <a:pt x="7706" y="2133"/>
                  </a:lnTo>
                  <a:lnTo>
                    <a:pt x="8239" y="2618"/>
                  </a:lnTo>
                  <a:lnTo>
                    <a:pt x="8627" y="3103"/>
                  </a:lnTo>
                  <a:lnTo>
                    <a:pt x="9257" y="3829"/>
                  </a:lnTo>
                  <a:lnTo>
                    <a:pt x="8821" y="4411"/>
                  </a:lnTo>
                  <a:lnTo>
                    <a:pt x="8143" y="5138"/>
                  </a:lnTo>
                  <a:lnTo>
                    <a:pt x="7658" y="5574"/>
                  </a:lnTo>
                  <a:lnTo>
                    <a:pt x="7222" y="5913"/>
                  </a:lnTo>
                  <a:lnTo>
                    <a:pt x="6786" y="6156"/>
                  </a:lnTo>
                  <a:lnTo>
                    <a:pt x="6446" y="6350"/>
                  </a:lnTo>
                  <a:lnTo>
                    <a:pt x="6059" y="6495"/>
                  </a:lnTo>
                  <a:lnTo>
                    <a:pt x="5768" y="6592"/>
                  </a:lnTo>
                  <a:lnTo>
                    <a:pt x="5429" y="6640"/>
                  </a:lnTo>
                  <a:lnTo>
                    <a:pt x="4847" y="6640"/>
                  </a:lnTo>
                  <a:lnTo>
                    <a:pt x="4508" y="6544"/>
                  </a:lnTo>
                  <a:lnTo>
                    <a:pt x="4168" y="6447"/>
                  </a:lnTo>
                  <a:lnTo>
                    <a:pt x="3878" y="6301"/>
                  </a:lnTo>
                  <a:lnTo>
                    <a:pt x="3248" y="5962"/>
                  </a:lnTo>
                  <a:lnTo>
                    <a:pt x="2666" y="5526"/>
                  </a:lnTo>
                  <a:lnTo>
                    <a:pt x="2181" y="5041"/>
                  </a:lnTo>
                  <a:lnTo>
                    <a:pt x="1745" y="4605"/>
                  </a:lnTo>
                  <a:lnTo>
                    <a:pt x="1164" y="3829"/>
                  </a:lnTo>
                  <a:lnTo>
                    <a:pt x="1600" y="3248"/>
                  </a:lnTo>
                  <a:lnTo>
                    <a:pt x="2278" y="2521"/>
                  </a:lnTo>
                  <a:lnTo>
                    <a:pt x="2714" y="2085"/>
                  </a:lnTo>
                  <a:lnTo>
                    <a:pt x="3151" y="1746"/>
                  </a:lnTo>
                  <a:lnTo>
                    <a:pt x="3587" y="1503"/>
                  </a:lnTo>
                  <a:lnTo>
                    <a:pt x="3975" y="1309"/>
                  </a:lnTo>
                  <a:lnTo>
                    <a:pt x="4314" y="1164"/>
                  </a:lnTo>
                  <a:lnTo>
                    <a:pt x="4653" y="1067"/>
                  </a:lnTo>
                  <a:lnTo>
                    <a:pt x="4944" y="1019"/>
                  </a:lnTo>
                  <a:close/>
                  <a:moveTo>
                    <a:pt x="5186" y="1"/>
                  </a:moveTo>
                  <a:lnTo>
                    <a:pt x="4653" y="49"/>
                  </a:lnTo>
                  <a:lnTo>
                    <a:pt x="4168" y="146"/>
                  </a:lnTo>
                  <a:lnTo>
                    <a:pt x="3684" y="340"/>
                  </a:lnTo>
                  <a:lnTo>
                    <a:pt x="3199" y="534"/>
                  </a:lnTo>
                  <a:lnTo>
                    <a:pt x="2763" y="825"/>
                  </a:lnTo>
                  <a:lnTo>
                    <a:pt x="2375" y="1115"/>
                  </a:lnTo>
                  <a:lnTo>
                    <a:pt x="1987" y="1406"/>
                  </a:lnTo>
                  <a:lnTo>
                    <a:pt x="1600" y="1746"/>
                  </a:lnTo>
                  <a:lnTo>
                    <a:pt x="1018" y="2376"/>
                  </a:lnTo>
                  <a:lnTo>
                    <a:pt x="534" y="2957"/>
                  </a:lnTo>
                  <a:lnTo>
                    <a:pt x="97" y="3587"/>
                  </a:lnTo>
                  <a:lnTo>
                    <a:pt x="49" y="3684"/>
                  </a:lnTo>
                  <a:lnTo>
                    <a:pt x="0" y="3829"/>
                  </a:lnTo>
                  <a:lnTo>
                    <a:pt x="49" y="3975"/>
                  </a:lnTo>
                  <a:lnTo>
                    <a:pt x="97" y="4120"/>
                  </a:lnTo>
                  <a:lnTo>
                    <a:pt x="534" y="4702"/>
                  </a:lnTo>
                  <a:lnTo>
                    <a:pt x="1018" y="5283"/>
                  </a:lnTo>
                  <a:lnTo>
                    <a:pt x="1600" y="5962"/>
                  </a:lnTo>
                  <a:lnTo>
                    <a:pt x="1987" y="6253"/>
                  </a:lnTo>
                  <a:lnTo>
                    <a:pt x="2375" y="6592"/>
                  </a:lnTo>
                  <a:lnTo>
                    <a:pt x="2763" y="6883"/>
                  </a:lnTo>
                  <a:lnTo>
                    <a:pt x="3199" y="7125"/>
                  </a:lnTo>
                  <a:lnTo>
                    <a:pt x="3684" y="7367"/>
                  </a:lnTo>
                  <a:lnTo>
                    <a:pt x="4168" y="7513"/>
                  </a:lnTo>
                  <a:lnTo>
                    <a:pt x="4653" y="7610"/>
                  </a:lnTo>
                  <a:lnTo>
                    <a:pt x="5186" y="7658"/>
                  </a:lnTo>
                  <a:lnTo>
                    <a:pt x="5719" y="7610"/>
                  </a:lnTo>
                  <a:lnTo>
                    <a:pt x="6204" y="7513"/>
                  </a:lnTo>
                  <a:lnTo>
                    <a:pt x="6689" y="7367"/>
                  </a:lnTo>
                  <a:lnTo>
                    <a:pt x="7173" y="7125"/>
                  </a:lnTo>
                  <a:lnTo>
                    <a:pt x="7609" y="6883"/>
                  </a:lnTo>
                  <a:lnTo>
                    <a:pt x="8046" y="6592"/>
                  </a:lnTo>
                  <a:lnTo>
                    <a:pt x="8433" y="6253"/>
                  </a:lnTo>
                  <a:lnTo>
                    <a:pt x="8773" y="5962"/>
                  </a:lnTo>
                  <a:lnTo>
                    <a:pt x="9403" y="5283"/>
                  </a:lnTo>
                  <a:lnTo>
                    <a:pt x="9839" y="4702"/>
                  </a:lnTo>
                  <a:lnTo>
                    <a:pt x="10275" y="4120"/>
                  </a:lnTo>
                  <a:lnTo>
                    <a:pt x="10372" y="3975"/>
                  </a:lnTo>
                  <a:lnTo>
                    <a:pt x="10372" y="3829"/>
                  </a:lnTo>
                  <a:lnTo>
                    <a:pt x="10372" y="3684"/>
                  </a:lnTo>
                  <a:lnTo>
                    <a:pt x="10275" y="3587"/>
                  </a:lnTo>
                  <a:lnTo>
                    <a:pt x="9839" y="2957"/>
                  </a:lnTo>
                  <a:lnTo>
                    <a:pt x="9403" y="2376"/>
                  </a:lnTo>
                  <a:lnTo>
                    <a:pt x="8773" y="1746"/>
                  </a:lnTo>
                  <a:lnTo>
                    <a:pt x="8433" y="1406"/>
                  </a:lnTo>
                  <a:lnTo>
                    <a:pt x="8046" y="1115"/>
                  </a:lnTo>
                  <a:lnTo>
                    <a:pt x="7609" y="825"/>
                  </a:lnTo>
                  <a:lnTo>
                    <a:pt x="7173" y="534"/>
                  </a:lnTo>
                  <a:lnTo>
                    <a:pt x="6689" y="340"/>
                  </a:lnTo>
                  <a:lnTo>
                    <a:pt x="6204" y="146"/>
                  </a:lnTo>
                  <a:lnTo>
                    <a:pt x="5719" y="49"/>
                  </a:lnTo>
                  <a:lnTo>
                    <a:pt x="518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1" name="Google Shape;561;p45"/>
            <p:cNvSpPr/>
            <p:nvPr/>
          </p:nvSpPr>
          <p:spPr>
            <a:xfrm>
              <a:off x="2128352" y="3470845"/>
              <a:ext cx="79981" cy="81066"/>
            </a:xfrm>
            <a:custGeom>
              <a:avLst/>
              <a:gdLst/>
              <a:ahLst/>
              <a:cxnLst/>
              <a:rect l="l" t="t" r="r" b="b"/>
              <a:pathLst>
                <a:path w="3539" h="3587" extrusionOk="0">
                  <a:moveTo>
                    <a:pt x="1745" y="1018"/>
                  </a:moveTo>
                  <a:lnTo>
                    <a:pt x="1891" y="1067"/>
                  </a:lnTo>
                  <a:lnTo>
                    <a:pt x="2036" y="1115"/>
                  </a:lnTo>
                  <a:lnTo>
                    <a:pt x="2278" y="1260"/>
                  </a:lnTo>
                  <a:lnTo>
                    <a:pt x="2472" y="1503"/>
                  </a:lnTo>
                  <a:lnTo>
                    <a:pt x="2521" y="1648"/>
                  </a:lnTo>
                  <a:lnTo>
                    <a:pt x="2521" y="1793"/>
                  </a:lnTo>
                  <a:lnTo>
                    <a:pt x="2521" y="1939"/>
                  </a:lnTo>
                  <a:lnTo>
                    <a:pt x="2472" y="2084"/>
                  </a:lnTo>
                  <a:lnTo>
                    <a:pt x="2278" y="2327"/>
                  </a:lnTo>
                  <a:lnTo>
                    <a:pt x="2036" y="2520"/>
                  </a:lnTo>
                  <a:lnTo>
                    <a:pt x="1891" y="2569"/>
                  </a:lnTo>
                  <a:lnTo>
                    <a:pt x="1600" y="2569"/>
                  </a:lnTo>
                  <a:lnTo>
                    <a:pt x="1454" y="2520"/>
                  </a:lnTo>
                  <a:lnTo>
                    <a:pt x="1212" y="2327"/>
                  </a:lnTo>
                  <a:lnTo>
                    <a:pt x="1067" y="2084"/>
                  </a:lnTo>
                  <a:lnTo>
                    <a:pt x="1018" y="1939"/>
                  </a:lnTo>
                  <a:lnTo>
                    <a:pt x="970" y="1793"/>
                  </a:lnTo>
                  <a:lnTo>
                    <a:pt x="1018" y="1648"/>
                  </a:lnTo>
                  <a:lnTo>
                    <a:pt x="1067" y="1503"/>
                  </a:lnTo>
                  <a:lnTo>
                    <a:pt x="1212" y="1260"/>
                  </a:lnTo>
                  <a:lnTo>
                    <a:pt x="1454" y="1115"/>
                  </a:lnTo>
                  <a:lnTo>
                    <a:pt x="1600" y="1067"/>
                  </a:lnTo>
                  <a:lnTo>
                    <a:pt x="1745" y="1018"/>
                  </a:lnTo>
                  <a:close/>
                  <a:moveTo>
                    <a:pt x="1745" y="0"/>
                  </a:moveTo>
                  <a:lnTo>
                    <a:pt x="1406" y="49"/>
                  </a:lnTo>
                  <a:lnTo>
                    <a:pt x="1067" y="146"/>
                  </a:lnTo>
                  <a:lnTo>
                    <a:pt x="776" y="340"/>
                  </a:lnTo>
                  <a:lnTo>
                    <a:pt x="485" y="533"/>
                  </a:lnTo>
                  <a:lnTo>
                    <a:pt x="291" y="824"/>
                  </a:lnTo>
                  <a:lnTo>
                    <a:pt x="97" y="1115"/>
                  </a:lnTo>
                  <a:lnTo>
                    <a:pt x="0" y="1454"/>
                  </a:lnTo>
                  <a:lnTo>
                    <a:pt x="0" y="1793"/>
                  </a:lnTo>
                  <a:lnTo>
                    <a:pt x="0" y="2181"/>
                  </a:lnTo>
                  <a:lnTo>
                    <a:pt x="97" y="2472"/>
                  </a:lnTo>
                  <a:lnTo>
                    <a:pt x="291" y="2811"/>
                  </a:lnTo>
                  <a:lnTo>
                    <a:pt x="485" y="3054"/>
                  </a:lnTo>
                  <a:lnTo>
                    <a:pt x="776" y="3296"/>
                  </a:lnTo>
                  <a:lnTo>
                    <a:pt x="1067" y="3441"/>
                  </a:lnTo>
                  <a:lnTo>
                    <a:pt x="1406" y="3538"/>
                  </a:lnTo>
                  <a:lnTo>
                    <a:pt x="1745" y="3587"/>
                  </a:lnTo>
                  <a:lnTo>
                    <a:pt x="2133" y="3538"/>
                  </a:lnTo>
                  <a:lnTo>
                    <a:pt x="2424" y="3441"/>
                  </a:lnTo>
                  <a:lnTo>
                    <a:pt x="2763" y="3296"/>
                  </a:lnTo>
                  <a:lnTo>
                    <a:pt x="3005" y="3054"/>
                  </a:lnTo>
                  <a:lnTo>
                    <a:pt x="3248" y="2811"/>
                  </a:lnTo>
                  <a:lnTo>
                    <a:pt x="3393" y="2472"/>
                  </a:lnTo>
                  <a:lnTo>
                    <a:pt x="3490" y="2181"/>
                  </a:lnTo>
                  <a:lnTo>
                    <a:pt x="3538" y="1793"/>
                  </a:lnTo>
                  <a:lnTo>
                    <a:pt x="3490" y="1454"/>
                  </a:lnTo>
                  <a:lnTo>
                    <a:pt x="3393" y="1115"/>
                  </a:lnTo>
                  <a:lnTo>
                    <a:pt x="3248" y="824"/>
                  </a:lnTo>
                  <a:lnTo>
                    <a:pt x="3005" y="533"/>
                  </a:lnTo>
                  <a:lnTo>
                    <a:pt x="2763" y="340"/>
                  </a:lnTo>
                  <a:lnTo>
                    <a:pt x="2424" y="146"/>
                  </a:lnTo>
                  <a:lnTo>
                    <a:pt x="2133" y="49"/>
                  </a:lnTo>
                  <a:lnTo>
                    <a:pt x="174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2" name="Google Shape;562;p45"/>
            <p:cNvSpPr/>
            <p:nvPr/>
          </p:nvSpPr>
          <p:spPr>
            <a:xfrm>
              <a:off x="1971712" y="3315312"/>
              <a:ext cx="392155" cy="392133"/>
            </a:xfrm>
            <a:custGeom>
              <a:avLst/>
              <a:gdLst/>
              <a:ahLst/>
              <a:cxnLst/>
              <a:rect l="l" t="t" r="r" b="b"/>
              <a:pathLst>
                <a:path w="17352" h="17351" extrusionOk="0">
                  <a:moveTo>
                    <a:pt x="9209" y="1793"/>
                  </a:moveTo>
                  <a:lnTo>
                    <a:pt x="9839" y="1890"/>
                  </a:lnTo>
                  <a:lnTo>
                    <a:pt x="10421" y="1987"/>
                  </a:lnTo>
                  <a:lnTo>
                    <a:pt x="11003" y="2181"/>
                  </a:lnTo>
                  <a:lnTo>
                    <a:pt x="11584" y="2424"/>
                  </a:lnTo>
                  <a:lnTo>
                    <a:pt x="12117" y="2714"/>
                  </a:lnTo>
                  <a:lnTo>
                    <a:pt x="12650" y="3005"/>
                  </a:lnTo>
                  <a:lnTo>
                    <a:pt x="13135" y="3393"/>
                  </a:lnTo>
                  <a:lnTo>
                    <a:pt x="13571" y="3781"/>
                  </a:lnTo>
                  <a:lnTo>
                    <a:pt x="13959" y="4265"/>
                  </a:lnTo>
                  <a:lnTo>
                    <a:pt x="14347" y="4750"/>
                  </a:lnTo>
                  <a:lnTo>
                    <a:pt x="14686" y="5234"/>
                  </a:lnTo>
                  <a:lnTo>
                    <a:pt x="14928" y="5768"/>
                  </a:lnTo>
                  <a:lnTo>
                    <a:pt x="15171" y="6349"/>
                  </a:lnTo>
                  <a:lnTo>
                    <a:pt x="15364" y="6931"/>
                  </a:lnTo>
                  <a:lnTo>
                    <a:pt x="15510" y="7561"/>
                  </a:lnTo>
                  <a:lnTo>
                    <a:pt x="15558" y="8191"/>
                  </a:lnTo>
                  <a:lnTo>
                    <a:pt x="15267" y="8191"/>
                  </a:lnTo>
                  <a:lnTo>
                    <a:pt x="15074" y="8336"/>
                  </a:lnTo>
                  <a:lnTo>
                    <a:pt x="14977" y="8482"/>
                  </a:lnTo>
                  <a:lnTo>
                    <a:pt x="14928" y="8675"/>
                  </a:lnTo>
                  <a:lnTo>
                    <a:pt x="14977" y="8869"/>
                  </a:lnTo>
                  <a:lnTo>
                    <a:pt x="15074" y="9063"/>
                  </a:lnTo>
                  <a:lnTo>
                    <a:pt x="15267" y="9160"/>
                  </a:lnTo>
                  <a:lnTo>
                    <a:pt x="15461" y="9209"/>
                  </a:lnTo>
                  <a:lnTo>
                    <a:pt x="15558" y="9209"/>
                  </a:lnTo>
                  <a:lnTo>
                    <a:pt x="15510" y="9839"/>
                  </a:lnTo>
                  <a:lnTo>
                    <a:pt x="15364" y="10420"/>
                  </a:lnTo>
                  <a:lnTo>
                    <a:pt x="15171" y="11002"/>
                  </a:lnTo>
                  <a:lnTo>
                    <a:pt x="14928" y="11583"/>
                  </a:lnTo>
                  <a:lnTo>
                    <a:pt x="14686" y="12116"/>
                  </a:lnTo>
                  <a:lnTo>
                    <a:pt x="14347" y="12650"/>
                  </a:lnTo>
                  <a:lnTo>
                    <a:pt x="13959" y="13134"/>
                  </a:lnTo>
                  <a:lnTo>
                    <a:pt x="13571" y="13570"/>
                  </a:lnTo>
                  <a:lnTo>
                    <a:pt x="13135" y="13958"/>
                  </a:lnTo>
                  <a:lnTo>
                    <a:pt x="12650" y="14346"/>
                  </a:lnTo>
                  <a:lnTo>
                    <a:pt x="12117" y="14685"/>
                  </a:lnTo>
                  <a:lnTo>
                    <a:pt x="11584" y="14927"/>
                  </a:lnTo>
                  <a:lnTo>
                    <a:pt x="11003" y="15170"/>
                  </a:lnTo>
                  <a:lnTo>
                    <a:pt x="10421" y="15364"/>
                  </a:lnTo>
                  <a:lnTo>
                    <a:pt x="9839" y="15509"/>
                  </a:lnTo>
                  <a:lnTo>
                    <a:pt x="9209" y="15557"/>
                  </a:lnTo>
                  <a:lnTo>
                    <a:pt x="9209" y="15461"/>
                  </a:lnTo>
                  <a:lnTo>
                    <a:pt x="9161" y="15267"/>
                  </a:lnTo>
                  <a:lnTo>
                    <a:pt x="9064" y="15073"/>
                  </a:lnTo>
                  <a:lnTo>
                    <a:pt x="8870" y="14976"/>
                  </a:lnTo>
                  <a:lnTo>
                    <a:pt x="8676" y="14927"/>
                  </a:lnTo>
                  <a:lnTo>
                    <a:pt x="8482" y="14976"/>
                  </a:lnTo>
                  <a:lnTo>
                    <a:pt x="8337" y="15073"/>
                  </a:lnTo>
                  <a:lnTo>
                    <a:pt x="8240" y="15267"/>
                  </a:lnTo>
                  <a:lnTo>
                    <a:pt x="8192" y="15461"/>
                  </a:lnTo>
                  <a:lnTo>
                    <a:pt x="8192" y="15557"/>
                  </a:lnTo>
                  <a:lnTo>
                    <a:pt x="7561" y="15509"/>
                  </a:lnTo>
                  <a:lnTo>
                    <a:pt x="6931" y="15364"/>
                  </a:lnTo>
                  <a:lnTo>
                    <a:pt x="6350" y="15170"/>
                  </a:lnTo>
                  <a:lnTo>
                    <a:pt x="5768" y="14927"/>
                  </a:lnTo>
                  <a:lnTo>
                    <a:pt x="5235" y="14685"/>
                  </a:lnTo>
                  <a:lnTo>
                    <a:pt x="4751" y="14346"/>
                  </a:lnTo>
                  <a:lnTo>
                    <a:pt x="4266" y="13958"/>
                  </a:lnTo>
                  <a:lnTo>
                    <a:pt x="3830" y="13570"/>
                  </a:lnTo>
                  <a:lnTo>
                    <a:pt x="3394" y="13134"/>
                  </a:lnTo>
                  <a:lnTo>
                    <a:pt x="3054" y="12650"/>
                  </a:lnTo>
                  <a:lnTo>
                    <a:pt x="2715" y="12116"/>
                  </a:lnTo>
                  <a:lnTo>
                    <a:pt x="2424" y="11583"/>
                  </a:lnTo>
                  <a:lnTo>
                    <a:pt x="2182" y="11002"/>
                  </a:lnTo>
                  <a:lnTo>
                    <a:pt x="1988" y="10420"/>
                  </a:lnTo>
                  <a:lnTo>
                    <a:pt x="1891" y="9839"/>
                  </a:lnTo>
                  <a:lnTo>
                    <a:pt x="1794" y="9209"/>
                  </a:lnTo>
                  <a:lnTo>
                    <a:pt x="1940" y="9209"/>
                  </a:lnTo>
                  <a:lnTo>
                    <a:pt x="2133" y="9160"/>
                  </a:lnTo>
                  <a:lnTo>
                    <a:pt x="2279" y="9063"/>
                  </a:lnTo>
                  <a:lnTo>
                    <a:pt x="2376" y="8869"/>
                  </a:lnTo>
                  <a:lnTo>
                    <a:pt x="2424" y="8675"/>
                  </a:lnTo>
                  <a:lnTo>
                    <a:pt x="2376" y="8482"/>
                  </a:lnTo>
                  <a:lnTo>
                    <a:pt x="2279" y="8336"/>
                  </a:lnTo>
                  <a:lnTo>
                    <a:pt x="2133" y="8191"/>
                  </a:lnTo>
                  <a:lnTo>
                    <a:pt x="1794" y="8191"/>
                  </a:lnTo>
                  <a:lnTo>
                    <a:pt x="1891" y="7561"/>
                  </a:lnTo>
                  <a:lnTo>
                    <a:pt x="1988" y="6931"/>
                  </a:lnTo>
                  <a:lnTo>
                    <a:pt x="2182" y="6349"/>
                  </a:lnTo>
                  <a:lnTo>
                    <a:pt x="2424" y="5768"/>
                  </a:lnTo>
                  <a:lnTo>
                    <a:pt x="2715" y="5234"/>
                  </a:lnTo>
                  <a:lnTo>
                    <a:pt x="3054" y="4750"/>
                  </a:lnTo>
                  <a:lnTo>
                    <a:pt x="3394" y="4265"/>
                  </a:lnTo>
                  <a:lnTo>
                    <a:pt x="3830" y="3781"/>
                  </a:lnTo>
                  <a:lnTo>
                    <a:pt x="4266" y="3393"/>
                  </a:lnTo>
                  <a:lnTo>
                    <a:pt x="4751" y="3005"/>
                  </a:lnTo>
                  <a:lnTo>
                    <a:pt x="5235" y="2714"/>
                  </a:lnTo>
                  <a:lnTo>
                    <a:pt x="5768" y="2424"/>
                  </a:lnTo>
                  <a:lnTo>
                    <a:pt x="6350" y="2181"/>
                  </a:lnTo>
                  <a:lnTo>
                    <a:pt x="6931" y="1987"/>
                  </a:lnTo>
                  <a:lnTo>
                    <a:pt x="7561" y="1890"/>
                  </a:lnTo>
                  <a:lnTo>
                    <a:pt x="8192" y="1793"/>
                  </a:lnTo>
                  <a:lnTo>
                    <a:pt x="8192" y="1890"/>
                  </a:lnTo>
                  <a:lnTo>
                    <a:pt x="8240" y="2133"/>
                  </a:lnTo>
                  <a:lnTo>
                    <a:pt x="8337" y="2278"/>
                  </a:lnTo>
                  <a:lnTo>
                    <a:pt x="8482" y="2375"/>
                  </a:lnTo>
                  <a:lnTo>
                    <a:pt x="8676" y="2424"/>
                  </a:lnTo>
                  <a:lnTo>
                    <a:pt x="8870" y="2375"/>
                  </a:lnTo>
                  <a:lnTo>
                    <a:pt x="9064" y="2278"/>
                  </a:lnTo>
                  <a:lnTo>
                    <a:pt x="9161" y="2133"/>
                  </a:lnTo>
                  <a:lnTo>
                    <a:pt x="9209" y="1890"/>
                  </a:lnTo>
                  <a:lnTo>
                    <a:pt x="9209" y="1793"/>
                  </a:lnTo>
                  <a:close/>
                  <a:moveTo>
                    <a:pt x="8676" y="0"/>
                  </a:moveTo>
                  <a:lnTo>
                    <a:pt x="8482" y="49"/>
                  </a:lnTo>
                  <a:lnTo>
                    <a:pt x="8337" y="146"/>
                  </a:lnTo>
                  <a:lnTo>
                    <a:pt x="8240" y="340"/>
                  </a:lnTo>
                  <a:lnTo>
                    <a:pt x="8192" y="533"/>
                  </a:lnTo>
                  <a:lnTo>
                    <a:pt x="8192" y="776"/>
                  </a:lnTo>
                  <a:lnTo>
                    <a:pt x="7465" y="873"/>
                  </a:lnTo>
                  <a:lnTo>
                    <a:pt x="6786" y="1018"/>
                  </a:lnTo>
                  <a:lnTo>
                    <a:pt x="6108" y="1212"/>
                  </a:lnTo>
                  <a:lnTo>
                    <a:pt x="5429" y="1454"/>
                  </a:lnTo>
                  <a:lnTo>
                    <a:pt x="4799" y="1793"/>
                  </a:lnTo>
                  <a:lnTo>
                    <a:pt x="4169" y="2181"/>
                  </a:lnTo>
                  <a:lnTo>
                    <a:pt x="3636" y="2617"/>
                  </a:lnTo>
                  <a:lnTo>
                    <a:pt x="3103" y="3102"/>
                  </a:lnTo>
                  <a:lnTo>
                    <a:pt x="2618" y="3635"/>
                  </a:lnTo>
                  <a:lnTo>
                    <a:pt x="2182" y="4168"/>
                  </a:lnTo>
                  <a:lnTo>
                    <a:pt x="1794" y="4798"/>
                  </a:lnTo>
                  <a:lnTo>
                    <a:pt x="1455" y="5428"/>
                  </a:lnTo>
                  <a:lnTo>
                    <a:pt x="1213" y="6058"/>
                  </a:lnTo>
                  <a:lnTo>
                    <a:pt x="1019" y="6737"/>
                  </a:lnTo>
                  <a:lnTo>
                    <a:pt x="873" y="7464"/>
                  </a:lnTo>
                  <a:lnTo>
                    <a:pt x="776" y="8191"/>
                  </a:lnTo>
                  <a:lnTo>
                    <a:pt x="340" y="8191"/>
                  </a:lnTo>
                  <a:lnTo>
                    <a:pt x="146" y="8336"/>
                  </a:lnTo>
                  <a:lnTo>
                    <a:pt x="49" y="8482"/>
                  </a:lnTo>
                  <a:lnTo>
                    <a:pt x="1" y="8675"/>
                  </a:lnTo>
                  <a:lnTo>
                    <a:pt x="49" y="8869"/>
                  </a:lnTo>
                  <a:lnTo>
                    <a:pt x="146" y="9063"/>
                  </a:lnTo>
                  <a:lnTo>
                    <a:pt x="340" y="9160"/>
                  </a:lnTo>
                  <a:lnTo>
                    <a:pt x="534" y="9209"/>
                  </a:lnTo>
                  <a:lnTo>
                    <a:pt x="776" y="9209"/>
                  </a:lnTo>
                  <a:lnTo>
                    <a:pt x="873" y="9887"/>
                  </a:lnTo>
                  <a:lnTo>
                    <a:pt x="1019" y="10614"/>
                  </a:lnTo>
                  <a:lnTo>
                    <a:pt x="1213" y="11293"/>
                  </a:lnTo>
                  <a:lnTo>
                    <a:pt x="1455" y="11923"/>
                  </a:lnTo>
                  <a:lnTo>
                    <a:pt x="1794" y="12553"/>
                  </a:lnTo>
                  <a:lnTo>
                    <a:pt x="2182" y="13183"/>
                  </a:lnTo>
                  <a:lnTo>
                    <a:pt x="2618" y="13764"/>
                  </a:lnTo>
                  <a:lnTo>
                    <a:pt x="3103" y="14297"/>
                  </a:lnTo>
                  <a:lnTo>
                    <a:pt x="3636" y="14782"/>
                  </a:lnTo>
                  <a:lnTo>
                    <a:pt x="4169" y="15218"/>
                  </a:lnTo>
                  <a:lnTo>
                    <a:pt x="4799" y="15557"/>
                  </a:lnTo>
                  <a:lnTo>
                    <a:pt x="5429" y="15897"/>
                  </a:lnTo>
                  <a:lnTo>
                    <a:pt x="6108" y="16188"/>
                  </a:lnTo>
                  <a:lnTo>
                    <a:pt x="6786" y="16381"/>
                  </a:lnTo>
                  <a:lnTo>
                    <a:pt x="7465" y="16527"/>
                  </a:lnTo>
                  <a:lnTo>
                    <a:pt x="8192" y="16575"/>
                  </a:lnTo>
                  <a:lnTo>
                    <a:pt x="8192" y="16866"/>
                  </a:lnTo>
                  <a:lnTo>
                    <a:pt x="8240" y="17060"/>
                  </a:lnTo>
                  <a:lnTo>
                    <a:pt x="8337" y="17205"/>
                  </a:lnTo>
                  <a:lnTo>
                    <a:pt x="8482" y="17302"/>
                  </a:lnTo>
                  <a:lnTo>
                    <a:pt x="8676" y="17351"/>
                  </a:lnTo>
                  <a:lnTo>
                    <a:pt x="8870" y="17302"/>
                  </a:lnTo>
                  <a:lnTo>
                    <a:pt x="9064" y="17205"/>
                  </a:lnTo>
                  <a:lnTo>
                    <a:pt x="9161" y="17060"/>
                  </a:lnTo>
                  <a:lnTo>
                    <a:pt x="9209" y="16866"/>
                  </a:lnTo>
                  <a:lnTo>
                    <a:pt x="9209" y="16575"/>
                  </a:lnTo>
                  <a:lnTo>
                    <a:pt x="9888" y="16527"/>
                  </a:lnTo>
                  <a:lnTo>
                    <a:pt x="10615" y="16381"/>
                  </a:lnTo>
                  <a:lnTo>
                    <a:pt x="11293" y="16188"/>
                  </a:lnTo>
                  <a:lnTo>
                    <a:pt x="11923" y="15897"/>
                  </a:lnTo>
                  <a:lnTo>
                    <a:pt x="12553" y="15557"/>
                  </a:lnTo>
                  <a:lnTo>
                    <a:pt x="13183" y="15218"/>
                  </a:lnTo>
                  <a:lnTo>
                    <a:pt x="13765" y="14782"/>
                  </a:lnTo>
                  <a:lnTo>
                    <a:pt x="14298" y="14297"/>
                  </a:lnTo>
                  <a:lnTo>
                    <a:pt x="14783" y="13764"/>
                  </a:lnTo>
                  <a:lnTo>
                    <a:pt x="15219" y="13183"/>
                  </a:lnTo>
                  <a:lnTo>
                    <a:pt x="15607" y="12553"/>
                  </a:lnTo>
                  <a:lnTo>
                    <a:pt x="15897" y="11923"/>
                  </a:lnTo>
                  <a:lnTo>
                    <a:pt x="16188" y="11293"/>
                  </a:lnTo>
                  <a:lnTo>
                    <a:pt x="16382" y="10614"/>
                  </a:lnTo>
                  <a:lnTo>
                    <a:pt x="16528" y="9887"/>
                  </a:lnTo>
                  <a:lnTo>
                    <a:pt x="16576" y="9209"/>
                  </a:lnTo>
                  <a:lnTo>
                    <a:pt x="16867" y="9209"/>
                  </a:lnTo>
                  <a:lnTo>
                    <a:pt x="17061" y="9160"/>
                  </a:lnTo>
                  <a:lnTo>
                    <a:pt x="17206" y="9063"/>
                  </a:lnTo>
                  <a:lnTo>
                    <a:pt x="17303" y="8869"/>
                  </a:lnTo>
                  <a:lnTo>
                    <a:pt x="17351" y="8675"/>
                  </a:lnTo>
                  <a:lnTo>
                    <a:pt x="17303" y="8482"/>
                  </a:lnTo>
                  <a:lnTo>
                    <a:pt x="17206" y="8336"/>
                  </a:lnTo>
                  <a:lnTo>
                    <a:pt x="17061" y="8191"/>
                  </a:lnTo>
                  <a:lnTo>
                    <a:pt x="16576" y="8191"/>
                  </a:lnTo>
                  <a:lnTo>
                    <a:pt x="16528" y="7464"/>
                  </a:lnTo>
                  <a:lnTo>
                    <a:pt x="16382" y="6737"/>
                  </a:lnTo>
                  <a:lnTo>
                    <a:pt x="16188" y="6058"/>
                  </a:lnTo>
                  <a:lnTo>
                    <a:pt x="15897" y="5428"/>
                  </a:lnTo>
                  <a:lnTo>
                    <a:pt x="15607" y="4798"/>
                  </a:lnTo>
                  <a:lnTo>
                    <a:pt x="15219" y="4168"/>
                  </a:lnTo>
                  <a:lnTo>
                    <a:pt x="14783" y="3635"/>
                  </a:lnTo>
                  <a:lnTo>
                    <a:pt x="14298" y="3102"/>
                  </a:lnTo>
                  <a:lnTo>
                    <a:pt x="13765" y="2617"/>
                  </a:lnTo>
                  <a:lnTo>
                    <a:pt x="13183" y="2181"/>
                  </a:lnTo>
                  <a:lnTo>
                    <a:pt x="12553" y="1793"/>
                  </a:lnTo>
                  <a:lnTo>
                    <a:pt x="11923" y="1454"/>
                  </a:lnTo>
                  <a:lnTo>
                    <a:pt x="11293" y="1212"/>
                  </a:lnTo>
                  <a:lnTo>
                    <a:pt x="10615" y="1018"/>
                  </a:lnTo>
                  <a:lnTo>
                    <a:pt x="9888" y="873"/>
                  </a:lnTo>
                  <a:lnTo>
                    <a:pt x="9209" y="776"/>
                  </a:lnTo>
                  <a:lnTo>
                    <a:pt x="9209" y="533"/>
                  </a:lnTo>
                  <a:lnTo>
                    <a:pt x="9161" y="340"/>
                  </a:lnTo>
                  <a:lnTo>
                    <a:pt x="9064" y="146"/>
                  </a:lnTo>
                  <a:lnTo>
                    <a:pt x="8870" y="49"/>
                  </a:lnTo>
                  <a:lnTo>
                    <a:pt x="867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/>
          <p:cNvSpPr txBox="1">
            <a:spLocks noGrp="1"/>
          </p:cNvSpPr>
          <p:nvPr>
            <p:ph type="title"/>
          </p:nvPr>
        </p:nvSpPr>
        <p:spPr>
          <a:xfrm>
            <a:off x="713225" y="2311477"/>
            <a:ext cx="4344300" cy="1061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200" dirty="0"/>
              <a:t>Project Setup &amp; Data Understanding</a:t>
            </a:r>
            <a:endParaRPr sz="3200" dirty="0"/>
          </a:p>
        </p:txBody>
      </p:sp>
      <p:sp>
        <p:nvSpPr>
          <p:cNvPr id="430" name="Google Shape;430;p40"/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01</a:t>
            </a:r>
            <a:endParaRPr dirty="0"/>
          </a:p>
        </p:txBody>
      </p:sp>
      <p:grpSp>
        <p:nvGrpSpPr>
          <p:cNvPr id="432" name="Google Shape;432;p40"/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/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/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/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/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/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/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/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/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/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/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/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/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/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/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/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/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/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/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ED572A39-26CD-DC2F-5375-FED82197459D}"/>
              </a:ext>
            </a:extLst>
          </p:cNvPr>
          <p:cNvSpPr txBox="1"/>
          <p:nvPr/>
        </p:nvSpPr>
        <p:spPr>
          <a:xfrm>
            <a:off x="713225" y="3353707"/>
            <a:ext cx="42765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384655"/>
                </a:solidFill>
                <a:latin typeface="DM Sans" pitchFamily="2" charset="0"/>
              </a:rPr>
              <a:t>Defining the objective, setting up SQL environment, and exploring the dataset structure.</a:t>
            </a:r>
            <a:endParaRPr lang="en-IN" i="1" dirty="0">
              <a:solidFill>
                <a:srgbClr val="384655"/>
              </a:solidFill>
              <a:latin typeface="DM Sans" pitchFamily="2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72E8D799-B79E-7F94-81FF-ADEB77B3E978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47E4ADF4-3AD4-2A0D-C8B6-390C7FB9924D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31E334AE-4F25-D2B4-376C-7C42C9CB77E6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3922940B-B86F-A358-126C-D5A374347D56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4A6CB1-2574-A7C5-EB2A-5BC5008C044A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Project Setup &amp; Data Understanding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D54C7E-9833-0592-500A-B23F0E15D1DB}"/>
              </a:ext>
            </a:extLst>
          </p:cNvPr>
          <p:cNvSpPr txBox="1"/>
          <p:nvPr/>
        </p:nvSpPr>
        <p:spPr>
          <a:xfrm>
            <a:off x="331076" y="1269124"/>
            <a:ext cx="839356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       Objective</a:t>
            </a:r>
          </a:p>
          <a:p>
            <a:endParaRPr lang="en-US" b="1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To analyze hotel booking patterns and identify key factors driving </a:t>
            </a:r>
            <a:r>
              <a:rPr lang="en-US" b="1" dirty="0">
                <a:latin typeface="DM Sans" pitchFamily="2" charset="0"/>
              </a:rPr>
              <a:t>demand and cancellations</a:t>
            </a:r>
            <a:r>
              <a:rPr lang="en-US" dirty="0">
                <a:latin typeface="DM Sans" pitchFamily="2" charset="0"/>
              </a:rPr>
              <a:t> using SQL and Power BI.</a:t>
            </a:r>
          </a:p>
          <a:p>
            <a:r>
              <a:rPr lang="en-US" dirty="0">
                <a:latin typeface="DM Sans" pitchFamily="2" charset="0"/>
              </a:rPr>
              <a:t>The goal is to transform raw booking data into actionable insights that help optimize revenue, occupancy, and customer retention.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4D32BE-C11C-C60B-DD3F-CC656298EF90}"/>
              </a:ext>
            </a:extLst>
          </p:cNvPr>
          <p:cNvSpPr txBox="1"/>
          <p:nvPr/>
        </p:nvSpPr>
        <p:spPr>
          <a:xfrm>
            <a:off x="306057" y="3074157"/>
            <a:ext cx="8393568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       Dataset Overview</a:t>
            </a:r>
          </a:p>
          <a:p>
            <a:endParaRPr lang="en-US" b="1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DM Sans" pitchFamily="2" charset="0"/>
              </a:rPr>
              <a:t>Source:</a:t>
            </a:r>
            <a:r>
              <a:rPr lang="en-US" dirty="0">
                <a:latin typeface="DM Sans" pitchFamily="2" charset="0"/>
              </a:rPr>
              <a:t> Hotel Booking Dataset (City Hotel &amp; Resort Hotel)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DM Sans" pitchFamily="2" charset="0"/>
              </a:rPr>
              <a:t>Records:</a:t>
            </a:r>
            <a:r>
              <a:rPr lang="en-US" dirty="0">
                <a:latin typeface="DM Sans" pitchFamily="2" charset="0"/>
              </a:rPr>
              <a:t> ~119,000 bookings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DM Sans" pitchFamily="2" charset="0"/>
              </a:rPr>
              <a:t>Time Range: </a:t>
            </a:r>
            <a:r>
              <a:rPr lang="en-US" dirty="0">
                <a:latin typeface="DM Sans" pitchFamily="2" charset="0"/>
              </a:rPr>
              <a:t>July 2015 to August 2017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b="1" dirty="0">
                <a:latin typeface="DM Sans" pitchFamily="2" charset="0"/>
              </a:rPr>
              <a:t>Key Attributes</a:t>
            </a:r>
            <a:r>
              <a:rPr lang="en-US" b="1" dirty="0">
                <a:latin typeface="DM Sans" pitchFamily="2" charset="0"/>
              </a:rPr>
              <a:t>:</a:t>
            </a:r>
            <a:r>
              <a:rPr lang="en-US" dirty="0">
                <a:latin typeface="DM Sans" pitchFamily="2" charset="0"/>
              </a:rPr>
              <a:t> Booking details, customer demographics, stay duration, lead time, cancellation status, and revenue metrics</a:t>
            </a:r>
          </a:p>
          <a:p>
            <a:endParaRPr lang="en-IN" dirty="0">
              <a:latin typeface="DM Sans" pitchFamily="2" charset="0"/>
            </a:endParaRPr>
          </a:p>
        </p:txBody>
      </p:sp>
      <p:sp>
        <p:nvSpPr>
          <p:cNvPr id="11" name="Google Shape;9190;p84">
            <a:extLst>
              <a:ext uri="{FF2B5EF4-FFF2-40B4-BE49-F238E27FC236}">
                <a16:creationId xmlns:a16="http://schemas.microsoft.com/office/drawing/2014/main" id="{696250D8-8220-49C8-679D-EE14A58BA84B}"/>
              </a:ext>
            </a:extLst>
          </p:cNvPr>
          <p:cNvSpPr/>
          <p:nvPr/>
        </p:nvSpPr>
        <p:spPr>
          <a:xfrm>
            <a:off x="331076" y="1269124"/>
            <a:ext cx="260131" cy="250293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2" name="Google Shape;9096;p84">
            <a:extLst>
              <a:ext uri="{FF2B5EF4-FFF2-40B4-BE49-F238E27FC236}">
                <a16:creationId xmlns:a16="http://schemas.microsoft.com/office/drawing/2014/main" id="{144E6DB0-98EA-2865-B66A-4E8BB0A03794}"/>
              </a:ext>
            </a:extLst>
          </p:cNvPr>
          <p:cNvGrpSpPr/>
          <p:nvPr/>
        </p:nvGrpSpPr>
        <p:grpSpPr>
          <a:xfrm>
            <a:off x="331075" y="3138086"/>
            <a:ext cx="331077" cy="191674"/>
            <a:chOff x="2080675" y="352325"/>
            <a:chExt cx="485000" cy="254800"/>
          </a:xfrm>
        </p:grpSpPr>
        <p:sp>
          <p:nvSpPr>
            <p:cNvPr id="13" name="Google Shape;9097;p84">
              <a:extLst>
                <a:ext uri="{FF2B5EF4-FFF2-40B4-BE49-F238E27FC236}">
                  <a16:creationId xmlns:a16="http://schemas.microsoft.com/office/drawing/2014/main" id="{0A6655A9-95D9-FC20-43D7-758CFAA91399}"/>
                </a:ext>
              </a:extLst>
            </p:cNvPr>
            <p:cNvSpPr/>
            <p:nvPr/>
          </p:nvSpPr>
          <p:spPr>
            <a:xfrm>
              <a:off x="2080675" y="352325"/>
              <a:ext cx="485000" cy="254800"/>
            </a:xfrm>
            <a:custGeom>
              <a:avLst/>
              <a:gdLst/>
              <a:ahLst/>
              <a:cxnLst/>
              <a:rect l="l" t="t" r="r" b="b"/>
              <a:pathLst>
                <a:path w="19400" h="10192" extrusionOk="0">
                  <a:moveTo>
                    <a:pt x="5514" y="2183"/>
                  </a:moveTo>
                  <a:cubicBezTo>
                    <a:pt x="4291" y="3932"/>
                    <a:pt x="4291" y="6254"/>
                    <a:pt x="5514" y="8002"/>
                  </a:cubicBezTo>
                  <a:cubicBezTo>
                    <a:pt x="4858" y="7685"/>
                    <a:pt x="4230" y="7320"/>
                    <a:pt x="3632" y="6909"/>
                  </a:cubicBezTo>
                  <a:cubicBezTo>
                    <a:pt x="2841" y="6368"/>
                    <a:pt x="2099" y="5762"/>
                    <a:pt x="1410" y="5097"/>
                  </a:cubicBezTo>
                  <a:cubicBezTo>
                    <a:pt x="2071" y="4454"/>
                    <a:pt x="3572" y="3126"/>
                    <a:pt x="5514" y="2183"/>
                  </a:cubicBezTo>
                  <a:close/>
                  <a:moveTo>
                    <a:pt x="13865" y="2171"/>
                  </a:moveTo>
                  <a:cubicBezTo>
                    <a:pt x="14527" y="2491"/>
                    <a:pt x="15167" y="2866"/>
                    <a:pt x="15774" y="3283"/>
                  </a:cubicBezTo>
                  <a:cubicBezTo>
                    <a:pt x="16562" y="3823"/>
                    <a:pt x="17304" y="4430"/>
                    <a:pt x="17996" y="5094"/>
                  </a:cubicBezTo>
                  <a:cubicBezTo>
                    <a:pt x="17307" y="5759"/>
                    <a:pt x="16565" y="6365"/>
                    <a:pt x="15774" y="6909"/>
                  </a:cubicBezTo>
                  <a:cubicBezTo>
                    <a:pt x="15167" y="7326"/>
                    <a:pt x="14530" y="7697"/>
                    <a:pt x="13865" y="8017"/>
                  </a:cubicBezTo>
                  <a:cubicBezTo>
                    <a:pt x="15097" y="6263"/>
                    <a:pt x="15097" y="3926"/>
                    <a:pt x="13865" y="2171"/>
                  </a:cubicBezTo>
                  <a:close/>
                  <a:moveTo>
                    <a:pt x="9801" y="1133"/>
                  </a:moveTo>
                  <a:cubicBezTo>
                    <a:pt x="11948" y="1190"/>
                    <a:pt x="13657" y="2947"/>
                    <a:pt x="13657" y="5091"/>
                  </a:cubicBezTo>
                  <a:cubicBezTo>
                    <a:pt x="13657" y="7238"/>
                    <a:pt x="11948" y="8995"/>
                    <a:pt x="9801" y="9053"/>
                  </a:cubicBezTo>
                  <a:lnTo>
                    <a:pt x="9566" y="9053"/>
                  </a:lnTo>
                  <a:cubicBezTo>
                    <a:pt x="7431" y="8983"/>
                    <a:pt x="5734" y="7232"/>
                    <a:pt x="5728" y="5094"/>
                  </a:cubicBezTo>
                  <a:cubicBezTo>
                    <a:pt x="5731" y="2947"/>
                    <a:pt x="7440" y="1190"/>
                    <a:pt x="9587" y="1133"/>
                  </a:cubicBezTo>
                  <a:close/>
                  <a:moveTo>
                    <a:pt x="9557" y="0"/>
                  </a:moveTo>
                  <a:cubicBezTo>
                    <a:pt x="7440" y="37"/>
                    <a:pt x="5166" y="852"/>
                    <a:pt x="2965" y="2362"/>
                  </a:cubicBezTo>
                  <a:cubicBezTo>
                    <a:pt x="1283" y="3518"/>
                    <a:pt x="239" y="4665"/>
                    <a:pt x="196" y="4714"/>
                  </a:cubicBezTo>
                  <a:cubicBezTo>
                    <a:pt x="0" y="4928"/>
                    <a:pt x="0" y="5257"/>
                    <a:pt x="196" y="5472"/>
                  </a:cubicBezTo>
                  <a:cubicBezTo>
                    <a:pt x="239" y="5523"/>
                    <a:pt x="1283" y="6670"/>
                    <a:pt x="2965" y="7827"/>
                  </a:cubicBezTo>
                  <a:cubicBezTo>
                    <a:pt x="5166" y="9337"/>
                    <a:pt x="7440" y="10149"/>
                    <a:pt x="9557" y="10188"/>
                  </a:cubicBezTo>
                  <a:cubicBezTo>
                    <a:pt x="9602" y="10188"/>
                    <a:pt x="9647" y="10191"/>
                    <a:pt x="9692" y="10191"/>
                  </a:cubicBezTo>
                  <a:lnTo>
                    <a:pt x="9717" y="10191"/>
                  </a:lnTo>
                  <a:cubicBezTo>
                    <a:pt x="11869" y="10185"/>
                    <a:pt x="14194" y="9367"/>
                    <a:pt x="16435" y="7827"/>
                  </a:cubicBezTo>
                  <a:cubicBezTo>
                    <a:pt x="18120" y="6670"/>
                    <a:pt x="19161" y="5523"/>
                    <a:pt x="19207" y="5475"/>
                  </a:cubicBezTo>
                  <a:cubicBezTo>
                    <a:pt x="19400" y="5257"/>
                    <a:pt x="19400" y="4931"/>
                    <a:pt x="19207" y="4714"/>
                  </a:cubicBezTo>
                  <a:cubicBezTo>
                    <a:pt x="19161" y="4665"/>
                    <a:pt x="18120" y="3521"/>
                    <a:pt x="16435" y="2365"/>
                  </a:cubicBezTo>
                  <a:cubicBezTo>
                    <a:pt x="14191" y="822"/>
                    <a:pt x="11869" y="6"/>
                    <a:pt x="971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" name="Google Shape;9098;p84">
              <a:extLst>
                <a:ext uri="{FF2B5EF4-FFF2-40B4-BE49-F238E27FC236}">
                  <a16:creationId xmlns:a16="http://schemas.microsoft.com/office/drawing/2014/main" id="{9374E31C-2A90-40AE-6B9B-D46261B17B13}"/>
                </a:ext>
              </a:extLst>
            </p:cNvPr>
            <p:cNvSpPr/>
            <p:nvPr/>
          </p:nvSpPr>
          <p:spPr>
            <a:xfrm>
              <a:off x="2246650" y="408900"/>
              <a:ext cx="147075" cy="141600"/>
            </a:xfrm>
            <a:custGeom>
              <a:avLst/>
              <a:gdLst/>
              <a:ahLst/>
              <a:cxnLst/>
              <a:rect l="l" t="t" r="r" b="b"/>
              <a:pathLst>
                <a:path w="5883" h="5664" extrusionOk="0">
                  <a:moveTo>
                    <a:pt x="3054" y="1132"/>
                  </a:moveTo>
                  <a:cubicBezTo>
                    <a:pt x="3495" y="1132"/>
                    <a:pt x="3930" y="1304"/>
                    <a:pt x="4255" y="1630"/>
                  </a:cubicBezTo>
                  <a:cubicBezTo>
                    <a:pt x="4738" y="2116"/>
                    <a:pt x="4886" y="2846"/>
                    <a:pt x="4624" y="3480"/>
                  </a:cubicBezTo>
                  <a:cubicBezTo>
                    <a:pt x="4358" y="4115"/>
                    <a:pt x="3739" y="4531"/>
                    <a:pt x="3053" y="4531"/>
                  </a:cubicBezTo>
                  <a:cubicBezTo>
                    <a:pt x="2114" y="4528"/>
                    <a:pt x="1357" y="3770"/>
                    <a:pt x="1353" y="2831"/>
                  </a:cubicBezTo>
                  <a:cubicBezTo>
                    <a:pt x="1353" y="2143"/>
                    <a:pt x="1767" y="1524"/>
                    <a:pt x="2404" y="1261"/>
                  </a:cubicBezTo>
                  <a:cubicBezTo>
                    <a:pt x="2614" y="1174"/>
                    <a:pt x="2835" y="1132"/>
                    <a:pt x="3054" y="1132"/>
                  </a:cubicBezTo>
                  <a:close/>
                  <a:moveTo>
                    <a:pt x="3053" y="1"/>
                  </a:moveTo>
                  <a:cubicBezTo>
                    <a:pt x="2316" y="1"/>
                    <a:pt x="1593" y="288"/>
                    <a:pt x="1052" y="829"/>
                  </a:cubicBezTo>
                  <a:cubicBezTo>
                    <a:pt x="242" y="1639"/>
                    <a:pt x="1" y="2855"/>
                    <a:pt x="439" y="3915"/>
                  </a:cubicBezTo>
                  <a:cubicBezTo>
                    <a:pt x="876" y="4972"/>
                    <a:pt x="1909" y="5663"/>
                    <a:pt x="3053" y="5663"/>
                  </a:cubicBezTo>
                  <a:cubicBezTo>
                    <a:pt x="4614" y="5660"/>
                    <a:pt x="5883" y="4395"/>
                    <a:pt x="5883" y="2831"/>
                  </a:cubicBezTo>
                  <a:cubicBezTo>
                    <a:pt x="5883" y="1687"/>
                    <a:pt x="5194" y="654"/>
                    <a:pt x="4137" y="216"/>
                  </a:cubicBezTo>
                  <a:cubicBezTo>
                    <a:pt x="3786" y="71"/>
                    <a:pt x="3418" y="1"/>
                    <a:pt x="305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434144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1D760-1EDB-59B5-2488-1EA6ED1A73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CDB20AAD-B47D-BC1A-0C5C-9D9CBB8F5A2A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684DF76F-4DB3-32C1-7AFF-D6445DF40568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D22491A3-7439-2C42-AA90-CE272A3516A9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1AEB22EB-BADA-A876-6FE1-27F62E160A51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8EB11B-75D6-8571-C88B-93F620B3DEAF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Project Setup &amp; Data Understanding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E6B6FB-8170-D885-6516-6CCC8EEE5340}"/>
              </a:ext>
            </a:extLst>
          </p:cNvPr>
          <p:cNvSpPr txBox="1"/>
          <p:nvPr/>
        </p:nvSpPr>
        <p:spPr>
          <a:xfrm>
            <a:off x="323222" y="1269124"/>
            <a:ext cx="83935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DM Sans" pitchFamily="2" charset="0"/>
              </a:rPr>
              <a:t>      Tools &amp; Technologies</a:t>
            </a:r>
            <a:endParaRPr lang="en-US" b="1" dirty="0">
              <a:latin typeface="DM Sans" pitchFamily="2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0065C91-219F-5CC1-18BB-317E75A9F224}"/>
              </a:ext>
            </a:extLst>
          </p:cNvPr>
          <p:cNvSpPr txBox="1"/>
          <p:nvPr/>
        </p:nvSpPr>
        <p:spPr>
          <a:xfrm>
            <a:off x="323222" y="3378433"/>
            <a:ext cx="8393568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      Setup &amp; Structure</a:t>
            </a:r>
          </a:p>
          <a:p>
            <a:endParaRPr lang="en-US" b="1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Created a structured SQL database named </a:t>
            </a:r>
            <a:r>
              <a:rPr lang="en-US" b="1" dirty="0" err="1">
                <a:latin typeface="DM Sans" pitchFamily="2" charset="0"/>
              </a:rPr>
              <a:t>hotel_analysis</a:t>
            </a:r>
            <a:r>
              <a:rPr lang="en-US" dirty="0">
                <a:latin typeface="DM Sans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Loaded main dataset: </a:t>
            </a:r>
            <a:r>
              <a:rPr lang="en-US" b="1" dirty="0" err="1">
                <a:latin typeface="DM Sans" pitchFamily="2" charset="0"/>
              </a:rPr>
              <a:t>hotel_bookings</a:t>
            </a:r>
            <a:endParaRPr lang="en-US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Added lookup tables for </a:t>
            </a:r>
            <a:r>
              <a:rPr lang="en-US" b="1" dirty="0">
                <a:latin typeface="DM Sans" pitchFamily="2" charset="0"/>
              </a:rPr>
              <a:t>market segments</a:t>
            </a:r>
            <a:r>
              <a:rPr lang="en-US" dirty="0">
                <a:latin typeface="DM Sans" pitchFamily="2" charset="0"/>
              </a:rPr>
              <a:t>, </a:t>
            </a:r>
            <a:r>
              <a:rPr lang="en-US" b="1" dirty="0">
                <a:latin typeface="DM Sans" pitchFamily="2" charset="0"/>
              </a:rPr>
              <a:t>distribution channels</a:t>
            </a:r>
            <a:r>
              <a:rPr lang="en-US" dirty="0">
                <a:latin typeface="DM Sans" pitchFamily="2" charset="0"/>
              </a:rPr>
              <a:t>, and </a:t>
            </a:r>
            <a:r>
              <a:rPr lang="en-US" b="1" dirty="0">
                <a:latin typeface="DM Sans" pitchFamily="2" charset="0"/>
              </a:rPr>
              <a:t>country–continent mapping.</a:t>
            </a:r>
            <a:endParaRPr lang="en-US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DM Sans" pitchFamily="2" charset="0"/>
              </a:rPr>
              <a:t>Validated data accuracy through </a:t>
            </a:r>
            <a:r>
              <a:rPr lang="en-US" b="1" dirty="0">
                <a:latin typeface="DM Sans" pitchFamily="2" charset="0"/>
              </a:rPr>
              <a:t>row counts, sample checks, and field consistency tests</a:t>
            </a:r>
            <a:r>
              <a:rPr lang="en-US" dirty="0">
                <a:latin typeface="DM Sans" pitchFamily="2" charset="0"/>
              </a:rPr>
              <a:t>.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6F82A084-24DE-16E0-41E3-DD4948A23B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84982"/>
              </p:ext>
            </p:extLst>
          </p:nvPr>
        </p:nvGraphicFramePr>
        <p:xfrm>
          <a:off x="1526166" y="1677210"/>
          <a:ext cx="6214703" cy="14344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611172">
                  <a:extLst>
                    <a:ext uri="{9D8B030D-6E8A-4147-A177-3AD203B41FA5}">
                      <a16:colId xmlns:a16="http://schemas.microsoft.com/office/drawing/2014/main" val="740609528"/>
                    </a:ext>
                  </a:extLst>
                </a:gridCol>
                <a:gridCol w="4603531">
                  <a:extLst>
                    <a:ext uri="{9D8B030D-6E8A-4147-A177-3AD203B41FA5}">
                      <a16:colId xmlns:a16="http://schemas.microsoft.com/office/drawing/2014/main" val="3961574777"/>
                    </a:ext>
                  </a:extLst>
                </a:gridCol>
              </a:tblGrid>
              <a:tr h="36081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DM Sans" pitchFamily="2" charset="0"/>
                        </a:rPr>
                        <a:t>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800" dirty="0">
                          <a:latin typeface="DM Sans" pitchFamily="2" charset="0"/>
                        </a:rPr>
                        <a:t>Purpose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87645184"/>
                  </a:ext>
                </a:extLst>
              </a:tr>
              <a:tr h="3819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400" b="1" dirty="0">
                          <a:latin typeface="DM Sans" pitchFamily="2" charset="0"/>
                        </a:rPr>
                        <a:t>Excel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dirty="0">
                          <a:latin typeface="DM Sans" pitchFamily="2" charset="0"/>
                        </a:rPr>
                        <a:t>Initial exploration and validation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203517"/>
                  </a:ext>
                </a:extLst>
              </a:tr>
              <a:tr h="2884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DM Sans" pitchFamily="2" charset="0"/>
                        </a:rPr>
                        <a:t>MySQL </a:t>
                      </a:r>
                      <a:endParaRPr lang="en-IN" sz="1400" dirty="0">
                        <a:latin typeface="DM Sans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DM Sans" pitchFamily="2" charset="0"/>
                        </a:rPr>
                        <a:t>Data cleaning, transformation &amp; KPI derivation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6976632"/>
                  </a:ext>
                </a:extLst>
              </a:tr>
              <a:tr h="38192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IN" sz="1400" b="1" dirty="0">
                          <a:latin typeface="DM Sans" pitchFamily="2" charset="0"/>
                        </a:rPr>
                        <a:t>Power BI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dirty="0">
                          <a:latin typeface="DM Sans" pitchFamily="2" charset="0"/>
                        </a:rPr>
                        <a:t>Visualization and interactive dashboard creation</a:t>
                      </a:r>
                      <a:endParaRPr lang="en-IN" sz="1400" dirty="0">
                        <a:latin typeface="DM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1445797"/>
                  </a:ext>
                </a:extLst>
              </a:tr>
            </a:tbl>
          </a:graphicData>
        </a:graphic>
      </p:graphicFrame>
      <p:grpSp>
        <p:nvGrpSpPr>
          <p:cNvPr id="16" name="Google Shape;1158;p71">
            <a:extLst>
              <a:ext uri="{FF2B5EF4-FFF2-40B4-BE49-F238E27FC236}">
                <a16:creationId xmlns:a16="http://schemas.microsoft.com/office/drawing/2014/main" id="{5CC4EC9A-954C-F31B-22D7-2E1B0DFD4A99}"/>
              </a:ext>
            </a:extLst>
          </p:cNvPr>
          <p:cNvGrpSpPr/>
          <p:nvPr/>
        </p:nvGrpSpPr>
        <p:grpSpPr>
          <a:xfrm>
            <a:off x="331076" y="1269124"/>
            <a:ext cx="291662" cy="259266"/>
            <a:chOff x="7386943" y="1332817"/>
            <a:chExt cx="392133" cy="392133"/>
          </a:xfrm>
        </p:grpSpPr>
        <p:sp>
          <p:nvSpPr>
            <p:cNvPr id="17" name="Google Shape;1159;p71">
              <a:extLst>
                <a:ext uri="{FF2B5EF4-FFF2-40B4-BE49-F238E27FC236}">
                  <a16:creationId xmlns:a16="http://schemas.microsoft.com/office/drawing/2014/main" id="{1253EB73-FEC4-9E59-08F9-55F44C31850B}"/>
                </a:ext>
              </a:extLst>
            </p:cNvPr>
            <p:cNvSpPr/>
            <p:nvPr/>
          </p:nvSpPr>
          <p:spPr>
            <a:xfrm>
              <a:off x="7386943" y="1332817"/>
              <a:ext cx="392133" cy="392133"/>
            </a:xfrm>
            <a:custGeom>
              <a:avLst/>
              <a:gdLst/>
              <a:ahLst/>
              <a:cxnLst/>
              <a:rect l="l" t="t" r="r" b="b"/>
              <a:pathLst>
                <a:path w="17351" h="17351" extrusionOk="0">
                  <a:moveTo>
                    <a:pt x="13280" y="1115"/>
                  </a:moveTo>
                  <a:lnTo>
                    <a:pt x="13667" y="1551"/>
                  </a:lnTo>
                  <a:lnTo>
                    <a:pt x="12116" y="3102"/>
                  </a:lnTo>
                  <a:lnTo>
                    <a:pt x="11971" y="3296"/>
                  </a:lnTo>
                  <a:lnTo>
                    <a:pt x="11971" y="3538"/>
                  </a:lnTo>
                  <a:lnTo>
                    <a:pt x="12116" y="4798"/>
                  </a:lnTo>
                  <a:lnTo>
                    <a:pt x="12165" y="4992"/>
                  </a:lnTo>
                  <a:lnTo>
                    <a:pt x="12262" y="5137"/>
                  </a:lnTo>
                  <a:lnTo>
                    <a:pt x="12359" y="5234"/>
                  </a:lnTo>
                  <a:lnTo>
                    <a:pt x="12553" y="5283"/>
                  </a:lnTo>
                  <a:lnTo>
                    <a:pt x="13861" y="5428"/>
                  </a:lnTo>
                  <a:lnTo>
                    <a:pt x="14055" y="5380"/>
                  </a:lnTo>
                  <a:lnTo>
                    <a:pt x="14249" y="5283"/>
                  </a:lnTo>
                  <a:lnTo>
                    <a:pt x="15848" y="3683"/>
                  </a:lnTo>
                  <a:lnTo>
                    <a:pt x="16236" y="4120"/>
                  </a:lnTo>
                  <a:lnTo>
                    <a:pt x="15073" y="6494"/>
                  </a:lnTo>
                  <a:lnTo>
                    <a:pt x="11874" y="7367"/>
                  </a:lnTo>
                  <a:lnTo>
                    <a:pt x="11777" y="7415"/>
                  </a:lnTo>
                  <a:lnTo>
                    <a:pt x="11632" y="7512"/>
                  </a:lnTo>
                  <a:lnTo>
                    <a:pt x="7512" y="11632"/>
                  </a:lnTo>
                  <a:lnTo>
                    <a:pt x="7415" y="11728"/>
                  </a:lnTo>
                  <a:lnTo>
                    <a:pt x="7367" y="11874"/>
                  </a:lnTo>
                  <a:lnTo>
                    <a:pt x="6543" y="15073"/>
                  </a:lnTo>
                  <a:lnTo>
                    <a:pt x="4120" y="16236"/>
                  </a:lnTo>
                  <a:lnTo>
                    <a:pt x="3684" y="15848"/>
                  </a:lnTo>
                  <a:lnTo>
                    <a:pt x="5283" y="14249"/>
                  </a:lnTo>
                  <a:lnTo>
                    <a:pt x="5380" y="14055"/>
                  </a:lnTo>
                  <a:lnTo>
                    <a:pt x="5428" y="13812"/>
                  </a:lnTo>
                  <a:lnTo>
                    <a:pt x="5283" y="12552"/>
                  </a:lnTo>
                  <a:lnTo>
                    <a:pt x="5234" y="12359"/>
                  </a:lnTo>
                  <a:lnTo>
                    <a:pt x="5138" y="12213"/>
                  </a:lnTo>
                  <a:lnTo>
                    <a:pt x="4992" y="12116"/>
                  </a:lnTo>
                  <a:lnTo>
                    <a:pt x="4847" y="12068"/>
                  </a:lnTo>
                  <a:lnTo>
                    <a:pt x="3538" y="11971"/>
                  </a:lnTo>
                  <a:lnTo>
                    <a:pt x="3296" y="11971"/>
                  </a:lnTo>
                  <a:lnTo>
                    <a:pt x="3102" y="12116"/>
                  </a:lnTo>
                  <a:lnTo>
                    <a:pt x="1551" y="13667"/>
                  </a:lnTo>
                  <a:lnTo>
                    <a:pt x="1163" y="13279"/>
                  </a:lnTo>
                  <a:lnTo>
                    <a:pt x="2278" y="10856"/>
                  </a:lnTo>
                  <a:lnTo>
                    <a:pt x="5525" y="9984"/>
                  </a:lnTo>
                  <a:lnTo>
                    <a:pt x="5622" y="9935"/>
                  </a:lnTo>
                  <a:lnTo>
                    <a:pt x="5719" y="9838"/>
                  </a:lnTo>
                  <a:lnTo>
                    <a:pt x="9839" y="5719"/>
                  </a:lnTo>
                  <a:lnTo>
                    <a:pt x="9936" y="5622"/>
                  </a:lnTo>
                  <a:lnTo>
                    <a:pt x="9984" y="5477"/>
                  </a:lnTo>
                  <a:lnTo>
                    <a:pt x="10856" y="2278"/>
                  </a:lnTo>
                  <a:lnTo>
                    <a:pt x="13280" y="1115"/>
                  </a:lnTo>
                  <a:close/>
                  <a:moveTo>
                    <a:pt x="13328" y="0"/>
                  </a:moveTo>
                  <a:lnTo>
                    <a:pt x="13183" y="48"/>
                  </a:lnTo>
                  <a:lnTo>
                    <a:pt x="10226" y="1454"/>
                  </a:lnTo>
                  <a:lnTo>
                    <a:pt x="10032" y="1599"/>
                  </a:lnTo>
                  <a:lnTo>
                    <a:pt x="9936" y="1793"/>
                  </a:lnTo>
                  <a:lnTo>
                    <a:pt x="9063" y="5089"/>
                  </a:lnTo>
                  <a:lnTo>
                    <a:pt x="5089" y="9014"/>
                  </a:lnTo>
                  <a:lnTo>
                    <a:pt x="1793" y="9935"/>
                  </a:lnTo>
                  <a:lnTo>
                    <a:pt x="1600" y="10032"/>
                  </a:lnTo>
                  <a:lnTo>
                    <a:pt x="1454" y="10178"/>
                  </a:lnTo>
                  <a:lnTo>
                    <a:pt x="49" y="13134"/>
                  </a:lnTo>
                  <a:lnTo>
                    <a:pt x="0" y="13279"/>
                  </a:lnTo>
                  <a:lnTo>
                    <a:pt x="49" y="13473"/>
                  </a:lnTo>
                  <a:lnTo>
                    <a:pt x="97" y="13619"/>
                  </a:lnTo>
                  <a:lnTo>
                    <a:pt x="146" y="13716"/>
                  </a:lnTo>
                  <a:lnTo>
                    <a:pt x="1163" y="14733"/>
                  </a:lnTo>
                  <a:lnTo>
                    <a:pt x="1357" y="14879"/>
                  </a:lnTo>
                  <a:lnTo>
                    <a:pt x="1745" y="14879"/>
                  </a:lnTo>
                  <a:lnTo>
                    <a:pt x="1890" y="14733"/>
                  </a:lnTo>
                  <a:lnTo>
                    <a:pt x="3684" y="12989"/>
                  </a:lnTo>
                  <a:lnTo>
                    <a:pt x="4314" y="13037"/>
                  </a:lnTo>
                  <a:lnTo>
                    <a:pt x="4362" y="13716"/>
                  </a:lnTo>
                  <a:lnTo>
                    <a:pt x="2617" y="15460"/>
                  </a:lnTo>
                  <a:lnTo>
                    <a:pt x="2520" y="15654"/>
                  </a:lnTo>
                  <a:lnTo>
                    <a:pt x="2472" y="15848"/>
                  </a:lnTo>
                  <a:lnTo>
                    <a:pt x="2520" y="15993"/>
                  </a:lnTo>
                  <a:lnTo>
                    <a:pt x="2617" y="16187"/>
                  </a:lnTo>
                  <a:lnTo>
                    <a:pt x="3635" y="17205"/>
                  </a:lnTo>
                  <a:lnTo>
                    <a:pt x="3829" y="17302"/>
                  </a:lnTo>
                  <a:lnTo>
                    <a:pt x="4023" y="17350"/>
                  </a:lnTo>
                  <a:lnTo>
                    <a:pt x="4217" y="17302"/>
                  </a:lnTo>
                  <a:lnTo>
                    <a:pt x="7173" y="15896"/>
                  </a:lnTo>
                  <a:lnTo>
                    <a:pt x="7367" y="15751"/>
                  </a:lnTo>
                  <a:lnTo>
                    <a:pt x="7464" y="15557"/>
                  </a:lnTo>
                  <a:lnTo>
                    <a:pt x="8336" y="12262"/>
                  </a:lnTo>
                  <a:lnTo>
                    <a:pt x="12262" y="8336"/>
                  </a:lnTo>
                  <a:lnTo>
                    <a:pt x="15606" y="7415"/>
                  </a:lnTo>
                  <a:lnTo>
                    <a:pt x="15800" y="7318"/>
                  </a:lnTo>
                  <a:lnTo>
                    <a:pt x="15897" y="7173"/>
                  </a:lnTo>
                  <a:lnTo>
                    <a:pt x="17302" y="4216"/>
                  </a:lnTo>
                  <a:lnTo>
                    <a:pt x="17351" y="4071"/>
                  </a:lnTo>
                  <a:lnTo>
                    <a:pt x="17351" y="3926"/>
                  </a:lnTo>
                  <a:lnTo>
                    <a:pt x="17302" y="3780"/>
                  </a:lnTo>
                  <a:lnTo>
                    <a:pt x="17205" y="3635"/>
                  </a:lnTo>
                  <a:lnTo>
                    <a:pt x="16188" y="2617"/>
                  </a:lnTo>
                  <a:lnTo>
                    <a:pt x="16042" y="2520"/>
                  </a:lnTo>
                  <a:lnTo>
                    <a:pt x="15848" y="2472"/>
                  </a:lnTo>
                  <a:lnTo>
                    <a:pt x="15654" y="2520"/>
                  </a:lnTo>
                  <a:lnTo>
                    <a:pt x="15461" y="2617"/>
                  </a:lnTo>
                  <a:lnTo>
                    <a:pt x="13716" y="4362"/>
                  </a:lnTo>
                  <a:lnTo>
                    <a:pt x="13086" y="4313"/>
                  </a:lnTo>
                  <a:lnTo>
                    <a:pt x="12989" y="3635"/>
                  </a:lnTo>
                  <a:lnTo>
                    <a:pt x="14734" y="1890"/>
                  </a:lnTo>
                  <a:lnTo>
                    <a:pt x="14879" y="1745"/>
                  </a:lnTo>
                  <a:lnTo>
                    <a:pt x="14927" y="1551"/>
                  </a:lnTo>
                  <a:lnTo>
                    <a:pt x="14879" y="1357"/>
                  </a:lnTo>
                  <a:lnTo>
                    <a:pt x="14734" y="1163"/>
                  </a:lnTo>
                  <a:lnTo>
                    <a:pt x="13716" y="145"/>
                  </a:lnTo>
                  <a:lnTo>
                    <a:pt x="13619" y="48"/>
                  </a:lnTo>
                  <a:lnTo>
                    <a:pt x="13474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8" name="Google Shape;1160;p71">
              <a:extLst>
                <a:ext uri="{FF2B5EF4-FFF2-40B4-BE49-F238E27FC236}">
                  <a16:creationId xmlns:a16="http://schemas.microsoft.com/office/drawing/2014/main" id="{721CD69D-78E6-B9AE-EDF2-2BD114E20230}"/>
                </a:ext>
              </a:extLst>
            </p:cNvPr>
            <p:cNvSpPr/>
            <p:nvPr/>
          </p:nvSpPr>
          <p:spPr>
            <a:xfrm>
              <a:off x="7386943" y="1378808"/>
              <a:ext cx="48206" cy="73405"/>
            </a:xfrm>
            <a:custGeom>
              <a:avLst/>
              <a:gdLst/>
              <a:ahLst/>
              <a:cxnLst/>
              <a:rect l="l" t="t" r="r" b="b"/>
              <a:pathLst>
                <a:path w="2133" h="3248" extrusionOk="0">
                  <a:moveTo>
                    <a:pt x="1648" y="1"/>
                  </a:moveTo>
                  <a:lnTo>
                    <a:pt x="1454" y="49"/>
                  </a:lnTo>
                  <a:lnTo>
                    <a:pt x="1260" y="194"/>
                  </a:lnTo>
                  <a:lnTo>
                    <a:pt x="146" y="1261"/>
                  </a:lnTo>
                  <a:lnTo>
                    <a:pt x="49" y="1454"/>
                  </a:lnTo>
                  <a:lnTo>
                    <a:pt x="0" y="1648"/>
                  </a:lnTo>
                  <a:lnTo>
                    <a:pt x="49" y="1842"/>
                  </a:lnTo>
                  <a:lnTo>
                    <a:pt x="146" y="1988"/>
                  </a:lnTo>
                  <a:lnTo>
                    <a:pt x="1260" y="3102"/>
                  </a:lnTo>
                  <a:lnTo>
                    <a:pt x="1454" y="3199"/>
                  </a:lnTo>
                  <a:lnTo>
                    <a:pt x="1648" y="3248"/>
                  </a:lnTo>
                  <a:lnTo>
                    <a:pt x="1842" y="3199"/>
                  </a:lnTo>
                  <a:lnTo>
                    <a:pt x="1987" y="3102"/>
                  </a:lnTo>
                  <a:lnTo>
                    <a:pt x="2084" y="2908"/>
                  </a:lnTo>
                  <a:lnTo>
                    <a:pt x="2133" y="2715"/>
                  </a:lnTo>
                  <a:lnTo>
                    <a:pt x="2084" y="2521"/>
                  </a:lnTo>
                  <a:lnTo>
                    <a:pt x="1987" y="2375"/>
                  </a:lnTo>
                  <a:lnTo>
                    <a:pt x="1260" y="1648"/>
                  </a:lnTo>
                  <a:lnTo>
                    <a:pt x="1987" y="873"/>
                  </a:lnTo>
                  <a:lnTo>
                    <a:pt x="2084" y="727"/>
                  </a:lnTo>
                  <a:lnTo>
                    <a:pt x="2133" y="534"/>
                  </a:lnTo>
                  <a:lnTo>
                    <a:pt x="2084" y="340"/>
                  </a:lnTo>
                  <a:lnTo>
                    <a:pt x="1987" y="194"/>
                  </a:lnTo>
                  <a:lnTo>
                    <a:pt x="1842" y="49"/>
                  </a:lnTo>
                  <a:lnTo>
                    <a:pt x="1648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161;p71">
              <a:extLst>
                <a:ext uri="{FF2B5EF4-FFF2-40B4-BE49-F238E27FC236}">
                  <a16:creationId xmlns:a16="http://schemas.microsoft.com/office/drawing/2014/main" id="{4671630E-7066-87F7-00DF-F3D19C81038C}"/>
                </a:ext>
              </a:extLst>
            </p:cNvPr>
            <p:cNvSpPr/>
            <p:nvPr/>
          </p:nvSpPr>
          <p:spPr>
            <a:xfrm>
              <a:off x="7516192" y="1378808"/>
              <a:ext cx="48206" cy="73405"/>
            </a:xfrm>
            <a:custGeom>
              <a:avLst/>
              <a:gdLst/>
              <a:ahLst/>
              <a:cxnLst/>
              <a:rect l="l" t="t" r="r" b="b"/>
              <a:pathLst>
                <a:path w="2133" h="3248" extrusionOk="0">
                  <a:moveTo>
                    <a:pt x="533" y="1"/>
                  </a:moveTo>
                  <a:lnTo>
                    <a:pt x="339" y="49"/>
                  </a:lnTo>
                  <a:lnTo>
                    <a:pt x="145" y="194"/>
                  </a:lnTo>
                  <a:lnTo>
                    <a:pt x="49" y="340"/>
                  </a:lnTo>
                  <a:lnTo>
                    <a:pt x="0" y="534"/>
                  </a:lnTo>
                  <a:lnTo>
                    <a:pt x="49" y="727"/>
                  </a:lnTo>
                  <a:lnTo>
                    <a:pt x="145" y="873"/>
                  </a:lnTo>
                  <a:lnTo>
                    <a:pt x="921" y="1648"/>
                  </a:lnTo>
                  <a:lnTo>
                    <a:pt x="145" y="2375"/>
                  </a:lnTo>
                  <a:lnTo>
                    <a:pt x="49" y="2521"/>
                  </a:lnTo>
                  <a:lnTo>
                    <a:pt x="0" y="2715"/>
                  </a:lnTo>
                  <a:lnTo>
                    <a:pt x="49" y="2908"/>
                  </a:lnTo>
                  <a:lnTo>
                    <a:pt x="145" y="3102"/>
                  </a:lnTo>
                  <a:lnTo>
                    <a:pt x="339" y="3199"/>
                  </a:lnTo>
                  <a:lnTo>
                    <a:pt x="533" y="3248"/>
                  </a:lnTo>
                  <a:lnTo>
                    <a:pt x="727" y="3199"/>
                  </a:lnTo>
                  <a:lnTo>
                    <a:pt x="872" y="3102"/>
                  </a:lnTo>
                  <a:lnTo>
                    <a:pt x="1987" y="1988"/>
                  </a:lnTo>
                  <a:lnTo>
                    <a:pt x="2084" y="1842"/>
                  </a:lnTo>
                  <a:lnTo>
                    <a:pt x="2133" y="1648"/>
                  </a:lnTo>
                  <a:lnTo>
                    <a:pt x="2084" y="1454"/>
                  </a:lnTo>
                  <a:lnTo>
                    <a:pt x="1987" y="1261"/>
                  </a:lnTo>
                  <a:lnTo>
                    <a:pt x="872" y="194"/>
                  </a:lnTo>
                  <a:lnTo>
                    <a:pt x="727" y="49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62;p71">
              <a:extLst>
                <a:ext uri="{FF2B5EF4-FFF2-40B4-BE49-F238E27FC236}">
                  <a16:creationId xmlns:a16="http://schemas.microsoft.com/office/drawing/2014/main" id="{E25E0497-C52E-3E10-7947-7FFC4E692451}"/>
                </a:ext>
              </a:extLst>
            </p:cNvPr>
            <p:cNvSpPr/>
            <p:nvPr/>
          </p:nvSpPr>
          <p:spPr>
            <a:xfrm>
              <a:off x="7457026" y="1362378"/>
              <a:ext cx="38375" cy="106265"/>
            </a:xfrm>
            <a:custGeom>
              <a:avLst/>
              <a:gdLst/>
              <a:ahLst/>
              <a:cxnLst/>
              <a:rect l="l" t="t" r="r" b="b"/>
              <a:pathLst>
                <a:path w="1698" h="4702" extrusionOk="0">
                  <a:moveTo>
                    <a:pt x="1067" y="1"/>
                  </a:moveTo>
                  <a:lnTo>
                    <a:pt x="873" y="97"/>
                  </a:lnTo>
                  <a:lnTo>
                    <a:pt x="776" y="194"/>
                  </a:lnTo>
                  <a:lnTo>
                    <a:pt x="679" y="388"/>
                  </a:lnTo>
                  <a:lnTo>
                    <a:pt x="1" y="4120"/>
                  </a:lnTo>
                  <a:lnTo>
                    <a:pt x="1" y="4314"/>
                  </a:lnTo>
                  <a:lnTo>
                    <a:pt x="49" y="4508"/>
                  </a:lnTo>
                  <a:lnTo>
                    <a:pt x="195" y="4653"/>
                  </a:lnTo>
                  <a:lnTo>
                    <a:pt x="389" y="4702"/>
                  </a:lnTo>
                  <a:lnTo>
                    <a:pt x="583" y="4702"/>
                  </a:lnTo>
                  <a:lnTo>
                    <a:pt x="776" y="4653"/>
                  </a:lnTo>
                  <a:lnTo>
                    <a:pt x="922" y="4508"/>
                  </a:lnTo>
                  <a:lnTo>
                    <a:pt x="970" y="4314"/>
                  </a:lnTo>
                  <a:lnTo>
                    <a:pt x="1697" y="582"/>
                  </a:lnTo>
                  <a:lnTo>
                    <a:pt x="1697" y="388"/>
                  </a:lnTo>
                  <a:lnTo>
                    <a:pt x="1600" y="194"/>
                  </a:lnTo>
                  <a:lnTo>
                    <a:pt x="1455" y="49"/>
                  </a:lnTo>
                  <a:lnTo>
                    <a:pt x="1261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63;p71">
              <a:extLst>
                <a:ext uri="{FF2B5EF4-FFF2-40B4-BE49-F238E27FC236}">
                  <a16:creationId xmlns:a16="http://schemas.microsoft.com/office/drawing/2014/main" id="{6764D276-74D6-06A2-A878-F21BD6377ED7}"/>
                </a:ext>
              </a:extLst>
            </p:cNvPr>
            <p:cNvSpPr/>
            <p:nvPr/>
          </p:nvSpPr>
          <p:spPr>
            <a:xfrm>
              <a:off x="7624627" y="1570479"/>
              <a:ext cx="154448" cy="154471"/>
            </a:xfrm>
            <a:custGeom>
              <a:avLst/>
              <a:gdLst/>
              <a:ahLst/>
              <a:cxnLst/>
              <a:rect l="l" t="t" r="r" b="b"/>
              <a:pathLst>
                <a:path w="6834" h="6835" extrusionOk="0">
                  <a:moveTo>
                    <a:pt x="3441" y="1891"/>
                  </a:moveTo>
                  <a:lnTo>
                    <a:pt x="3732" y="1939"/>
                  </a:lnTo>
                  <a:lnTo>
                    <a:pt x="4023" y="1988"/>
                  </a:lnTo>
                  <a:lnTo>
                    <a:pt x="4265" y="2133"/>
                  </a:lnTo>
                  <a:lnTo>
                    <a:pt x="4507" y="2327"/>
                  </a:lnTo>
                  <a:lnTo>
                    <a:pt x="4701" y="2569"/>
                  </a:lnTo>
                  <a:lnTo>
                    <a:pt x="4847" y="2812"/>
                  </a:lnTo>
                  <a:lnTo>
                    <a:pt x="4895" y="3103"/>
                  </a:lnTo>
                  <a:lnTo>
                    <a:pt x="4944" y="3393"/>
                  </a:lnTo>
                  <a:lnTo>
                    <a:pt x="4895" y="3733"/>
                  </a:lnTo>
                  <a:lnTo>
                    <a:pt x="4847" y="4023"/>
                  </a:lnTo>
                  <a:lnTo>
                    <a:pt x="4701" y="4266"/>
                  </a:lnTo>
                  <a:lnTo>
                    <a:pt x="4507" y="4508"/>
                  </a:lnTo>
                  <a:lnTo>
                    <a:pt x="4265" y="4653"/>
                  </a:lnTo>
                  <a:lnTo>
                    <a:pt x="4023" y="4799"/>
                  </a:lnTo>
                  <a:lnTo>
                    <a:pt x="3732" y="4896"/>
                  </a:lnTo>
                  <a:lnTo>
                    <a:pt x="3441" y="4944"/>
                  </a:lnTo>
                  <a:lnTo>
                    <a:pt x="3102" y="4896"/>
                  </a:lnTo>
                  <a:lnTo>
                    <a:pt x="2811" y="4799"/>
                  </a:lnTo>
                  <a:lnTo>
                    <a:pt x="2569" y="4653"/>
                  </a:lnTo>
                  <a:lnTo>
                    <a:pt x="2326" y="4508"/>
                  </a:lnTo>
                  <a:lnTo>
                    <a:pt x="2181" y="4266"/>
                  </a:lnTo>
                  <a:lnTo>
                    <a:pt x="2036" y="4023"/>
                  </a:lnTo>
                  <a:lnTo>
                    <a:pt x="1939" y="3733"/>
                  </a:lnTo>
                  <a:lnTo>
                    <a:pt x="1890" y="3393"/>
                  </a:lnTo>
                  <a:lnTo>
                    <a:pt x="1939" y="3103"/>
                  </a:lnTo>
                  <a:lnTo>
                    <a:pt x="2036" y="2812"/>
                  </a:lnTo>
                  <a:lnTo>
                    <a:pt x="2181" y="2569"/>
                  </a:lnTo>
                  <a:lnTo>
                    <a:pt x="2326" y="2327"/>
                  </a:lnTo>
                  <a:lnTo>
                    <a:pt x="2569" y="2133"/>
                  </a:lnTo>
                  <a:lnTo>
                    <a:pt x="2811" y="1988"/>
                  </a:lnTo>
                  <a:lnTo>
                    <a:pt x="3102" y="1939"/>
                  </a:lnTo>
                  <a:lnTo>
                    <a:pt x="3441" y="1891"/>
                  </a:lnTo>
                  <a:close/>
                  <a:moveTo>
                    <a:pt x="3441" y="1"/>
                  </a:moveTo>
                  <a:lnTo>
                    <a:pt x="3247" y="49"/>
                  </a:lnTo>
                  <a:lnTo>
                    <a:pt x="3053" y="146"/>
                  </a:lnTo>
                  <a:lnTo>
                    <a:pt x="2957" y="292"/>
                  </a:lnTo>
                  <a:lnTo>
                    <a:pt x="2908" y="486"/>
                  </a:lnTo>
                  <a:lnTo>
                    <a:pt x="2908" y="922"/>
                  </a:lnTo>
                  <a:lnTo>
                    <a:pt x="2423" y="1067"/>
                  </a:lnTo>
                  <a:lnTo>
                    <a:pt x="2036" y="1309"/>
                  </a:lnTo>
                  <a:lnTo>
                    <a:pt x="1745" y="1019"/>
                  </a:lnTo>
                  <a:lnTo>
                    <a:pt x="1551" y="873"/>
                  </a:lnTo>
                  <a:lnTo>
                    <a:pt x="1357" y="825"/>
                  </a:lnTo>
                  <a:lnTo>
                    <a:pt x="1163" y="873"/>
                  </a:lnTo>
                  <a:lnTo>
                    <a:pt x="1018" y="1019"/>
                  </a:lnTo>
                  <a:lnTo>
                    <a:pt x="873" y="1164"/>
                  </a:lnTo>
                  <a:lnTo>
                    <a:pt x="873" y="1358"/>
                  </a:lnTo>
                  <a:lnTo>
                    <a:pt x="873" y="1552"/>
                  </a:lnTo>
                  <a:lnTo>
                    <a:pt x="1018" y="1697"/>
                  </a:lnTo>
                  <a:lnTo>
                    <a:pt x="1309" y="2036"/>
                  </a:lnTo>
                  <a:lnTo>
                    <a:pt x="1066" y="2424"/>
                  </a:lnTo>
                  <a:lnTo>
                    <a:pt x="921" y="2909"/>
                  </a:lnTo>
                  <a:lnTo>
                    <a:pt x="533" y="2909"/>
                  </a:lnTo>
                  <a:lnTo>
                    <a:pt x="291" y="2957"/>
                  </a:lnTo>
                  <a:lnTo>
                    <a:pt x="146" y="3054"/>
                  </a:lnTo>
                  <a:lnTo>
                    <a:pt x="49" y="3200"/>
                  </a:lnTo>
                  <a:lnTo>
                    <a:pt x="0" y="3393"/>
                  </a:lnTo>
                  <a:lnTo>
                    <a:pt x="49" y="3587"/>
                  </a:lnTo>
                  <a:lnTo>
                    <a:pt x="146" y="3781"/>
                  </a:lnTo>
                  <a:lnTo>
                    <a:pt x="291" y="3878"/>
                  </a:lnTo>
                  <a:lnTo>
                    <a:pt x="533" y="3927"/>
                  </a:lnTo>
                  <a:lnTo>
                    <a:pt x="921" y="3927"/>
                  </a:lnTo>
                  <a:lnTo>
                    <a:pt x="1066" y="4411"/>
                  </a:lnTo>
                  <a:lnTo>
                    <a:pt x="1309" y="4799"/>
                  </a:lnTo>
                  <a:lnTo>
                    <a:pt x="1018" y="5138"/>
                  </a:lnTo>
                  <a:lnTo>
                    <a:pt x="873" y="5284"/>
                  </a:lnTo>
                  <a:lnTo>
                    <a:pt x="873" y="5477"/>
                  </a:lnTo>
                  <a:lnTo>
                    <a:pt x="873" y="5671"/>
                  </a:lnTo>
                  <a:lnTo>
                    <a:pt x="1018" y="5817"/>
                  </a:lnTo>
                  <a:lnTo>
                    <a:pt x="1163" y="5962"/>
                  </a:lnTo>
                  <a:lnTo>
                    <a:pt x="1551" y="5962"/>
                  </a:lnTo>
                  <a:lnTo>
                    <a:pt x="1745" y="5817"/>
                  </a:lnTo>
                  <a:lnTo>
                    <a:pt x="2036" y="5526"/>
                  </a:lnTo>
                  <a:lnTo>
                    <a:pt x="2423" y="5768"/>
                  </a:lnTo>
                  <a:lnTo>
                    <a:pt x="2908" y="5914"/>
                  </a:lnTo>
                  <a:lnTo>
                    <a:pt x="2908" y="6350"/>
                  </a:lnTo>
                  <a:lnTo>
                    <a:pt x="2957" y="6544"/>
                  </a:lnTo>
                  <a:lnTo>
                    <a:pt x="3053" y="6689"/>
                  </a:lnTo>
                  <a:lnTo>
                    <a:pt x="3247" y="6786"/>
                  </a:lnTo>
                  <a:lnTo>
                    <a:pt x="3441" y="6834"/>
                  </a:lnTo>
                  <a:lnTo>
                    <a:pt x="3635" y="6786"/>
                  </a:lnTo>
                  <a:lnTo>
                    <a:pt x="3780" y="6689"/>
                  </a:lnTo>
                  <a:lnTo>
                    <a:pt x="3877" y="6544"/>
                  </a:lnTo>
                  <a:lnTo>
                    <a:pt x="3926" y="6350"/>
                  </a:lnTo>
                  <a:lnTo>
                    <a:pt x="3926" y="5914"/>
                  </a:lnTo>
                  <a:lnTo>
                    <a:pt x="4410" y="5768"/>
                  </a:lnTo>
                  <a:lnTo>
                    <a:pt x="4798" y="5526"/>
                  </a:lnTo>
                  <a:lnTo>
                    <a:pt x="5137" y="5817"/>
                  </a:lnTo>
                  <a:lnTo>
                    <a:pt x="5283" y="5962"/>
                  </a:lnTo>
                  <a:lnTo>
                    <a:pt x="5671" y="5962"/>
                  </a:lnTo>
                  <a:lnTo>
                    <a:pt x="5864" y="5817"/>
                  </a:lnTo>
                  <a:lnTo>
                    <a:pt x="5961" y="5671"/>
                  </a:lnTo>
                  <a:lnTo>
                    <a:pt x="6010" y="5477"/>
                  </a:lnTo>
                  <a:lnTo>
                    <a:pt x="5961" y="5284"/>
                  </a:lnTo>
                  <a:lnTo>
                    <a:pt x="5864" y="5138"/>
                  </a:lnTo>
                  <a:lnTo>
                    <a:pt x="5525" y="4799"/>
                  </a:lnTo>
                  <a:lnTo>
                    <a:pt x="5767" y="4411"/>
                  </a:lnTo>
                  <a:lnTo>
                    <a:pt x="5913" y="3927"/>
                  </a:lnTo>
                  <a:lnTo>
                    <a:pt x="6349" y="3927"/>
                  </a:lnTo>
                  <a:lnTo>
                    <a:pt x="6543" y="3878"/>
                  </a:lnTo>
                  <a:lnTo>
                    <a:pt x="6688" y="3781"/>
                  </a:lnTo>
                  <a:lnTo>
                    <a:pt x="6785" y="3587"/>
                  </a:lnTo>
                  <a:lnTo>
                    <a:pt x="6834" y="3393"/>
                  </a:lnTo>
                  <a:lnTo>
                    <a:pt x="6785" y="3200"/>
                  </a:lnTo>
                  <a:lnTo>
                    <a:pt x="6688" y="3054"/>
                  </a:lnTo>
                  <a:lnTo>
                    <a:pt x="6543" y="2957"/>
                  </a:lnTo>
                  <a:lnTo>
                    <a:pt x="6349" y="2909"/>
                  </a:lnTo>
                  <a:lnTo>
                    <a:pt x="5913" y="2909"/>
                  </a:lnTo>
                  <a:lnTo>
                    <a:pt x="5767" y="2424"/>
                  </a:lnTo>
                  <a:lnTo>
                    <a:pt x="5525" y="2036"/>
                  </a:lnTo>
                  <a:lnTo>
                    <a:pt x="5864" y="1697"/>
                  </a:lnTo>
                  <a:lnTo>
                    <a:pt x="5961" y="1552"/>
                  </a:lnTo>
                  <a:lnTo>
                    <a:pt x="6010" y="1358"/>
                  </a:lnTo>
                  <a:lnTo>
                    <a:pt x="5961" y="1164"/>
                  </a:lnTo>
                  <a:lnTo>
                    <a:pt x="5864" y="1019"/>
                  </a:lnTo>
                  <a:lnTo>
                    <a:pt x="5671" y="873"/>
                  </a:lnTo>
                  <a:lnTo>
                    <a:pt x="5477" y="825"/>
                  </a:lnTo>
                  <a:lnTo>
                    <a:pt x="5283" y="873"/>
                  </a:lnTo>
                  <a:lnTo>
                    <a:pt x="5137" y="1019"/>
                  </a:lnTo>
                  <a:lnTo>
                    <a:pt x="4798" y="1309"/>
                  </a:lnTo>
                  <a:lnTo>
                    <a:pt x="4410" y="1067"/>
                  </a:lnTo>
                  <a:lnTo>
                    <a:pt x="3926" y="922"/>
                  </a:lnTo>
                  <a:lnTo>
                    <a:pt x="3926" y="486"/>
                  </a:lnTo>
                  <a:lnTo>
                    <a:pt x="3877" y="292"/>
                  </a:lnTo>
                  <a:lnTo>
                    <a:pt x="3780" y="146"/>
                  </a:lnTo>
                  <a:lnTo>
                    <a:pt x="3635" y="49"/>
                  </a:lnTo>
                  <a:lnTo>
                    <a:pt x="3441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64;p71">
              <a:extLst>
                <a:ext uri="{FF2B5EF4-FFF2-40B4-BE49-F238E27FC236}">
                  <a16:creationId xmlns:a16="http://schemas.microsoft.com/office/drawing/2014/main" id="{B2C0EBEB-2BED-4C1C-6283-1B5A6490E6F5}"/>
                </a:ext>
              </a:extLst>
            </p:cNvPr>
            <p:cNvSpPr/>
            <p:nvPr/>
          </p:nvSpPr>
          <p:spPr>
            <a:xfrm>
              <a:off x="7690348" y="1636200"/>
              <a:ext cx="23007" cy="23029"/>
            </a:xfrm>
            <a:custGeom>
              <a:avLst/>
              <a:gdLst/>
              <a:ahLst/>
              <a:cxnLst/>
              <a:rect l="l" t="t" r="r" b="b"/>
              <a:pathLst>
                <a:path w="1018" h="1019" extrusionOk="0">
                  <a:moveTo>
                    <a:pt x="533" y="1"/>
                  </a:moveTo>
                  <a:lnTo>
                    <a:pt x="339" y="49"/>
                  </a:lnTo>
                  <a:lnTo>
                    <a:pt x="145" y="146"/>
                  </a:lnTo>
                  <a:lnTo>
                    <a:pt x="49" y="292"/>
                  </a:lnTo>
                  <a:lnTo>
                    <a:pt x="0" y="485"/>
                  </a:lnTo>
                  <a:lnTo>
                    <a:pt x="49" y="679"/>
                  </a:lnTo>
                  <a:lnTo>
                    <a:pt x="145" y="873"/>
                  </a:lnTo>
                  <a:lnTo>
                    <a:pt x="339" y="970"/>
                  </a:lnTo>
                  <a:lnTo>
                    <a:pt x="533" y="1019"/>
                  </a:lnTo>
                  <a:lnTo>
                    <a:pt x="727" y="970"/>
                  </a:lnTo>
                  <a:lnTo>
                    <a:pt x="872" y="873"/>
                  </a:lnTo>
                  <a:lnTo>
                    <a:pt x="969" y="679"/>
                  </a:lnTo>
                  <a:lnTo>
                    <a:pt x="1018" y="485"/>
                  </a:lnTo>
                  <a:lnTo>
                    <a:pt x="969" y="292"/>
                  </a:lnTo>
                  <a:lnTo>
                    <a:pt x="872" y="146"/>
                  </a:lnTo>
                  <a:lnTo>
                    <a:pt x="727" y="49"/>
                  </a:lnTo>
                  <a:lnTo>
                    <a:pt x="533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3" name="Google Shape;1345;p71">
            <a:extLst>
              <a:ext uri="{FF2B5EF4-FFF2-40B4-BE49-F238E27FC236}">
                <a16:creationId xmlns:a16="http://schemas.microsoft.com/office/drawing/2014/main" id="{D0833DFA-1B99-F26D-AB85-2D1736AEE1F8}"/>
              </a:ext>
            </a:extLst>
          </p:cNvPr>
          <p:cNvGrpSpPr/>
          <p:nvPr/>
        </p:nvGrpSpPr>
        <p:grpSpPr>
          <a:xfrm>
            <a:off x="331076" y="3378433"/>
            <a:ext cx="291662" cy="249825"/>
            <a:chOff x="3288275" y="3988927"/>
            <a:chExt cx="391048" cy="392133"/>
          </a:xfrm>
        </p:grpSpPr>
        <p:sp>
          <p:nvSpPr>
            <p:cNvPr id="24" name="Google Shape;1346;p71">
              <a:extLst>
                <a:ext uri="{FF2B5EF4-FFF2-40B4-BE49-F238E27FC236}">
                  <a16:creationId xmlns:a16="http://schemas.microsoft.com/office/drawing/2014/main" id="{523108DB-1E49-29CC-1DA3-6E9398B09718}"/>
                </a:ext>
              </a:extLst>
            </p:cNvPr>
            <p:cNvSpPr/>
            <p:nvPr/>
          </p:nvSpPr>
          <p:spPr>
            <a:xfrm>
              <a:off x="3288275" y="3988927"/>
              <a:ext cx="391048" cy="392133"/>
            </a:xfrm>
            <a:custGeom>
              <a:avLst/>
              <a:gdLst/>
              <a:ahLst/>
              <a:cxnLst/>
              <a:rect l="l" t="t" r="r" b="b"/>
              <a:pathLst>
                <a:path w="17303" h="17351" extrusionOk="0">
                  <a:moveTo>
                    <a:pt x="12747" y="1018"/>
                  </a:moveTo>
                  <a:lnTo>
                    <a:pt x="12747" y="2181"/>
                  </a:lnTo>
                  <a:lnTo>
                    <a:pt x="12747" y="2472"/>
                  </a:lnTo>
                  <a:lnTo>
                    <a:pt x="12650" y="2763"/>
                  </a:lnTo>
                  <a:lnTo>
                    <a:pt x="12505" y="3005"/>
                  </a:lnTo>
                  <a:lnTo>
                    <a:pt x="12311" y="3247"/>
                  </a:lnTo>
                  <a:lnTo>
                    <a:pt x="12117" y="3393"/>
                  </a:lnTo>
                  <a:lnTo>
                    <a:pt x="11826" y="3538"/>
                  </a:lnTo>
                  <a:lnTo>
                    <a:pt x="11584" y="3635"/>
                  </a:lnTo>
                  <a:lnTo>
                    <a:pt x="11245" y="3683"/>
                  </a:lnTo>
                  <a:lnTo>
                    <a:pt x="5865" y="3683"/>
                  </a:lnTo>
                  <a:lnTo>
                    <a:pt x="5865" y="2520"/>
                  </a:lnTo>
                  <a:lnTo>
                    <a:pt x="5865" y="2230"/>
                  </a:lnTo>
                  <a:lnTo>
                    <a:pt x="5962" y="1939"/>
                  </a:lnTo>
                  <a:lnTo>
                    <a:pt x="6108" y="1696"/>
                  </a:lnTo>
                  <a:lnTo>
                    <a:pt x="6301" y="1454"/>
                  </a:lnTo>
                  <a:lnTo>
                    <a:pt x="6495" y="1260"/>
                  </a:lnTo>
                  <a:lnTo>
                    <a:pt x="6738" y="1163"/>
                  </a:lnTo>
                  <a:lnTo>
                    <a:pt x="7028" y="1066"/>
                  </a:lnTo>
                  <a:lnTo>
                    <a:pt x="7319" y="1018"/>
                  </a:lnTo>
                  <a:close/>
                  <a:moveTo>
                    <a:pt x="4847" y="5380"/>
                  </a:moveTo>
                  <a:lnTo>
                    <a:pt x="4847" y="6397"/>
                  </a:lnTo>
                  <a:lnTo>
                    <a:pt x="4314" y="6397"/>
                  </a:lnTo>
                  <a:lnTo>
                    <a:pt x="4120" y="6349"/>
                  </a:lnTo>
                  <a:lnTo>
                    <a:pt x="3975" y="6204"/>
                  </a:lnTo>
                  <a:lnTo>
                    <a:pt x="3830" y="6058"/>
                  </a:lnTo>
                  <a:lnTo>
                    <a:pt x="3830" y="5864"/>
                  </a:lnTo>
                  <a:lnTo>
                    <a:pt x="3830" y="5671"/>
                  </a:lnTo>
                  <a:lnTo>
                    <a:pt x="3975" y="5525"/>
                  </a:lnTo>
                  <a:lnTo>
                    <a:pt x="4120" y="5380"/>
                  </a:lnTo>
                  <a:close/>
                  <a:moveTo>
                    <a:pt x="13183" y="5380"/>
                  </a:moveTo>
                  <a:lnTo>
                    <a:pt x="13329" y="5525"/>
                  </a:lnTo>
                  <a:lnTo>
                    <a:pt x="13474" y="5671"/>
                  </a:lnTo>
                  <a:lnTo>
                    <a:pt x="13523" y="5864"/>
                  </a:lnTo>
                  <a:lnTo>
                    <a:pt x="13474" y="6058"/>
                  </a:lnTo>
                  <a:lnTo>
                    <a:pt x="13329" y="6204"/>
                  </a:lnTo>
                  <a:lnTo>
                    <a:pt x="13183" y="6349"/>
                  </a:lnTo>
                  <a:lnTo>
                    <a:pt x="12990" y="6397"/>
                  </a:lnTo>
                  <a:lnTo>
                    <a:pt x="12505" y="6397"/>
                  </a:lnTo>
                  <a:lnTo>
                    <a:pt x="12505" y="5380"/>
                  </a:lnTo>
                  <a:close/>
                  <a:moveTo>
                    <a:pt x="11487" y="4653"/>
                  </a:moveTo>
                  <a:lnTo>
                    <a:pt x="11487" y="6882"/>
                  </a:lnTo>
                  <a:lnTo>
                    <a:pt x="11439" y="7609"/>
                  </a:lnTo>
                  <a:lnTo>
                    <a:pt x="11390" y="7997"/>
                  </a:lnTo>
                  <a:lnTo>
                    <a:pt x="11293" y="8336"/>
                  </a:lnTo>
                  <a:lnTo>
                    <a:pt x="6011" y="8336"/>
                  </a:lnTo>
                  <a:lnTo>
                    <a:pt x="5865" y="7851"/>
                  </a:lnTo>
                  <a:lnTo>
                    <a:pt x="5865" y="7367"/>
                  </a:lnTo>
                  <a:lnTo>
                    <a:pt x="5865" y="6882"/>
                  </a:lnTo>
                  <a:lnTo>
                    <a:pt x="5865" y="4701"/>
                  </a:lnTo>
                  <a:lnTo>
                    <a:pt x="11487" y="4653"/>
                  </a:lnTo>
                  <a:close/>
                  <a:moveTo>
                    <a:pt x="2860" y="11922"/>
                  </a:moveTo>
                  <a:lnTo>
                    <a:pt x="2860" y="16333"/>
                  </a:lnTo>
                  <a:lnTo>
                    <a:pt x="1019" y="16333"/>
                  </a:lnTo>
                  <a:lnTo>
                    <a:pt x="1019" y="14297"/>
                  </a:lnTo>
                  <a:lnTo>
                    <a:pt x="1019" y="13861"/>
                  </a:lnTo>
                  <a:lnTo>
                    <a:pt x="1116" y="13473"/>
                  </a:lnTo>
                  <a:lnTo>
                    <a:pt x="1310" y="13134"/>
                  </a:lnTo>
                  <a:lnTo>
                    <a:pt x="1503" y="12795"/>
                  </a:lnTo>
                  <a:lnTo>
                    <a:pt x="1794" y="12504"/>
                  </a:lnTo>
                  <a:lnTo>
                    <a:pt x="2133" y="12262"/>
                  </a:lnTo>
                  <a:lnTo>
                    <a:pt x="2473" y="12068"/>
                  </a:lnTo>
                  <a:lnTo>
                    <a:pt x="2860" y="11922"/>
                  </a:lnTo>
                  <a:close/>
                  <a:moveTo>
                    <a:pt x="13426" y="9354"/>
                  </a:moveTo>
                  <a:lnTo>
                    <a:pt x="13426" y="16333"/>
                  </a:lnTo>
                  <a:lnTo>
                    <a:pt x="3878" y="16333"/>
                  </a:lnTo>
                  <a:lnTo>
                    <a:pt x="3878" y="9354"/>
                  </a:lnTo>
                  <a:close/>
                  <a:moveTo>
                    <a:pt x="14444" y="11922"/>
                  </a:moveTo>
                  <a:lnTo>
                    <a:pt x="14831" y="12068"/>
                  </a:lnTo>
                  <a:lnTo>
                    <a:pt x="15219" y="12262"/>
                  </a:lnTo>
                  <a:lnTo>
                    <a:pt x="15510" y="12504"/>
                  </a:lnTo>
                  <a:lnTo>
                    <a:pt x="15801" y="12795"/>
                  </a:lnTo>
                  <a:lnTo>
                    <a:pt x="15994" y="13134"/>
                  </a:lnTo>
                  <a:lnTo>
                    <a:pt x="16188" y="13473"/>
                  </a:lnTo>
                  <a:lnTo>
                    <a:pt x="16285" y="13861"/>
                  </a:lnTo>
                  <a:lnTo>
                    <a:pt x="16334" y="14297"/>
                  </a:lnTo>
                  <a:lnTo>
                    <a:pt x="16334" y="16333"/>
                  </a:lnTo>
                  <a:lnTo>
                    <a:pt x="14444" y="16333"/>
                  </a:lnTo>
                  <a:lnTo>
                    <a:pt x="14444" y="11922"/>
                  </a:lnTo>
                  <a:close/>
                  <a:moveTo>
                    <a:pt x="7319" y="0"/>
                  </a:moveTo>
                  <a:lnTo>
                    <a:pt x="6835" y="49"/>
                  </a:lnTo>
                  <a:lnTo>
                    <a:pt x="6350" y="194"/>
                  </a:lnTo>
                  <a:lnTo>
                    <a:pt x="5914" y="436"/>
                  </a:lnTo>
                  <a:lnTo>
                    <a:pt x="5574" y="727"/>
                  </a:lnTo>
                  <a:lnTo>
                    <a:pt x="5235" y="1115"/>
                  </a:lnTo>
                  <a:lnTo>
                    <a:pt x="5041" y="1551"/>
                  </a:lnTo>
                  <a:lnTo>
                    <a:pt x="4896" y="1987"/>
                  </a:lnTo>
                  <a:lnTo>
                    <a:pt x="4847" y="2520"/>
                  </a:lnTo>
                  <a:lnTo>
                    <a:pt x="4847" y="4168"/>
                  </a:lnTo>
                  <a:lnTo>
                    <a:pt x="4847" y="4362"/>
                  </a:lnTo>
                  <a:lnTo>
                    <a:pt x="4024" y="4362"/>
                  </a:lnTo>
                  <a:lnTo>
                    <a:pt x="3733" y="4459"/>
                  </a:lnTo>
                  <a:lnTo>
                    <a:pt x="3490" y="4604"/>
                  </a:lnTo>
                  <a:lnTo>
                    <a:pt x="3248" y="4798"/>
                  </a:lnTo>
                  <a:lnTo>
                    <a:pt x="3054" y="4992"/>
                  </a:lnTo>
                  <a:lnTo>
                    <a:pt x="2909" y="5283"/>
                  </a:lnTo>
                  <a:lnTo>
                    <a:pt x="2812" y="5574"/>
                  </a:lnTo>
                  <a:lnTo>
                    <a:pt x="2812" y="5864"/>
                  </a:lnTo>
                  <a:lnTo>
                    <a:pt x="2812" y="6155"/>
                  </a:lnTo>
                  <a:lnTo>
                    <a:pt x="2909" y="6446"/>
                  </a:lnTo>
                  <a:lnTo>
                    <a:pt x="3054" y="6737"/>
                  </a:lnTo>
                  <a:lnTo>
                    <a:pt x="3248" y="6931"/>
                  </a:lnTo>
                  <a:lnTo>
                    <a:pt x="3490" y="7124"/>
                  </a:lnTo>
                  <a:lnTo>
                    <a:pt x="3733" y="7270"/>
                  </a:lnTo>
                  <a:lnTo>
                    <a:pt x="4024" y="7367"/>
                  </a:lnTo>
                  <a:lnTo>
                    <a:pt x="4847" y="7367"/>
                  </a:lnTo>
                  <a:lnTo>
                    <a:pt x="4847" y="7851"/>
                  </a:lnTo>
                  <a:lnTo>
                    <a:pt x="4944" y="8336"/>
                  </a:lnTo>
                  <a:lnTo>
                    <a:pt x="3345" y="8336"/>
                  </a:lnTo>
                  <a:lnTo>
                    <a:pt x="3151" y="8385"/>
                  </a:lnTo>
                  <a:lnTo>
                    <a:pt x="3006" y="8481"/>
                  </a:lnTo>
                  <a:lnTo>
                    <a:pt x="2909" y="8627"/>
                  </a:lnTo>
                  <a:lnTo>
                    <a:pt x="2860" y="8869"/>
                  </a:lnTo>
                  <a:lnTo>
                    <a:pt x="2860" y="10856"/>
                  </a:lnTo>
                  <a:lnTo>
                    <a:pt x="2230" y="11050"/>
                  </a:lnTo>
                  <a:lnTo>
                    <a:pt x="1746" y="11292"/>
                  </a:lnTo>
                  <a:lnTo>
                    <a:pt x="1310" y="11583"/>
                  </a:lnTo>
                  <a:lnTo>
                    <a:pt x="922" y="11922"/>
                  </a:lnTo>
                  <a:lnTo>
                    <a:pt x="631" y="12310"/>
                  </a:lnTo>
                  <a:lnTo>
                    <a:pt x="340" y="12746"/>
                  </a:lnTo>
                  <a:lnTo>
                    <a:pt x="146" y="13231"/>
                  </a:lnTo>
                  <a:lnTo>
                    <a:pt x="49" y="13764"/>
                  </a:lnTo>
                  <a:lnTo>
                    <a:pt x="1" y="14297"/>
                  </a:lnTo>
                  <a:lnTo>
                    <a:pt x="1" y="16817"/>
                  </a:lnTo>
                  <a:lnTo>
                    <a:pt x="49" y="17060"/>
                  </a:lnTo>
                  <a:lnTo>
                    <a:pt x="146" y="17205"/>
                  </a:lnTo>
                  <a:lnTo>
                    <a:pt x="292" y="17302"/>
                  </a:lnTo>
                  <a:lnTo>
                    <a:pt x="486" y="17351"/>
                  </a:lnTo>
                  <a:lnTo>
                    <a:pt x="16818" y="17351"/>
                  </a:lnTo>
                  <a:lnTo>
                    <a:pt x="17012" y="17302"/>
                  </a:lnTo>
                  <a:lnTo>
                    <a:pt x="17158" y="17205"/>
                  </a:lnTo>
                  <a:lnTo>
                    <a:pt x="17303" y="17060"/>
                  </a:lnTo>
                  <a:lnTo>
                    <a:pt x="17303" y="16817"/>
                  </a:lnTo>
                  <a:lnTo>
                    <a:pt x="17303" y="14297"/>
                  </a:lnTo>
                  <a:lnTo>
                    <a:pt x="17303" y="13764"/>
                  </a:lnTo>
                  <a:lnTo>
                    <a:pt x="17158" y="13231"/>
                  </a:lnTo>
                  <a:lnTo>
                    <a:pt x="16964" y="12746"/>
                  </a:lnTo>
                  <a:lnTo>
                    <a:pt x="16721" y="12310"/>
                  </a:lnTo>
                  <a:lnTo>
                    <a:pt x="16382" y="11922"/>
                  </a:lnTo>
                  <a:lnTo>
                    <a:pt x="15994" y="11583"/>
                  </a:lnTo>
                  <a:lnTo>
                    <a:pt x="15558" y="11292"/>
                  </a:lnTo>
                  <a:lnTo>
                    <a:pt x="15074" y="11050"/>
                  </a:lnTo>
                  <a:lnTo>
                    <a:pt x="14444" y="10856"/>
                  </a:lnTo>
                  <a:lnTo>
                    <a:pt x="14444" y="8869"/>
                  </a:lnTo>
                  <a:lnTo>
                    <a:pt x="14444" y="8627"/>
                  </a:lnTo>
                  <a:lnTo>
                    <a:pt x="14298" y="8481"/>
                  </a:lnTo>
                  <a:lnTo>
                    <a:pt x="14153" y="8385"/>
                  </a:lnTo>
                  <a:lnTo>
                    <a:pt x="13959" y="8336"/>
                  </a:lnTo>
                  <a:lnTo>
                    <a:pt x="12360" y="8336"/>
                  </a:lnTo>
                  <a:lnTo>
                    <a:pt x="12456" y="7851"/>
                  </a:lnTo>
                  <a:lnTo>
                    <a:pt x="12505" y="7367"/>
                  </a:lnTo>
                  <a:lnTo>
                    <a:pt x="13280" y="7367"/>
                  </a:lnTo>
                  <a:lnTo>
                    <a:pt x="13571" y="7270"/>
                  </a:lnTo>
                  <a:lnTo>
                    <a:pt x="13862" y="7124"/>
                  </a:lnTo>
                  <a:lnTo>
                    <a:pt x="14056" y="6931"/>
                  </a:lnTo>
                  <a:lnTo>
                    <a:pt x="14250" y="6737"/>
                  </a:lnTo>
                  <a:lnTo>
                    <a:pt x="14395" y="6446"/>
                  </a:lnTo>
                  <a:lnTo>
                    <a:pt x="14492" y="6155"/>
                  </a:lnTo>
                  <a:lnTo>
                    <a:pt x="14492" y="5864"/>
                  </a:lnTo>
                  <a:lnTo>
                    <a:pt x="14492" y="5574"/>
                  </a:lnTo>
                  <a:lnTo>
                    <a:pt x="14395" y="5283"/>
                  </a:lnTo>
                  <a:lnTo>
                    <a:pt x="14250" y="4992"/>
                  </a:lnTo>
                  <a:lnTo>
                    <a:pt x="14056" y="4798"/>
                  </a:lnTo>
                  <a:lnTo>
                    <a:pt x="13862" y="4604"/>
                  </a:lnTo>
                  <a:lnTo>
                    <a:pt x="13571" y="4459"/>
                  </a:lnTo>
                  <a:lnTo>
                    <a:pt x="13280" y="4362"/>
                  </a:lnTo>
                  <a:lnTo>
                    <a:pt x="12505" y="4362"/>
                  </a:lnTo>
                  <a:lnTo>
                    <a:pt x="12796" y="4168"/>
                  </a:lnTo>
                  <a:lnTo>
                    <a:pt x="13038" y="3926"/>
                  </a:lnTo>
                  <a:lnTo>
                    <a:pt x="13232" y="3732"/>
                  </a:lnTo>
                  <a:lnTo>
                    <a:pt x="13426" y="3441"/>
                  </a:lnTo>
                  <a:lnTo>
                    <a:pt x="13571" y="3150"/>
                  </a:lnTo>
                  <a:lnTo>
                    <a:pt x="13668" y="2860"/>
                  </a:lnTo>
                  <a:lnTo>
                    <a:pt x="13765" y="2520"/>
                  </a:lnTo>
                  <a:lnTo>
                    <a:pt x="13765" y="2181"/>
                  </a:lnTo>
                  <a:lnTo>
                    <a:pt x="13765" y="533"/>
                  </a:lnTo>
                  <a:lnTo>
                    <a:pt x="13717" y="339"/>
                  </a:lnTo>
                  <a:lnTo>
                    <a:pt x="13620" y="146"/>
                  </a:lnTo>
                  <a:lnTo>
                    <a:pt x="13474" y="49"/>
                  </a:lnTo>
                  <a:lnTo>
                    <a:pt x="13280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347;p71">
              <a:extLst>
                <a:ext uri="{FF2B5EF4-FFF2-40B4-BE49-F238E27FC236}">
                  <a16:creationId xmlns:a16="http://schemas.microsoft.com/office/drawing/2014/main" id="{EC845E0B-63F1-0588-0CF8-81D75EEF96FB}"/>
                </a:ext>
              </a:extLst>
            </p:cNvPr>
            <p:cNvSpPr/>
            <p:nvPr/>
          </p:nvSpPr>
          <p:spPr>
            <a:xfrm>
              <a:off x="3522682" y="4243019"/>
              <a:ext cx="46036" cy="71235"/>
            </a:xfrm>
            <a:custGeom>
              <a:avLst/>
              <a:gdLst/>
              <a:ahLst/>
              <a:cxnLst/>
              <a:rect l="l" t="t" r="r" b="b"/>
              <a:pathLst>
                <a:path w="2037" h="3152" extrusionOk="0">
                  <a:moveTo>
                    <a:pt x="485" y="1"/>
                  </a:moveTo>
                  <a:lnTo>
                    <a:pt x="291" y="49"/>
                  </a:lnTo>
                  <a:lnTo>
                    <a:pt x="146" y="195"/>
                  </a:lnTo>
                  <a:lnTo>
                    <a:pt x="0" y="340"/>
                  </a:lnTo>
                  <a:lnTo>
                    <a:pt x="0" y="534"/>
                  </a:lnTo>
                  <a:lnTo>
                    <a:pt x="0" y="728"/>
                  </a:lnTo>
                  <a:lnTo>
                    <a:pt x="146" y="873"/>
                  </a:lnTo>
                  <a:lnTo>
                    <a:pt x="824" y="1600"/>
                  </a:lnTo>
                  <a:lnTo>
                    <a:pt x="146" y="2327"/>
                  </a:lnTo>
                  <a:lnTo>
                    <a:pt x="0" y="2473"/>
                  </a:lnTo>
                  <a:lnTo>
                    <a:pt x="0" y="2667"/>
                  </a:lnTo>
                  <a:lnTo>
                    <a:pt x="0" y="2860"/>
                  </a:lnTo>
                  <a:lnTo>
                    <a:pt x="146" y="3006"/>
                  </a:lnTo>
                  <a:lnTo>
                    <a:pt x="291" y="3151"/>
                  </a:lnTo>
                  <a:lnTo>
                    <a:pt x="679" y="3151"/>
                  </a:lnTo>
                  <a:lnTo>
                    <a:pt x="824" y="3006"/>
                  </a:lnTo>
                  <a:lnTo>
                    <a:pt x="1891" y="1940"/>
                  </a:lnTo>
                  <a:lnTo>
                    <a:pt x="2036" y="1794"/>
                  </a:lnTo>
                  <a:lnTo>
                    <a:pt x="2036" y="1600"/>
                  </a:lnTo>
                  <a:lnTo>
                    <a:pt x="2036" y="1406"/>
                  </a:lnTo>
                  <a:lnTo>
                    <a:pt x="1891" y="1261"/>
                  </a:lnTo>
                  <a:lnTo>
                    <a:pt x="824" y="195"/>
                  </a:lnTo>
                  <a:lnTo>
                    <a:pt x="679" y="49"/>
                  </a:lnTo>
                  <a:lnTo>
                    <a:pt x="485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348;p71">
              <a:extLst>
                <a:ext uri="{FF2B5EF4-FFF2-40B4-BE49-F238E27FC236}">
                  <a16:creationId xmlns:a16="http://schemas.microsoft.com/office/drawing/2014/main" id="{FA8F6FF1-CD66-58B5-9495-4414E0876569}"/>
                </a:ext>
              </a:extLst>
            </p:cNvPr>
            <p:cNvSpPr/>
            <p:nvPr/>
          </p:nvSpPr>
          <p:spPr>
            <a:xfrm>
              <a:off x="3398902" y="4243019"/>
              <a:ext cx="47121" cy="71235"/>
            </a:xfrm>
            <a:custGeom>
              <a:avLst/>
              <a:gdLst/>
              <a:ahLst/>
              <a:cxnLst/>
              <a:rect l="l" t="t" r="r" b="b"/>
              <a:pathLst>
                <a:path w="2085" h="3152" extrusionOk="0">
                  <a:moveTo>
                    <a:pt x="1552" y="1"/>
                  </a:moveTo>
                  <a:lnTo>
                    <a:pt x="1358" y="49"/>
                  </a:lnTo>
                  <a:lnTo>
                    <a:pt x="1213" y="195"/>
                  </a:lnTo>
                  <a:lnTo>
                    <a:pt x="146" y="1261"/>
                  </a:lnTo>
                  <a:lnTo>
                    <a:pt x="1" y="1406"/>
                  </a:lnTo>
                  <a:lnTo>
                    <a:pt x="1" y="1600"/>
                  </a:lnTo>
                  <a:lnTo>
                    <a:pt x="1" y="1794"/>
                  </a:lnTo>
                  <a:lnTo>
                    <a:pt x="146" y="1940"/>
                  </a:lnTo>
                  <a:lnTo>
                    <a:pt x="1213" y="3006"/>
                  </a:lnTo>
                  <a:lnTo>
                    <a:pt x="1358" y="3151"/>
                  </a:lnTo>
                  <a:lnTo>
                    <a:pt x="1746" y="3151"/>
                  </a:lnTo>
                  <a:lnTo>
                    <a:pt x="1940" y="3006"/>
                  </a:lnTo>
                  <a:lnTo>
                    <a:pt x="2036" y="2860"/>
                  </a:lnTo>
                  <a:lnTo>
                    <a:pt x="2085" y="2667"/>
                  </a:lnTo>
                  <a:lnTo>
                    <a:pt x="2036" y="2473"/>
                  </a:lnTo>
                  <a:lnTo>
                    <a:pt x="1940" y="2327"/>
                  </a:lnTo>
                  <a:lnTo>
                    <a:pt x="1213" y="1600"/>
                  </a:lnTo>
                  <a:lnTo>
                    <a:pt x="1940" y="873"/>
                  </a:lnTo>
                  <a:lnTo>
                    <a:pt x="2036" y="728"/>
                  </a:lnTo>
                  <a:lnTo>
                    <a:pt x="2085" y="534"/>
                  </a:lnTo>
                  <a:lnTo>
                    <a:pt x="2036" y="340"/>
                  </a:lnTo>
                  <a:lnTo>
                    <a:pt x="1940" y="195"/>
                  </a:lnTo>
                  <a:lnTo>
                    <a:pt x="1746" y="49"/>
                  </a:lnTo>
                  <a:lnTo>
                    <a:pt x="1552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349;p71">
              <a:extLst>
                <a:ext uri="{FF2B5EF4-FFF2-40B4-BE49-F238E27FC236}">
                  <a16:creationId xmlns:a16="http://schemas.microsoft.com/office/drawing/2014/main" id="{F21F0F73-2194-8A64-6ACC-6A7D303DA9BC}"/>
                </a:ext>
              </a:extLst>
            </p:cNvPr>
            <p:cNvSpPr/>
            <p:nvPr/>
          </p:nvSpPr>
          <p:spPr>
            <a:xfrm>
              <a:off x="3461346" y="4225504"/>
              <a:ext cx="44929" cy="107373"/>
            </a:xfrm>
            <a:custGeom>
              <a:avLst/>
              <a:gdLst/>
              <a:ahLst/>
              <a:cxnLst/>
              <a:rect l="l" t="t" r="r" b="b"/>
              <a:pathLst>
                <a:path w="1988" h="4751" extrusionOk="0">
                  <a:moveTo>
                    <a:pt x="1406" y="1"/>
                  </a:moveTo>
                  <a:lnTo>
                    <a:pt x="1212" y="97"/>
                  </a:lnTo>
                  <a:lnTo>
                    <a:pt x="1067" y="194"/>
                  </a:lnTo>
                  <a:lnTo>
                    <a:pt x="970" y="388"/>
                  </a:lnTo>
                  <a:lnTo>
                    <a:pt x="49" y="4120"/>
                  </a:lnTo>
                  <a:lnTo>
                    <a:pt x="0" y="4314"/>
                  </a:lnTo>
                  <a:lnTo>
                    <a:pt x="97" y="4508"/>
                  </a:lnTo>
                  <a:lnTo>
                    <a:pt x="194" y="4653"/>
                  </a:lnTo>
                  <a:lnTo>
                    <a:pt x="388" y="4750"/>
                  </a:lnTo>
                  <a:lnTo>
                    <a:pt x="582" y="4750"/>
                  </a:lnTo>
                  <a:lnTo>
                    <a:pt x="776" y="4653"/>
                  </a:lnTo>
                  <a:lnTo>
                    <a:pt x="921" y="4556"/>
                  </a:lnTo>
                  <a:lnTo>
                    <a:pt x="1018" y="4362"/>
                  </a:lnTo>
                  <a:lnTo>
                    <a:pt x="1987" y="631"/>
                  </a:lnTo>
                  <a:lnTo>
                    <a:pt x="1987" y="437"/>
                  </a:lnTo>
                  <a:lnTo>
                    <a:pt x="1891" y="243"/>
                  </a:lnTo>
                  <a:lnTo>
                    <a:pt x="1794" y="97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350;p71">
              <a:extLst>
                <a:ext uri="{FF2B5EF4-FFF2-40B4-BE49-F238E27FC236}">
                  <a16:creationId xmlns:a16="http://schemas.microsoft.com/office/drawing/2014/main" id="{32B0242A-185A-ABA9-B6B0-E39A71162EB1}"/>
                </a:ext>
              </a:extLst>
            </p:cNvPr>
            <p:cNvSpPr/>
            <p:nvPr/>
          </p:nvSpPr>
          <p:spPr>
            <a:xfrm>
              <a:off x="3443808" y="4118154"/>
              <a:ext cx="23029" cy="21945"/>
            </a:xfrm>
            <a:custGeom>
              <a:avLst/>
              <a:gdLst/>
              <a:ahLst/>
              <a:cxnLst/>
              <a:rect l="l" t="t" r="r" b="b"/>
              <a:pathLst>
                <a:path w="1019" h="971" extrusionOk="0">
                  <a:moveTo>
                    <a:pt x="292" y="1"/>
                  </a:moveTo>
                  <a:lnTo>
                    <a:pt x="146" y="146"/>
                  </a:lnTo>
                  <a:lnTo>
                    <a:pt x="1" y="292"/>
                  </a:lnTo>
                  <a:lnTo>
                    <a:pt x="1" y="486"/>
                  </a:lnTo>
                  <a:lnTo>
                    <a:pt x="1" y="679"/>
                  </a:lnTo>
                  <a:lnTo>
                    <a:pt x="146" y="825"/>
                  </a:lnTo>
                  <a:lnTo>
                    <a:pt x="292" y="970"/>
                  </a:lnTo>
                  <a:lnTo>
                    <a:pt x="680" y="970"/>
                  </a:lnTo>
                  <a:lnTo>
                    <a:pt x="825" y="825"/>
                  </a:lnTo>
                  <a:lnTo>
                    <a:pt x="970" y="679"/>
                  </a:lnTo>
                  <a:lnTo>
                    <a:pt x="1019" y="486"/>
                  </a:lnTo>
                  <a:lnTo>
                    <a:pt x="970" y="292"/>
                  </a:lnTo>
                  <a:lnTo>
                    <a:pt x="825" y="146"/>
                  </a:lnTo>
                  <a:lnTo>
                    <a:pt x="680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351;p71">
              <a:extLst>
                <a:ext uri="{FF2B5EF4-FFF2-40B4-BE49-F238E27FC236}">
                  <a16:creationId xmlns:a16="http://schemas.microsoft.com/office/drawing/2014/main" id="{6ABF1E64-102E-2170-B4DD-B10582B6650D}"/>
                </a:ext>
              </a:extLst>
            </p:cNvPr>
            <p:cNvSpPr/>
            <p:nvPr/>
          </p:nvSpPr>
          <p:spPr>
            <a:xfrm>
              <a:off x="3501867" y="4118154"/>
              <a:ext cx="23029" cy="21945"/>
            </a:xfrm>
            <a:custGeom>
              <a:avLst/>
              <a:gdLst/>
              <a:ahLst/>
              <a:cxnLst/>
              <a:rect l="l" t="t" r="r" b="b"/>
              <a:pathLst>
                <a:path w="1019" h="971" extrusionOk="0">
                  <a:moveTo>
                    <a:pt x="291" y="1"/>
                  </a:moveTo>
                  <a:lnTo>
                    <a:pt x="146" y="146"/>
                  </a:lnTo>
                  <a:lnTo>
                    <a:pt x="1" y="292"/>
                  </a:lnTo>
                  <a:lnTo>
                    <a:pt x="1" y="486"/>
                  </a:lnTo>
                  <a:lnTo>
                    <a:pt x="1" y="679"/>
                  </a:lnTo>
                  <a:lnTo>
                    <a:pt x="146" y="825"/>
                  </a:lnTo>
                  <a:lnTo>
                    <a:pt x="291" y="970"/>
                  </a:lnTo>
                  <a:lnTo>
                    <a:pt x="679" y="970"/>
                  </a:lnTo>
                  <a:lnTo>
                    <a:pt x="873" y="825"/>
                  </a:lnTo>
                  <a:lnTo>
                    <a:pt x="970" y="679"/>
                  </a:lnTo>
                  <a:lnTo>
                    <a:pt x="1018" y="486"/>
                  </a:lnTo>
                  <a:lnTo>
                    <a:pt x="970" y="292"/>
                  </a:lnTo>
                  <a:lnTo>
                    <a:pt x="873" y="146"/>
                  </a:lnTo>
                  <a:lnTo>
                    <a:pt x="679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428558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15B9FE3B-F2FA-9FD1-FE7E-BC7190DF5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C0DE8F92-EDE2-FF96-BDCA-C92E0296FAF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311477"/>
            <a:ext cx="4344300" cy="1061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200" dirty="0"/>
              <a:t>Data Cleaning &amp; Feature Preparation</a:t>
            </a:r>
            <a:endParaRPr sz="3200" dirty="0"/>
          </a:p>
        </p:txBody>
      </p:sp>
      <p:sp>
        <p:nvSpPr>
          <p:cNvPr id="430" name="Google Shape;430;p40">
            <a:extLst>
              <a:ext uri="{FF2B5EF4-FFF2-40B4-BE49-F238E27FC236}">
                <a16:creationId xmlns:a16="http://schemas.microsoft.com/office/drawing/2014/main" id="{E19B5A95-8354-D3CD-09DF-9247952AA85E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D8CC3FF3-32FD-F2E2-086B-9F229FF975E8}"/>
              </a:ext>
            </a:extLst>
          </p:cNvPr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F74851CC-54C5-7373-AC82-8D3268CCEC5A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DC42FC59-0317-38A1-FD44-5A1284795115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60B08FC7-E44A-744E-1630-24BCE96A6F7D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9DC75872-BEA2-7128-4A7A-4D7856F2D56A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5E219DC4-98A9-1AFF-9015-9BF67374FF74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E4B95B1B-8236-506E-001E-20B400057828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CD595C9F-3CAF-EBBE-92D5-576FE01A9B58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DB55BB40-6128-9856-D225-DA45F3334FDC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744FFD25-4793-E6D2-A13F-5A63F4827F99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39DC5B43-E2BA-F30F-1CD9-7061CCCF08C6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8EEE9E27-3BFD-4F00-DF6A-5A9EC4000608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6340BBDC-23D9-54E5-614F-232F1B8B0AC9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CCC01CC4-4BF9-127E-C85B-7E560013A4B9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2BAFDE3D-20A3-F60F-4954-00CB86140EC9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B87772F2-037D-7273-3659-7E1F4D95E441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F21CA732-5E9A-76B9-3FA5-4ADF3E8C1171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307BE5D7-1311-FD85-0D28-E2D8B1A2558B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9D92F1EA-B8FF-2067-2E70-9D19119C1597}"/>
              </a:ext>
            </a:extLst>
          </p:cNvPr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D2A4E6DF-AEA1-220D-C373-6C01574A1038}"/>
              </a:ext>
            </a:extLst>
          </p:cNvPr>
          <p:cNvSpPr txBox="1"/>
          <p:nvPr/>
        </p:nvSpPr>
        <p:spPr>
          <a:xfrm>
            <a:off x="713225" y="3353707"/>
            <a:ext cx="4008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384655"/>
                </a:solidFill>
                <a:latin typeface="DM Sans" pitchFamily="2" charset="0"/>
              </a:rPr>
              <a:t>Transforming raw data into structured form by handling nulls and creating analytical features.</a:t>
            </a:r>
            <a:endParaRPr lang="en-US" dirty="0">
              <a:solidFill>
                <a:srgbClr val="384655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23881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4C3FD9-6F84-5C04-E458-D15B51F8F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99E32093-B5EA-306F-385A-B6FBA514EFC3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6B0FAF8C-1F0F-D2F4-75A1-6D837866CD6F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3BF3E20C-8900-6018-869E-A0F05AA5A8DB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73D35BFC-A324-47E1-30D5-7ABBB01D1F08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C7CF69-CFC5-29C5-E9D8-65F9954E3EF9}"/>
              </a:ext>
            </a:extLst>
          </p:cNvPr>
          <p:cNvSpPr txBox="1"/>
          <p:nvPr/>
        </p:nvSpPr>
        <p:spPr>
          <a:xfrm>
            <a:off x="1171354" y="267880"/>
            <a:ext cx="7201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Data Cleaning &amp; Preparation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52124A-ACC8-1062-E200-50978CE2D82F}"/>
              </a:ext>
            </a:extLst>
          </p:cNvPr>
          <p:cNvSpPr txBox="1"/>
          <p:nvPr/>
        </p:nvSpPr>
        <p:spPr>
          <a:xfrm>
            <a:off x="315310" y="2143989"/>
            <a:ext cx="8409335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      Key Cleaning Steps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Guest &amp; Stay Details:</a:t>
            </a:r>
          </a:p>
          <a:p>
            <a:r>
              <a:rPr lang="en-US" sz="800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Fixed missing or invalid guest counts (adults, children, babies) and removed zero/negative stay 	durations.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Booking Source Classification:</a:t>
            </a:r>
          </a:p>
          <a:p>
            <a:r>
              <a:rPr lang="en-US" sz="800" b="1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Derived </a:t>
            </a:r>
            <a:r>
              <a:rPr lang="en-US" sz="1300" dirty="0" err="1">
                <a:latin typeface="DM Sans" pitchFamily="2" charset="0"/>
              </a:rPr>
              <a:t>booking_source</a:t>
            </a:r>
            <a:r>
              <a:rPr lang="en-US" sz="1300" dirty="0">
                <a:latin typeface="DM Sans" pitchFamily="2" charset="0"/>
              </a:rPr>
              <a:t>, </a:t>
            </a:r>
            <a:r>
              <a:rPr lang="en-US" sz="1300" dirty="0" err="1">
                <a:latin typeface="DM Sans" pitchFamily="2" charset="0"/>
              </a:rPr>
              <a:t>source_id</a:t>
            </a:r>
            <a:r>
              <a:rPr lang="en-US" sz="1300" dirty="0">
                <a:latin typeface="DM Sans" pitchFamily="2" charset="0"/>
              </a:rPr>
              <a:t>, </a:t>
            </a:r>
            <a:r>
              <a:rPr lang="en-US" sz="1300" dirty="0" err="1">
                <a:latin typeface="DM Sans" pitchFamily="2" charset="0"/>
              </a:rPr>
              <a:t>agent_flag</a:t>
            </a:r>
            <a:r>
              <a:rPr lang="en-US" sz="1300" dirty="0">
                <a:latin typeface="DM Sans" pitchFamily="2" charset="0"/>
              </a:rPr>
              <a:t>, and </a:t>
            </a:r>
            <a:r>
              <a:rPr lang="en-US" sz="1300" dirty="0" err="1">
                <a:latin typeface="DM Sans" pitchFamily="2" charset="0"/>
              </a:rPr>
              <a:t>company_flag</a:t>
            </a:r>
            <a:r>
              <a:rPr lang="en-US" sz="1300" dirty="0">
                <a:latin typeface="DM Sans" pitchFamily="2" charset="0"/>
              </a:rPr>
              <a:t> to categorize bookings as 	</a:t>
            </a:r>
            <a:r>
              <a:rPr lang="en-US" sz="1300" b="1" dirty="0">
                <a:latin typeface="DM Sans" pitchFamily="2" charset="0"/>
              </a:rPr>
              <a:t>Agent</a:t>
            </a:r>
            <a:r>
              <a:rPr lang="en-US" sz="1300" dirty="0">
                <a:latin typeface="DM Sans" pitchFamily="2" charset="0"/>
              </a:rPr>
              <a:t>, </a:t>
            </a:r>
            <a:r>
              <a:rPr lang="en-US" sz="1300" b="1" dirty="0">
                <a:latin typeface="DM Sans" pitchFamily="2" charset="0"/>
              </a:rPr>
              <a:t>Company</a:t>
            </a:r>
            <a:r>
              <a:rPr lang="en-US" sz="1300" dirty="0">
                <a:latin typeface="DM Sans" pitchFamily="2" charset="0"/>
              </a:rPr>
              <a:t>, or </a:t>
            </a:r>
            <a:r>
              <a:rPr lang="en-US" sz="1300" b="1" dirty="0">
                <a:latin typeface="DM Sans" pitchFamily="2" charset="0"/>
              </a:rPr>
              <a:t>Direct</a:t>
            </a:r>
            <a:r>
              <a:rPr lang="en-US" sz="1300" dirty="0">
                <a:latin typeface="DM Sans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Country &amp; Continent Mapping:</a:t>
            </a:r>
          </a:p>
          <a:p>
            <a:r>
              <a:rPr lang="en-US" sz="800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Replaced blank or null country values with 'Unknown' and mapped each to its </a:t>
            </a:r>
            <a:r>
              <a:rPr lang="en-US" sz="1300" b="1" dirty="0">
                <a:latin typeface="DM Sans" pitchFamily="2" charset="0"/>
              </a:rPr>
              <a:t>continent</a:t>
            </a:r>
            <a:r>
              <a:rPr lang="en-US" sz="1300" dirty="0">
                <a:latin typeface="DM Sans" pitchFamily="2" charset="0"/>
              </a:rPr>
              <a:t> via  	lookup table.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76A94E-A4C2-A8D5-DD41-38CE7B482BA9}"/>
              </a:ext>
            </a:extLst>
          </p:cNvPr>
          <p:cNvSpPr txBox="1"/>
          <p:nvPr/>
        </p:nvSpPr>
        <p:spPr>
          <a:xfrm>
            <a:off x="315310" y="1021268"/>
            <a:ext cx="8600089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DM Sans" pitchFamily="2" charset="0"/>
              </a:rPr>
              <a:t>      Objective</a:t>
            </a:r>
          </a:p>
          <a:p>
            <a:pPr>
              <a:buNone/>
            </a:pPr>
            <a:endParaRPr lang="en-US" b="1" dirty="0">
              <a:latin typeface="DM Sans" pitchFamily="2" charset="0"/>
            </a:endParaRPr>
          </a:p>
          <a:p>
            <a:pPr>
              <a:buNone/>
            </a:pPr>
            <a:r>
              <a:rPr lang="en-US" dirty="0">
                <a:latin typeface="DM Sans" pitchFamily="2" charset="0"/>
              </a:rPr>
              <a:t>To ensure accuracy and consistency by performing column-wise cleaning, null handling, and sanity checks for analytical readiness.</a:t>
            </a:r>
          </a:p>
        </p:txBody>
      </p:sp>
      <p:sp>
        <p:nvSpPr>
          <p:cNvPr id="17" name="Google Shape;9190;p84">
            <a:extLst>
              <a:ext uri="{FF2B5EF4-FFF2-40B4-BE49-F238E27FC236}">
                <a16:creationId xmlns:a16="http://schemas.microsoft.com/office/drawing/2014/main" id="{F6BC25DC-9DBC-FD69-269C-E13A73E62595}"/>
              </a:ext>
            </a:extLst>
          </p:cNvPr>
          <p:cNvSpPr/>
          <p:nvPr/>
        </p:nvSpPr>
        <p:spPr>
          <a:xfrm>
            <a:off x="321021" y="1044329"/>
            <a:ext cx="260131" cy="250293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pic>
        <p:nvPicPr>
          <p:cNvPr id="21" name="Picture 20" descr="A blue and yellow circular object with a broom&#10;&#10;AI-generated content may be incorrect.">
            <a:extLst>
              <a:ext uri="{FF2B5EF4-FFF2-40B4-BE49-F238E27FC236}">
                <a16:creationId xmlns:a16="http://schemas.microsoft.com/office/drawing/2014/main" id="{6206007F-8FE2-678F-BA03-29E974DA9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10" y="2143988"/>
            <a:ext cx="326734" cy="32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478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2C1444-311E-A58E-0015-FEBB70BFE3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DEA2C5A1-0E75-39BA-4162-2CAAB8974B90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BDF5A10B-FB8A-4D00-462E-5B52389EE5C5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9B40909C-B429-8A98-1DF2-90E9FA82EB04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01EE0EE7-938B-3199-D650-47A8C77FF513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D82D2C-A481-3C59-D3BD-2D1C896DD179}"/>
              </a:ext>
            </a:extLst>
          </p:cNvPr>
          <p:cNvSpPr txBox="1"/>
          <p:nvPr/>
        </p:nvSpPr>
        <p:spPr>
          <a:xfrm>
            <a:off x="1171354" y="267880"/>
            <a:ext cx="7201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Data Cleaning &amp; Preparation Process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0DDE0E0-A0A3-9740-8FE8-E380F2926358}"/>
              </a:ext>
            </a:extLst>
          </p:cNvPr>
          <p:cNvSpPr txBox="1"/>
          <p:nvPr/>
        </p:nvSpPr>
        <p:spPr>
          <a:xfrm>
            <a:off x="315310" y="1245704"/>
            <a:ext cx="840933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      Key Cleaning Steps</a:t>
            </a:r>
          </a:p>
          <a:p>
            <a:endParaRPr lang="en-US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latin typeface="DM Sans" pitchFamily="2" charset="0"/>
              </a:rPr>
              <a:t>Financial &amp; Duration Checks:</a:t>
            </a:r>
            <a:endParaRPr lang="en-US" b="1" dirty="0">
              <a:latin typeface="DM Sans" pitchFamily="2" charset="0"/>
            </a:endParaRPr>
          </a:p>
          <a:p>
            <a:r>
              <a:rPr lang="en-US" sz="800" dirty="0">
                <a:latin typeface="DM Sans" pitchFamily="2" charset="0"/>
              </a:rPr>
              <a:t> 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	Corrected negative </a:t>
            </a:r>
            <a:r>
              <a:rPr lang="en-US" dirty="0" err="1">
                <a:latin typeface="DM Sans" pitchFamily="2" charset="0"/>
              </a:rPr>
              <a:t>adr</a:t>
            </a:r>
            <a:r>
              <a:rPr lang="en-US" dirty="0">
                <a:latin typeface="DM Sans" pitchFamily="2" charset="0"/>
              </a:rPr>
              <a:t> values and validated </a:t>
            </a:r>
            <a:r>
              <a:rPr lang="en-US" dirty="0" err="1">
                <a:latin typeface="DM Sans" pitchFamily="2" charset="0"/>
              </a:rPr>
              <a:t>lead_time</a:t>
            </a:r>
            <a:r>
              <a:rPr lang="en-US" dirty="0">
                <a:latin typeface="DM Sans" pitchFamily="2" charset="0"/>
              </a:rPr>
              <a:t> ranges to remove unrealistic 	entries.</a:t>
            </a:r>
          </a:p>
          <a:p>
            <a:endParaRPr lang="en-US" sz="8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latin typeface="DM Sans" pitchFamily="2" charset="0"/>
              </a:rPr>
              <a:t>Repeat Guest Validation:</a:t>
            </a:r>
            <a:r>
              <a:rPr lang="en-US" b="1" dirty="0">
                <a:latin typeface="DM Sans" pitchFamily="2" charset="0"/>
              </a:rPr>
              <a:t> </a:t>
            </a:r>
          </a:p>
          <a:p>
            <a:r>
              <a:rPr lang="en-US" sz="800" b="1" dirty="0">
                <a:latin typeface="DM Sans" pitchFamily="2" charset="0"/>
              </a:rPr>
              <a:t> 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	Cross-checked </a:t>
            </a:r>
            <a:r>
              <a:rPr lang="en-US" dirty="0" err="1">
                <a:latin typeface="DM Sans" pitchFamily="2" charset="0"/>
              </a:rPr>
              <a:t>is_repeated_guest</a:t>
            </a:r>
            <a:r>
              <a:rPr lang="en-US" dirty="0">
                <a:latin typeface="DM Sans" pitchFamily="2" charset="0"/>
              </a:rPr>
              <a:t> with previous booking history and added logical flags 	for </a:t>
            </a:r>
            <a:r>
              <a:rPr lang="en-US" b="1" dirty="0">
                <a:latin typeface="DM Sans" pitchFamily="2" charset="0"/>
              </a:rPr>
              <a:t>repeat consistency</a:t>
            </a:r>
            <a:r>
              <a:rPr lang="en-US" dirty="0">
                <a:latin typeface="DM Sans" pitchFamily="2" charset="0"/>
              </a:rPr>
              <a:t>.</a:t>
            </a:r>
          </a:p>
          <a:p>
            <a:endParaRPr lang="en-US" sz="8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b="1" dirty="0">
                <a:latin typeface="DM Sans" pitchFamily="2" charset="0"/>
              </a:rPr>
              <a:t>Sanity &amp; Consistency Tests:</a:t>
            </a:r>
            <a:r>
              <a:rPr lang="en-US" b="1" dirty="0">
                <a:latin typeface="DM Sans" pitchFamily="2" charset="0"/>
              </a:rPr>
              <a:t> </a:t>
            </a:r>
          </a:p>
          <a:p>
            <a:r>
              <a:rPr lang="en-US" sz="800" dirty="0">
                <a:latin typeface="DM Sans" pitchFamily="2" charset="0"/>
              </a:rPr>
              <a:t> </a:t>
            </a:r>
            <a:br>
              <a:rPr lang="en-US" dirty="0">
                <a:latin typeface="DM Sans" pitchFamily="2" charset="0"/>
              </a:rPr>
            </a:br>
            <a:r>
              <a:rPr lang="en-US" dirty="0">
                <a:latin typeface="DM Sans" pitchFamily="2" charset="0"/>
              </a:rPr>
              <a:t>	Verified distinct values in key fields (hotel, meal, </a:t>
            </a:r>
            <a:r>
              <a:rPr lang="en-US" dirty="0" err="1">
                <a:latin typeface="DM Sans" pitchFamily="2" charset="0"/>
              </a:rPr>
              <a:t>deposit_type</a:t>
            </a:r>
            <a:r>
              <a:rPr lang="en-US" dirty="0">
                <a:latin typeface="DM Sans" pitchFamily="2" charset="0"/>
              </a:rPr>
              <a:t>, </a:t>
            </a:r>
            <a:r>
              <a:rPr lang="en-US" dirty="0" err="1">
                <a:latin typeface="DM Sans" pitchFamily="2" charset="0"/>
              </a:rPr>
              <a:t>market_segment</a:t>
            </a:r>
            <a:r>
              <a:rPr lang="en-US" dirty="0">
                <a:latin typeface="DM Sans" pitchFamily="2" charset="0"/>
              </a:rPr>
              <a:t>) and 	ensured </a:t>
            </a:r>
            <a:r>
              <a:rPr lang="en-US" b="1" dirty="0">
                <a:latin typeface="DM Sans" pitchFamily="2" charset="0"/>
              </a:rPr>
              <a:t>no nulls</a:t>
            </a:r>
            <a:r>
              <a:rPr lang="en-US" dirty="0">
                <a:latin typeface="DM Sans" pitchFamily="2" charset="0"/>
              </a:rPr>
              <a:t> in critical columns.</a:t>
            </a:r>
          </a:p>
        </p:txBody>
      </p:sp>
      <p:pic>
        <p:nvPicPr>
          <p:cNvPr id="7" name="Picture 6" descr="A blue and yellow circular object with a broom&#10;&#10;AI-generated content may be incorrect.">
            <a:extLst>
              <a:ext uri="{FF2B5EF4-FFF2-40B4-BE49-F238E27FC236}">
                <a16:creationId xmlns:a16="http://schemas.microsoft.com/office/drawing/2014/main" id="{D664C605-71AF-7E91-D86D-F8F113CC4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310" y="1244811"/>
            <a:ext cx="326734" cy="3267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6386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DCA5D-94F1-909D-4F9F-607FEBB5B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9E76E9CB-39E8-1324-B013-44C1B04521DB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141A9565-6E9D-F152-CADB-81ABC5955218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34ECC874-BDA1-3ECC-EEC7-BD511B26B258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87B4BF12-B631-2B4D-A4CB-8A37B5A404C2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AB79CDE-B0EF-9B67-F94F-61AE995C412D}"/>
              </a:ext>
            </a:extLst>
          </p:cNvPr>
          <p:cNvSpPr txBox="1"/>
          <p:nvPr/>
        </p:nvSpPr>
        <p:spPr>
          <a:xfrm>
            <a:off x="1171353" y="267880"/>
            <a:ext cx="755329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Feature Engineering &amp; Derived Columns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2950E2-A10C-2146-3DFA-6B9F93473B9B}"/>
              </a:ext>
            </a:extLst>
          </p:cNvPr>
          <p:cNvSpPr txBox="1"/>
          <p:nvPr/>
        </p:nvSpPr>
        <p:spPr>
          <a:xfrm>
            <a:off x="315309" y="1711591"/>
            <a:ext cx="8409335" cy="34009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      </a:t>
            </a:r>
            <a:r>
              <a:rPr lang="en-IN" b="1" dirty="0">
                <a:latin typeface="DM Sans" pitchFamily="2" charset="0"/>
              </a:rPr>
              <a:t>Key Derived Features</a:t>
            </a:r>
            <a:endParaRPr lang="en-US" b="1" dirty="0">
              <a:latin typeface="DM Sans" pitchFamily="2" charset="0"/>
            </a:endParaRPr>
          </a:p>
          <a:p>
            <a:endParaRPr lang="en-US" sz="13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latin typeface="DM Sans" pitchFamily="2" charset="0"/>
              </a:rPr>
              <a:t>Arrival &amp; Reservation Dates</a:t>
            </a:r>
            <a:r>
              <a:rPr lang="en-US" sz="1300" b="1" dirty="0">
                <a:latin typeface="DM Sans" pitchFamily="2" charset="0"/>
              </a:rPr>
              <a:t>:</a:t>
            </a:r>
          </a:p>
          <a:p>
            <a:r>
              <a:rPr lang="en-US" sz="800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-&gt;Combined day, month, and year columns into a single </a:t>
            </a:r>
            <a:r>
              <a:rPr lang="en-US" sz="1300" dirty="0" err="1">
                <a:latin typeface="DM Sans" pitchFamily="2" charset="0"/>
              </a:rPr>
              <a:t>arrival_date</a:t>
            </a:r>
            <a:r>
              <a:rPr lang="en-US" sz="1300" dirty="0">
                <a:latin typeface="DM Sans" pitchFamily="2" charset="0"/>
              </a:rPr>
              <a:t>.</a:t>
            </a:r>
          </a:p>
          <a:p>
            <a:r>
              <a:rPr lang="en-US" sz="1300" dirty="0">
                <a:latin typeface="DM Sans" pitchFamily="2" charset="0"/>
              </a:rPr>
              <a:t>	-&gt;Converted </a:t>
            </a:r>
            <a:r>
              <a:rPr lang="en-US" sz="1300" dirty="0" err="1">
                <a:latin typeface="DM Sans" pitchFamily="2" charset="0"/>
              </a:rPr>
              <a:t>reservation_status_date</a:t>
            </a:r>
            <a:r>
              <a:rPr lang="en-US" sz="1300" dirty="0">
                <a:latin typeface="DM Sans" pitchFamily="2" charset="0"/>
              </a:rPr>
              <a:t> into a valid SQL date (</a:t>
            </a:r>
            <a:r>
              <a:rPr lang="en-US" sz="1300" dirty="0" err="1">
                <a:latin typeface="DM Sans" pitchFamily="2" charset="0"/>
              </a:rPr>
              <a:t>reservation_status_dt</a:t>
            </a:r>
            <a:r>
              <a:rPr lang="en-US" sz="1300" dirty="0">
                <a:latin typeface="DM Sans" pitchFamily="2" charset="0"/>
              </a:rPr>
              <a:t>).</a:t>
            </a:r>
          </a:p>
          <a:p>
            <a:r>
              <a:rPr lang="en-US" sz="1300" dirty="0">
                <a:latin typeface="DM Sans" pitchFamily="2" charset="0"/>
              </a:rPr>
              <a:t>	-&gt;Ensured both fields fall within the dataset range </a:t>
            </a:r>
            <a:r>
              <a:rPr lang="en-US" sz="1300" i="1" dirty="0">
                <a:latin typeface="DM Sans" pitchFamily="2" charset="0"/>
              </a:rPr>
              <a:t>(Jul 2015 – Aug 2017)</a:t>
            </a:r>
            <a:r>
              <a:rPr lang="en-US" sz="1300" dirty="0">
                <a:latin typeface="DM Sans" pitchFamily="2" charset="0"/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latin typeface="DM Sans" pitchFamily="2" charset="0"/>
              </a:rPr>
              <a:t>Stay &amp; Guest Metrics:</a:t>
            </a:r>
            <a:r>
              <a:rPr lang="en-US" sz="1300" b="1" dirty="0">
                <a:latin typeface="DM Sans" pitchFamily="2" charset="0"/>
              </a:rPr>
              <a:t> </a:t>
            </a:r>
          </a:p>
          <a:p>
            <a:r>
              <a:rPr lang="en-US" sz="800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-&gt;Created </a:t>
            </a:r>
            <a:r>
              <a:rPr lang="en-US" sz="1300" dirty="0" err="1">
                <a:latin typeface="DM Sans" pitchFamily="2" charset="0"/>
              </a:rPr>
              <a:t>stay_length</a:t>
            </a:r>
            <a:r>
              <a:rPr lang="en-US" sz="1300" dirty="0">
                <a:latin typeface="DM Sans" pitchFamily="2" charset="0"/>
              </a:rPr>
              <a:t> = </a:t>
            </a:r>
            <a:r>
              <a:rPr lang="en-US" sz="1300" dirty="0" err="1">
                <a:latin typeface="DM Sans" pitchFamily="2" charset="0"/>
              </a:rPr>
              <a:t>stays_in_weekend_nights</a:t>
            </a:r>
            <a:r>
              <a:rPr lang="en-US" sz="1300" dirty="0">
                <a:latin typeface="DM Sans" pitchFamily="2" charset="0"/>
              </a:rPr>
              <a:t> + </a:t>
            </a:r>
            <a:r>
              <a:rPr lang="en-US" sz="1300" dirty="0" err="1">
                <a:latin typeface="DM Sans" pitchFamily="2" charset="0"/>
              </a:rPr>
              <a:t>stays_in_week_nights</a:t>
            </a:r>
            <a:r>
              <a:rPr lang="en-US" sz="1300" dirty="0">
                <a:latin typeface="DM Sans" pitchFamily="2" charset="0"/>
              </a:rPr>
              <a:t>.	</a:t>
            </a:r>
          </a:p>
          <a:p>
            <a:pPr lvl="3"/>
            <a:r>
              <a:rPr lang="en-US" sz="1300" dirty="0">
                <a:latin typeface="DM Sans" pitchFamily="2" charset="0"/>
              </a:rPr>
              <a:t>	-&gt;Created </a:t>
            </a:r>
            <a:r>
              <a:rPr lang="en-US" sz="1300" dirty="0" err="1">
                <a:latin typeface="DM Sans" pitchFamily="2" charset="0"/>
              </a:rPr>
              <a:t>guest_count</a:t>
            </a:r>
            <a:r>
              <a:rPr lang="en-US" sz="1300" dirty="0">
                <a:latin typeface="DM Sans" pitchFamily="2" charset="0"/>
              </a:rPr>
              <a:t> = adults + children + babies.</a:t>
            </a:r>
          </a:p>
          <a:p>
            <a:r>
              <a:rPr lang="en-US" sz="1300" dirty="0">
                <a:latin typeface="DM Sans" pitchFamily="2" charset="0"/>
              </a:rPr>
              <a:t>	-&gt;Used for occupancy and group size analysis.</a:t>
            </a:r>
          </a:p>
          <a:p>
            <a:endParaRPr lang="en-US" sz="8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latin typeface="DM Sans" pitchFamily="2" charset="0"/>
              </a:rPr>
              <a:t>Cancellation Flag:</a:t>
            </a:r>
          </a:p>
          <a:p>
            <a:r>
              <a:rPr lang="en-IN" sz="800" b="1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-&gt;Derived binary column </a:t>
            </a:r>
            <a:r>
              <a:rPr lang="en-US" sz="1300" dirty="0" err="1">
                <a:latin typeface="DM Sans" pitchFamily="2" charset="0"/>
              </a:rPr>
              <a:t>cancellation_flag</a:t>
            </a:r>
            <a:r>
              <a:rPr lang="en-US" sz="1300" dirty="0">
                <a:latin typeface="DM Sans" pitchFamily="2" charset="0"/>
              </a:rPr>
              <a:t> from </a:t>
            </a:r>
            <a:r>
              <a:rPr lang="en-US" sz="1300" dirty="0" err="1">
                <a:latin typeface="DM Sans" pitchFamily="2" charset="0"/>
              </a:rPr>
              <a:t>is_canceled</a:t>
            </a:r>
            <a:r>
              <a:rPr lang="en-US" sz="1300" dirty="0">
                <a:latin typeface="DM Sans" pitchFamily="2" charset="0"/>
              </a:rPr>
              <a:t>.	</a:t>
            </a:r>
          </a:p>
          <a:p>
            <a:pPr lvl="3"/>
            <a:r>
              <a:rPr lang="en-US" sz="1300" dirty="0">
                <a:latin typeface="DM Sans" pitchFamily="2" charset="0"/>
              </a:rPr>
              <a:t>	-&gt;Simplifies cancellation rate calculations in SQL and Power BI.	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1C8CC43-D8D9-867D-87A8-BFBC514056E8}"/>
              </a:ext>
            </a:extLst>
          </p:cNvPr>
          <p:cNvSpPr txBox="1"/>
          <p:nvPr/>
        </p:nvSpPr>
        <p:spPr>
          <a:xfrm>
            <a:off x="315308" y="1116350"/>
            <a:ext cx="86000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>
                <a:latin typeface="DM Sans" pitchFamily="2" charset="0"/>
              </a:rPr>
              <a:t>      Objective: </a:t>
            </a:r>
            <a:r>
              <a:rPr lang="en-US" dirty="0">
                <a:latin typeface="DM Sans" pitchFamily="2" charset="0"/>
              </a:rPr>
              <a:t>To enhance the dataset with analytical columns that simplify trend detection, performance measurement, and KPI computation.</a:t>
            </a:r>
          </a:p>
        </p:txBody>
      </p:sp>
      <p:sp>
        <p:nvSpPr>
          <p:cNvPr id="17" name="Google Shape;9190;p84">
            <a:extLst>
              <a:ext uri="{FF2B5EF4-FFF2-40B4-BE49-F238E27FC236}">
                <a16:creationId xmlns:a16="http://schemas.microsoft.com/office/drawing/2014/main" id="{E3928067-593C-DD47-C48C-161A68FBB57B}"/>
              </a:ext>
            </a:extLst>
          </p:cNvPr>
          <p:cNvSpPr/>
          <p:nvPr/>
        </p:nvSpPr>
        <p:spPr>
          <a:xfrm>
            <a:off x="348609" y="1128044"/>
            <a:ext cx="260131" cy="250293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grpSp>
        <p:nvGrpSpPr>
          <p:cNvPr id="13" name="Google Shape;1278;p71">
            <a:extLst>
              <a:ext uri="{FF2B5EF4-FFF2-40B4-BE49-F238E27FC236}">
                <a16:creationId xmlns:a16="http://schemas.microsoft.com/office/drawing/2014/main" id="{17343988-A6C6-79BC-166F-79B0B9A9F2A6}"/>
              </a:ext>
            </a:extLst>
          </p:cNvPr>
          <p:cNvGrpSpPr/>
          <p:nvPr/>
        </p:nvGrpSpPr>
        <p:grpSpPr>
          <a:xfrm>
            <a:off x="331957" y="1769776"/>
            <a:ext cx="276783" cy="193032"/>
            <a:chOff x="7408842" y="2635120"/>
            <a:chExt cx="392133" cy="392155"/>
          </a:xfrm>
        </p:grpSpPr>
        <p:sp>
          <p:nvSpPr>
            <p:cNvPr id="14" name="Google Shape;1279;p71">
              <a:extLst>
                <a:ext uri="{FF2B5EF4-FFF2-40B4-BE49-F238E27FC236}">
                  <a16:creationId xmlns:a16="http://schemas.microsoft.com/office/drawing/2014/main" id="{42102FEF-39DB-F7AF-83C4-1FC486C671A2}"/>
                </a:ext>
              </a:extLst>
            </p:cNvPr>
            <p:cNvSpPr/>
            <p:nvPr/>
          </p:nvSpPr>
          <p:spPr>
            <a:xfrm>
              <a:off x="7408842" y="2773138"/>
              <a:ext cx="392133" cy="254137"/>
            </a:xfrm>
            <a:custGeom>
              <a:avLst/>
              <a:gdLst/>
              <a:ahLst/>
              <a:cxnLst/>
              <a:rect l="l" t="t" r="r" b="b"/>
              <a:pathLst>
                <a:path w="17351" h="11245" extrusionOk="0">
                  <a:moveTo>
                    <a:pt x="14298" y="9160"/>
                  </a:moveTo>
                  <a:lnTo>
                    <a:pt x="14298" y="10226"/>
                  </a:lnTo>
                  <a:lnTo>
                    <a:pt x="3054" y="10226"/>
                  </a:lnTo>
                  <a:lnTo>
                    <a:pt x="3054" y="9160"/>
                  </a:lnTo>
                  <a:close/>
                  <a:moveTo>
                    <a:pt x="15655" y="1018"/>
                  </a:moveTo>
                  <a:lnTo>
                    <a:pt x="15897" y="1066"/>
                  </a:lnTo>
                  <a:lnTo>
                    <a:pt x="16139" y="1212"/>
                  </a:lnTo>
                  <a:lnTo>
                    <a:pt x="16285" y="1406"/>
                  </a:lnTo>
                  <a:lnTo>
                    <a:pt x="16333" y="1696"/>
                  </a:lnTo>
                  <a:lnTo>
                    <a:pt x="16333" y="10226"/>
                  </a:lnTo>
                  <a:lnTo>
                    <a:pt x="15315" y="10226"/>
                  </a:lnTo>
                  <a:lnTo>
                    <a:pt x="15315" y="8675"/>
                  </a:lnTo>
                  <a:lnTo>
                    <a:pt x="15267" y="8482"/>
                  </a:lnTo>
                  <a:lnTo>
                    <a:pt x="15170" y="8288"/>
                  </a:lnTo>
                  <a:lnTo>
                    <a:pt x="15025" y="8191"/>
                  </a:lnTo>
                  <a:lnTo>
                    <a:pt x="14831" y="8142"/>
                  </a:lnTo>
                  <a:lnTo>
                    <a:pt x="2569" y="8142"/>
                  </a:lnTo>
                  <a:lnTo>
                    <a:pt x="2327" y="8191"/>
                  </a:lnTo>
                  <a:lnTo>
                    <a:pt x="2181" y="8288"/>
                  </a:lnTo>
                  <a:lnTo>
                    <a:pt x="2085" y="8482"/>
                  </a:lnTo>
                  <a:lnTo>
                    <a:pt x="2036" y="8675"/>
                  </a:lnTo>
                  <a:lnTo>
                    <a:pt x="2036" y="10226"/>
                  </a:lnTo>
                  <a:lnTo>
                    <a:pt x="1018" y="10226"/>
                  </a:lnTo>
                  <a:lnTo>
                    <a:pt x="1018" y="1696"/>
                  </a:lnTo>
                  <a:lnTo>
                    <a:pt x="1067" y="1406"/>
                  </a:lnTo>
                  <a:lnTo>
                    <a:pt x="1212" y="1212"/>
                  </a:lnTo>
                  <a:lnTo>
                    <a:pt x="1454" y="1066"/>
                  </a:lnTo>
                  <a:lnTo>
                    <a:pt x="1697" y="1018"/>
                  </a:lnTo>
                  <a:close/>
                  <a:moveTo>
                    <a:pt x="1697" y="0"/>
                  </a:moveTo>
                  <a:lnTo>
                    <a:pt x="1358" y="49"/>
                  </a:lnTo>
                  <a:lnTo>
                    <a:pt x="1018" y="146"/>
                  </a:lnTo>
                  <a:lnTo>
                    <a:pt x="776" y="291"/>
                  </a:lnTo>
                  <a:lnTo>
                    <a:pt x="485" y="485"/>
                  </a:lnTo>
                  <a:lnTo>
                    <a:pt x="291" y="727"/>
                  </a:lnTo>
                  <a:lnTo>
                    <a:pt x="146" y="1018"/>
                  </a:lnTo>
                  <a:lnTo>
                    <a:pt x="49" y="1357"/>
                  </a:lnTo>
                  <a:lnTo>
                    <a:pt x="1" y="1696"/>
                  </a:lnTo>
                  <a:lnTo>
                    <a:pt x="1" y="10711"/>
                  </a:lnTo>
                  <a:lnTo>
                    <a:pt x="49" y="10905"/>
                  </a:lnTo>
                  <a:lnTo>
                    <a:pt x="146" y="11099"/>
                  </a:lnTo>
                  <a:lnTo>
                    <a:pt x="340" y="11196"/>
                  </a:lnTo>
                  <a:lnTo>
                    <a:pt x="534" y="11244"/>
                  </a:lnTo>
                  <a:lnTo>
                    <a:pt x="16818" y="11244"/>
                  </a:lnTo>
                  <a:lnTo>
                    <a:pt x="17012" y="11196"/>
                  </a:lnTo>
                  <a:lnTo>
                    <a:pt x="17206" y="11099"/>
                  </a:lnTo>
                  <a:lnTo>
                    <a:pt x="17303" y="10905"/>
                  </a:lnTo>
                  <a:lnTo>
                    <a:pt x="17351" y="10711"/>
                  </a:lnTo>
                  <a:lnTo>
                    <a:pt x="17351" y="1696"/>
                  </a:lnTo>
                  <a:lnTo>
                    <a:pt x="17303" y="1357"/>
                  </a:lnTo>
                  <a:lnTo>
                    <a:pt x="17206" y="1018"/>
                  </a:lnTo>
                  <a:lnTo>
                    <a:pt x="17060" y="727"/>
                  </a:lnTo>
                  <a:lnTo>
                    <a:pt x="16866" y="485"/>
                  </a:lnTo>
                  <a:lnTo>
                    <a:pt x="16576" y="291"/>
                  </a:lnTo>
                  <a:lnTo>
                    <a:pt x="16333" y="146"/>
                  </a:lnTo>
                  <a:lnTo>
                    <a:pt x="15994" y="49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80;p71">
              <a:extLst>
                <a:ext uri="{FF2B5EF4-FFF2-40B4-BE49-F238E27FC236}">
                  <a16:creationId xmlns:a16="http://schemas.microsoft.com/office/drawing/2014/main" id="{C3408A18-AFCE-636E-B7B2-2AE6DE5EDA32}"/>
                </a:ext>
              </a:extLst>
            </p:cNvPr>
            <p:cNvSpPr/>
            <p:nvPr/>
          </p:nvSpPr>
          <p:spPr>
            <a:xfrm>
              <a:off x="7685964" y="2819129"/>
              <a:ext cx="23007" cy="23029"/>
            </a:xfrm>
            <a:custGeom>
              <a:avLst/>
              <a:gdLst/>
              <a:ahLst/>
              <a:cxnLst/>
              <a:rect l="l" t="t" r="r" b="b"/>
              <a:pathLst>
                <a:path w="1018" h="1019" extrusionOk="0">
                  <a:moveTo>
                    <a:pt x="291" y="1"/>
                  </a:moveTo>
                  <a:lnTo>
                    <a:pt x="146" y="146"/>
                  </a:lnTo>
                  <a:lnTo>
                    <a:pt x="49" y="292"/>
                  </a:lnTo>
                  <a:lnTo>
                    <a:pt x="0" y="485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533" y="1018"/>
                  </a:lnTo>
                  <a:lnTo>
                    <a:pt x="727" y="970"/>
                  </a:lnTo>
                  <a:lnTo>
                    <a:pt x="873" y="873"/>
                  </a:lnTo>
                  <a:lnTo>
                    <a:pt x="969" y="679"/>
                  </a:lnTo>
                  <a:lnTo>
                    <a:pt x="1018" y="485"/>
                  </a:lnTo>
                  <a:lnTo>
                    <a:pt x="969" y="292"/>
                  </a:lnTo>
                  <a:lnTo>
                    <a:pt x="873" y="146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281;p71">
              <a:extLst>
                <a:ext uri="{FF2B5EF4-FFF2-40B4-BE49-F238E27FC236}">
                  <a16:creationId xmlns:a16="http://schemas.microsoft.com/office/drawing/2014/main" id="{28D4F5C8-2742-F381-AF9E-E3FC74C962CD}"/>
                </a:ext>
              </a:extLst>
            </p:cNvPr>
            <p:cNvSpPr/>
            <p:nvPr/>
          </p:nvSpPr>
          <p:spPr>
            <a:xfrm>
              <a:off x="7454856" y="2819129"/>
              <a:ext cx="104073" cy="23029"/>
            </a:xfrm>
            <a:custGeom>
              <a:avLst/>
              <a:gdLst/>
              <a:ahLst/>
              <a:cxnLst/>
              <a:rect l="l" t="t" r="r" b="b"/>
              <a:pathLst>
                <a:path w="4605" h="1019" extrusionOk="0">
                  <a:moveTo>
                    <a:pt x="533" y="1"/>
                  </a:moveTo>
                  <a:lnTo>
                    <a:pt x="291" y="49"/>
                  </a:lnTo>
                  <a:lnTo>
                    <a:pt x="145" y="146"/>
                  </a:lnTo>
                  <a:lnTo>
                    <a:pt x="49" y="292"/>
                  </a:lnTo>
                  <a:lnTo>
                    <a:pt x="0" y="485"/>
                  </a:lnTo>
                  <a:lnTo>
                    <a:pt x="49" y="679"/>
                  </a:lnTo>
                  <a:lnTo>
                    <a:pt x="145" y="873"/>
                  </a:lnTo>
                  <a:lnTo>
                    <a:pt x="291" y="970"/>
                  </a:lnTo>
                  <a:lnTo>
                    <a:pt x="533" y="1018"/>
                  </a:lnTo>
                  <a:lnTo>
                    <a:pt x="4071" y="1018"/>
                  </a:lnTo>
                  <a:lnTo>
                    <a:pt x="4265" y="970"/>
                  </a:lnTo>
                  <a:lnTo>
                    <a:pt x="4459" y="873"/>
                  </a:lnTo>
                  <a:lnTo>
                    <a:pt x="4556" y="679"/>
                  </a:lnTo>
                  <a:lnTo>
                    <a:pt x="4604" y="485"/>
                  </a:lnTo>
                  <a:lnTo>
                    <a:pt x="4556" y="292"/>
                  </a:lnTo>
                  <a:lnTo>
                    <a:pt x="4459" y="146"/>
                  </a:lnTo>
                  <a:lnTo>
                    <a:pt x="4265" y="49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282;p71">
              <a:extLst>
                <a:ext uri="{FF2B5EF4-FFF2-40B4-BE49-F238E27FC236}">
                  <a16:creationId xmlns:a16="http://schemas.microsoft.com/office/drawing/2014/main" id="{46837ABB-6580-5F76-F5FB-F4179BDB6010}"/>
                </a:ext>
              </a:extLst>
            </p:cNvPr>
            <p:cNvSpPr/>
            <p:nvPr/>
          </p:nvSpPr>
          <p:spPr>
            <a:xfrm>
              <a:off x="7454856" y="2865142"/>
              <a:ext cx="208123" cy="69020"/>
            </a:xfrm>
            <a:custGeom>
              <a:avLst/>
              <a:gdLst/>
              <a:ahLst/>
              <a:cxnLst/>
              <a:rect l="l" t="t" r="r" b="b"/>
              <a:pathLst>
                <a:path w="9209" h="3054" extrusionOk="0">
                  <a:moveTo>
                    <a:pt x="8191" y="1018"/>
                  </a:moveTo>
                  <a:lnTo>
                    <a:pt x="8191" y="2036"/>
                  </a:lnTo>
                  <a:lnTo>
                    <a:pt x="1018" y="2036"/>
                  </a:lnTo>
                  <a:lnTo>
                    <a:pt x="1018" y="1018"/>
                  </a:lnTo>
                  <a:close/>
                  <a:moveTo>
                    <a:pt x="533" y="0"/>
                  </a:moveTo>
                  <a:lnTo>
                    <a:pt x="291" y="49"/>
                  </a:lnTo>
                  <a:lnTo>
                    <a:pt x="145" y="146"/>
                  </a:lnTo>
                  <a:lnTo>
                    <a:pt x="49" y="340"/>
                  </a:lnTo>
                  <a:lnTo>
                    <a:pt x="0" y="533"/>
                  </a:lnTo>
                  <a:lnTo>
                    <a:pt x="0" y="2569"/>
                  </a:lnTo>
                  <a:lnTo>
                    <a:pt x="49" y="2763"/>
                  </a:lnTo>
                  <a:lnTo>
                    <a:pt x="145" y="2908"/>
                  </a:lnTo>
                  <a:lnTo>
                    <a:pt x="291" y="3005"/>
                  </a:lnTo>
                  <a:lnTo>
                    <a:pt x="533" y="3054"/>
                  </a:lnTo>
                  <a:lnTo>
                    <a:pt x="8724" y="3054"/>
                  </a:lnTo>
                  <a:lnTo>
                    <a:pt x="8918" y="3005"/>
                  </a:lnTo>
                  <a:lnTo>
                    <a:pt x="9063" y="2908"/>
                  </a:lnTo>
                  <a:lnTo>
                    <a:pt x="9160" y="2763"/>
                  </a:lnTo>
                  <a:lnTo>
                    <a:pt x="9208" y="2569"/>
                  </a:lnTo>
                  <a:lnTo>
                    <a:pt x="9208" y="533"/>
                  </a:lnTo>
                  <a:lnTo>
                    <a:pt x="9160" y="340"/>
                  </a:lnTo>
                  <a:lnTo>
                    <a:pt x="9063" y="146"/>
                  </a:lnTo>
                  <a:lnTo>
                    <a:pt x="8918" y="49"/>
                  </a:lnTo>
                  <a:lnTo>
                    <a:pt x="8724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283;p71">
              <a:extLst>
                <a:ext uri="{FF2B5EF4-FFF2-40B4-BE49-F238E27FC236}">
                  <a16:creationId xmlns:a16="http://schemas.microsoft.com/office/drawing/2014/main" id="{309F057F-58C6-409B-3EE6-3DC7FE10C99D}"/>
                </a:ext>
              </a:extLst>
            </p:cNvPr>
            <p:cNvSpPr/>
            <p:nvPr/>
          </p:nvSpPr>
          <p:spPr>
            <a:xfrm>
              <a:off x="7685964" y="2865142"/>
              <a:ext cx="69020" cy="69020"/>
            </a:xfrm>
            <a:custGeom>
              <a:avLst/>
              <a:gdLst/>
              <a:ahLst/>
              <a:cxnLst/>
              <a:rect l="l" t="t" r="r" b="b"/>
              <a:pathLst>
                <a:path w="3054" h="3054" extrusionOk="0">
                  <a:moveTo>
                    <a:pt x="2036" y="1018"/>
                  </a:moveTo>
                  <a:lnTo>
                    <a:pt x="2036" y="2036"/>
                  </a:lnTo>
                  <a:lnTo>
                    <a:pt x="1018" y="2036"/>
                  </a:lnTo>
                  <a:lnTo>
                    <a:pt x="1018" y="1018"/>
                  </a:lnTo>
                  <a:close/>
                  <a:moveTo>
                    <a:pt x="533" y="0"/>
                  </a:moveTo>
                  <a:lnTo>
                    <a:pt x="339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0" y="533"/>
                  </a:lnTo>
                  <a:lnTo>
                    <a:pt x="0" y="2569"/>
                  </a:lnTo>
                  <a:lnTo>
                    <a:pt x="49" y="2763"/>
                  </a:lnTo>
                  <a:lnTo>
                    <a:pt x="146" y="2908"/>
                  </a:lnTo>
                  <a:lnTo>
                    <a:pt x="339" y="3005"/>
                  </a:lnTo>
                  <a:lnTo>
                    <a:pt x="533" y="3054"/>
                  </a:lnTo>
                  <a:lnTo>
                    <a:pt x="2569" y="3054"/>
                  </a:lnTo>
                  <a:lnTo>
                    <a:pt x="2763" y="3005"/>
                  </a:lnTo>
                  <a:lnTo>
                    <a:pt x="2908" y="2908"/>
                  </a:lnTo>
                  <a:lnTo>
                    <a:pt x="3005" y="2763"/>
                  </a:lnTo>
                  <a:lnTo>
                    <a:pt x="3053" y="2569"/>
                  </a:lnTo>
                  <a:lnTo>
                    <a:pt x="3053" y="533"/>
                  </a:lnTo>
                  <a:lnTo>
                    <a:pt x="3005" y="340"/>
                  </a:lnTo>
                  <a:lnTo>
                    <a:pt x="2908" y="146"/>
                  </a:lnTo>
                  <a:lnTo>
                    <a:pt x="2763" y="49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284;p71">
              <a:extLst>
                <a:ext uri="{FF2B5EF4-FFF2-40B4-BE49-F238E27FC236}">
                  <a16:creationId xmlns:a16="http://schemas.microsoft.com/office/drawing/2014/main" id="{CC728E32-92E0-B4D8-039B-73CC205FC58D}"/>
                </a:ext>
              </a:extLst>
            </p:cNvPr>
            <p:cNvSpPr/>
            <p:nvPr/>
          </p:nvSpPr>
          <p:spPr>
            <a:xfrm>
              <a:off x="7408842" y="2635120"/>
              <a:ext cx="392133" cy="115034"/>
            </a:xfrm>
            <a:custGeom>
              <a:avLst/>
              <a:gdLst/>
              <a:ahLst/>
              <a:cxnLst/>
              <a:rect l="l" t="t" r="r" b="b"/>
              <a:pathLst>
                <a:path w="17351" h="5090" extrusionOk="0">
                  <a:moveTo>
                    <a:pt x="12601" y="1018"/>
                  </a:moveTo>
                  <a:lnTo>
                    <a:pt x="12601" y="1988"/>
                  </a:lnTo>
                  <a:lnTo>
                    <a:pt x="3393" y="1988"/>
                  </a:lnTo>
                  <a:lnTo>
                    <a:pt x="3393" y="1018"/>
                  </a:lnTo>
                  <a:close/>
                  <a:moveTo>
                    <a:pt x="13619" y="1358"/>
                  </a:moveTo>
                  <a:lnTo>
                    <a:pt x="15800" y="2521"/>
                  </a:lnTo>
                  <a:lnTo>
                    <a:pt x="13619" y="3684"/>
                  </a:lnTo>
                  <a:lnTo>
                    <a:pt x="13619" y="1358"/>
                  </a:lnTo>
                  <a:close/>
                  <a:moveTo>
                    <a:pt x="2375" y="1018"/>
                  </a:moveTo>
                  <a:lnTo>
                    <a:pt x="2375" y="4072"/>
                  </a:lnTo>
                  <a:lnTo>
                    <a:pt x="1503" y="4072"/>
                  </a:lnTo>
                  <a:lnTo>
                    <a:pt x="1309" y="4023"/>
                  </a:lnTo>
                  <a:lnTo>
                    <a:pt x="1164" y="3926"/>
                  </a:lnTo>
                  <a:lnTo>
                    <a:pt x="1067" y="3781"/>
                  </a:lnTo>
                  <a:lnTo>
                    <a:pt x="1018" y="3587"/>
                  </a:lnTo>
                  <a:lnTo>
                    <a:pt x="1018" y="1503"/>
                  </a:lnTo>
                  <a:lnTo>
                    <a:pt x="1067" y="1309"/>
                  </a:lnTo>
                  <a:lnTo>
                    <a:pt x="1164" y="1164"/>
                  </a:lnTo>
                  <a:lnTo>
                    <a:pt x="1309" y="1067"/>
                  </a:lnTo>
                  <a:lnTo>
                    <a:pt x="1503" y="1018"/>
                  </a:lnTo>
                  <a:close/>
                  <a:moveTo>
                    <a:pt x="12601" y="3005"/>
                  </a:moveTo>
                  <a:lnTo>
                    <a:pt x="12601" y="4072"/>
                  </a:lnTo>
                  <a:lnTo>
                    <a:pt x="3393" y="4072"/>
                  </a:lnTo>
                  <a:lnTo>
                    <a:pt x="3393" y="3005"/>
                  </a:lnTo>
                  <a:close/>
                  <a:moveTo>
                    <a:pt x="1503" y="1"/>
                  </a:moveTo>
                  <a:lnTo>
                    <a:pt x="1212" y="49"/>
                  </a:lnTo>
                  <a:lnTo>
                    <a:pt x="921" y="98"/>
                  </a:lnTo>
                  <a:lnTo>
                    <a:pt x="679" y="243"/>
                  </a:lnTo>
                  <a:lnTo>
                    <a:pt x="437" y="437"/>
                  </a:lnTo>
                  <a:lnTo>
                    <a:pt x="243" y="679"/>
                  </a:lnTo>
                  <a:lnTo>
                    <a:pt x="146" y="921"/>
                  </a:lnTo>
                  <a:lnTo>
                    <a:pt x="49" y="1212"/>
                  </a:lnTo>
                  <a:lnTo>
                    <a:pt x="1" y="1503"/>
                  </a:lnTo>
                  <a:lnTo>
                    <a:pt x="1" y="3587"/>
                  </a:lnTo>
                  <a:lnTo>
                    <a:pt x="49" y="3878"/>
                  </a:lnTo>
                  <a:lnTo>
                    <a:pt x="146" y="4169"/>
                  </a:lnTo>
                  <a:lnTo>
                    <a:pt x="243" y="4411"/>
                  </a:lnTo>
                  <a:lnTo>
                    <a:pt x="437" y="4653"/>
                  </a:lnTo>
                  <a:lnTo>
                    <a:pt x="679" y="4799"/>
                  </a:lnTo>
                  <a:lnTo>
                    <a:pt x="921" y="4944"/>
                  </a:lnTo>
                  <a:lnTo>
                    <a:pt x="1212" y="5041"/>
                  </a:lnTo>
                  <a:lnTo>
                    <a:pt x="1503" y="5089"/>
                  </a:lnTo>
                  <a:lnTo>
                    <a:pt x="13135" y="5089"/>
                  </a:lnTo>
                  <a:lnTo>
                    <a:pt x="13231" y="5041"/>
                  </a:lnTo>
                  <a:lnTo>
                    <a:pt x="13377" y="4993"/>
                  </a:lnTo>
                  <a:lnTo>
                    <a:pt x="17060" y="2957"/>
                  </a:lnTo>
                  <a:lnTo>
                    <a:pt x="17206" y="2860"/>
                  </a:lnTo>
                  <a:lnTo>
                    <a:pt x="17254" y="2763"/>
                  </a:lnTo>
                  <a:lnTo>
                    <a:pt x="17351" y="2618"/>
                  </a:lnTo>
                  <a:lnTo>
                    <a:pt x="17351" y="2521"/>
                  </a:lnTo>
                  <a:lnTo>
                    <a:pt x="17303" y="2375"/>
                  </a:lnTo>
                  <a:lnTo>
                    <a:pt x="17254" y="2230"/>
                  </a:lnTo>
                  <a:lnTo>
                    <a:pt x="17206" y="2133"/>
                  </a:lnTo>
                  <a:lnTo>
                    <a:pt x="17060" y="2036"/>
                  </a:lnTo>
                  <a:lnTo>
                    <a:pt x="13377" y="49"/>
                  </a:lnTo>
                  <a:lnTo>
                    <a:pt x="13231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285;p71">
              <a:extLst>
                <a:ext uri="{FF2B5EF4-FFF2-40B4-BE49-F238E27FC236}">
                  <a16:creationId xmlns:a16="http://schemas.microsoft.com/office/drawing/2014/main" id="{FCE36C6A-5BE7-8753-3573-F69A5E0541CE}"/>
                </a:ext>
              </a:extLst>
            </p:cNvPr>
            <p:cNvSpPr/>
            <p:nvPr/>
          </p:nvSpPr>
          <p:spPr>
            <a:xfrm>
              <a:off x="7731955" y="2819129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292" y="1"/>
                  </a:moveTo>
                  <a:lnTo>
                    <a:pt x="146" y="146"/>
                  </a:lnTo>
                  <a:lnTo>
                    <a:pt x="49" y="292"/>
                  </a:lnTo>
                  <a:lnTo>
                    <a:pt x="1" y="485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5" y="1018"/>
                  </a:lnTo>
                  <a:lnTo>
                    <a:pt x="728" y="970"/>
                  </a:lnTo>
                  <a:lnTo>
                    <a:pt x="873" y="873"/>
                  </a:lnTo>
                  <a:lnTo>
                    <a:pt x="970" y="679"/>
                  </a:lnTo>
                  <a:lnTo>
                    <a:pt x="1018" y="485"/>
                  </a:lnTo>
                  <a:lnTo>
                    <a:pt x="970" y="292"/>
                  </a:lnTo>
                  <a:lnTo>
                    <a:pt x="873" y="146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9299283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8307A2-D724-38F5-12B1-3D860231B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338A864B-7DE5-154A-1495-7612CE1BDCB8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134A8967-930C-E704-4343-7917D435F509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6982CE9C-9256-85D8-6A13-EEF5AD5FABAF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013A94CF-63F6-11E8-35BA-2FD2E92E4354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7D66797-0F6C-77DF-F792-BBE6A866F84F}"/>
              </a:ext>
            </a:extLst>
          </p:cNvPr>
          <p:cNvSpPr txBox="1"/>
          <p:nvPr/>
        </p:nvSpPr>
        <p:spPr>
          <a:xfrm>
            <a:off x="1171354" y="267880"/>
            <a:ext cx="7452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Feature Engineering &amp; Derived Columns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58E779-C648-E4D5-23DB-E2AD8AEC50EF}"/>
              </a:ext>
            </a:extLst>
          </p:cNvPr>
          <p:cNvSpPr txBox="1"/>
          <p:nvPr/>
        </p:nvSpPr>
        <p:spPr>
          <a:xfrm>
            <a:off x="316879" y="1049228"/>
            <a:ext cx="8409335" cy="30777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DM Sans" pitchFamily="2" charset="0"/>
              </a:rPr>
              <a:t>      Key Derived Features</a:t>
            </a:r>
            <a:endParaRPr lang="en-US" b="1" dirty="0">
              <a:latin typeface="DM Sans" pitchFamily="2" charset="0"/>
            </a:endParaRPr>
          </a:p>
          <a:p>
            <a:endParaRPr lang="en-US" sz="13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latin typeface="DM Sans" pitchFamily="2" charset="0"/>
              </a:rPr>
              <a:t>Booking Date Calculation:</a:t>
            </a:r>
          </a:p>
          <a:p>
            <a:r>
              <a:rPr lang="en-US" sz="800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-&gt;Added </a:t>
            </a:r>
            <a:r>
              <a:rPr lang="en-US" sz="1300" dirty="0" err="1">
                <a:latin typeface="DM Sans" pitchFamily="2" charset="0"/>
              </a:rPr>
              <a:t>booking_date</a:t>
            </a:r>
            <a:r>
              <a:rPr lang="en-US" sz="1300" dirty="0">
                <a:latin typeface="DM Sans" pitchFamily="2" charset="0"/>
              </a:rPr>
              <a:t> = </a:t>
            </a:r>
            <a:r>
              <a:rPr lang="en-US" sz="1300" dirty="0" err="1">
                <a:latin typeface="DM Sans" pitchFamily="2" charset="0"/>
              </a:rPr>
              <a:t>arrival_date</a:t>
            </a:r>
            <a:r>
              <a:rPr lang="en-US" sz="1300" dirty="0">
                <a:latin typeface="DM Sans" pitchFamily="2" charset="0"/>
              </a:rPr>
              <a:t> – </a:t>
            </a:r>
            <a:r>
              <a:rPr lang="en-US" sz="1300" dirty="0" err="1">
                <a:latin typeface="DM Sans" pitchFamily="2" charset="0"/>
              </a:rPr>
              <a:t>lead_time</a:t>
            </a:r>
            <a:r>
              <a:rPr lang="en-US" sz="1300" dirty="0">
                <a:latin typeface="DM Sans" pitchFamily="2" charset="0"/>
              </a:rPr>
              <a:t>.	</a:t>
            </a:r>
          </a:p>
          <a:p>
            <a:r>
              <a:rPr lang="en-US" sz="1300" dirty="0">
                <a:latin typeface="DM Sans" pitchFamily="2" charset="0"/>
              </a:rPr>
              <a:t>	-&gt;Enables time-gap and booking lead-time trend analysis.	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latin typeface="DM Sans" pitchFamily="2" charset="0"/>
              </a:rPr>
              <a:t>Season Classification:</a:t>
            </a:r>
            <a:r>
              <a:rPr lang="en-US" sz="1300" b="1" dirty="0">
                <a:latin typeface="DM Sans" pitchFamily="2" charset="0"/>
              </a:rPr>
              <a:t> 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  <a:r>
              <a:rPr lang="en-US" sz="800" b="1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-&gt;Categorized months into </a:t>
            </a:r>
            <a:r>
              <a:rPr lang="en-US" sz="1300" b="1" dirty="0">
                <a:latin typeface="DM Sans" pitchFamily="2" charset="0"/>
              </a:rPr>
              <a:t>Winter, Spring, Summer, Autumn</a:t>
            </a:r>
            <a:r>
              <a:rPr lang="en-US" sz="1300" dirty="0">
                <a:latin typeface="DM Sans" pitchFamily="2" charset="0"/>
              </a:rPr>
              <a:t>.	</a:t>
            </a:r>
          </a:p>
          <a:p>
            <a:pPr lvl="3"/>
            <a:r>
              <a:rPr lang="en-US" sz="1300" dirty="0">
                <a:latin typeface="DM Sans" pitchFamily="2" charset="0"/>
              </a:rPr>
              <a:t>	-&gt;Helps identify seasonal demand and occupancy variation.	</a:t>
            </a:r>
          </a:p>
          <a:p>
            <a:endParaRPr lang="en-US" sz="800" b="1" dirty="0">
              <a:latin typeface="DM Sans" pitchFamily="2" charset="0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IN" sz="1300" b="1" dirty="0">
                <a:latin typeface="DM Sans" pitchFamily="2" charset="0"/>
              </a:rPr>
              <a:t>Clean Repeat Guest Indicator :</a:t>
            </a:r>
          </a:p>
          <a:p>
            <a:r>
              <a:rPr lang="en-IN" sz="800" b="1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	-&gt;Refined </a:t>
            </a:r>
            <a:r>
              <a:rPr lang="en-US" sz="1300" dirty="0" err="1">
                <a:latin typeface="DM Sans" pitchFamily="2" charset="0"/>
              </a:rPr>
              <a:t>repeat_status_clean</a:t>
            </a:r>
            <a:r>
              <a:rPr lang="en-US" sz="1300" dirty="0">
                <a:latin typeface="DM Sans" pitchFamily="2" charset="0"/>
              </a:rPr>
              <a:t> using logical checks on historical bookings.	</a:t>
            </a:r>
          </a:p>
          <a:p>
            <a:pPr lvl="3"/>
            <a:r>
              <a:rPr lang="en-US" sz="1300" dirty="0">
                <a:latin typeface="DM Sans" pitchFamily="2" charset="0"/>
              </a:rPr>
              <a:t>	-&gt;Ensures accurate tracking of loyal and returning customers.	</a:t>
            </a:r>
            <a:endParaRPr lang="en-US" b="1" dirty="0">
              <a:latin typeface="DM Sans" pitchFamily="2" charset="0"/>
            </a:endParaRPr>
          </a:p>
        </p:txBody>
      </p:sp>
      <p:grpSp>
        <p:nvGrpSpPr>
          <p:cNvPr id="10" name="Google Shape;1278;p71">
            <a:extLst>
              <a:ext uri="{FF2B5EF4-FFF2-40B4-BE49-F238E27FC236}">
                <a16:creationId xmlns:a16="http://schemas.microsoft.com/office/drawing/2014/main" id="{C847AB75-8936-BEE1-510F-17A67E1726FF}"/>
              </a:ext>
            </a:extLst>
          </p:cNvPr>
          <p:cNvGrpSpPr/>
          <p:nvPr/>
        </p:nvGrpSpPr>
        <p:grpSpPr>
          <a:xfrm>
            <a:off x="314442" y="1076765"/>
            <a:ext cx="275477" cy="204591"/>
            <a:chOff x="7408842" y="2635120"/>
            <a:chExt cx="392133" cy="392155"/>
          </a:xfrm>
        </p:grpSpPr>
        <p:sp>
          <p:nvSpPr>
            <p:cNvPr id="11" name="Google Shape;1279;p71">
              <a:extLst>
                <a:ext uri="{FF2B5EF4-FFF2-40B4-BE49-F238E27FC236}">
                  <a16:creationId xmlns:a16="http://schemas.microsoft.com/office/drawing/2014/main" id="{C32E1092-CE67-3099-E64E-C50738A544F2}"/>
                </a:ext>
              </a:extLst>
            </p:cNvPr>
            <p:cNvSpPr/>
            <p:nvPr/>
          </p:nvSpPr>
          <p:spPr>
            <a:xfrm>
              <a:off x="7408842" y="2773138"/>
              <a:ext cx="392133" cy="254137"/>
            </a:xfrm>
            <a:custGeom>
              <a:avLst/>
              <a:gdLst/>
              <a:ahLst/>
              <a:cxnLst/>
              <a:rect l="l" t="t" r="r" b="b"/>
              <a:pathLst>
                <a:path w="17351" h="11245" extrusionOk="0">
                  <a:moveTo>
                    <a:pt x="14298" y="9160"/>
                  </a:moveTo>
                  <a:lnTo>
                    <a:pt x="14298" y="10226"/>
                  </a:lnTo>
                  <a:lnTo>
                    <a:pt x="3054" y="10226"/>
                  </a:lnTo>
                  <a:lnTo>
                    <a:pt x="3054" y="9160"/>
                  </a:lnTo>
                  <a:close/>
                  <a:moveTo>
                    <a:pt x="15655" y="1018"/>
                  </a:moveTo>
                  <a:lnTo>
                    <a:pt x="15897" y="1066"/>
                  </a:lnTo>
                  <a:lnTo>
                    <a:pt x="16139" y="1212"/>
                  </a:lnTo>
                  <a:lnTo>
                    <a:pt x="16285" y="1406"/>
                  </a:lnTo>
                  <a:lnTo>
                    <a:pt x="16333" y="1696"/>
                  </a:lnTo>
                  <a:lnTo>
                    <a:pt x="16333" y="10226"/>
                  </a:lnTo>
                  <a:lnTo>
                    <a:pt x="15315" y="10226"/>
                  </a:lnTo>
                  <a:lnTo>
                    <a:pt x="15315" y="8675"/>
                  </a:lnTo>
                  <a:lnTo>
                    <a:pt x="15267" y="8482"/>
                  </a:lnTo>
                  <a:lnTo>
                    <a:pt x="15170" y="8288"/>
                  </a:lnTo>
                  <a:lnTo>
                    <a:pt x="15025" y="8191"/>
                  </a:lnTo>
                  <a:lnTo>
                    <a:pt x="14831" y="8142"/>
                  </a:lnTo>
                  <a:lnTo>
                    <a:pt x="2569" y="8142"/>
                  </a:lnTo>
                  <a:lnTo>
                    <a:pt x="2327" y="8191"/>
                  </a:lnTo>
                  <a:lnTo>
                    <a:pt x="2181" y="8288"/>
                  </a:lnTo>
                  <a:lnTo>
                    <a:pt x="2085" y="8482"/>
                  </a:lnTo>
                  <a:lnTo>
                    <a:pt x="2036" y="8675"/>
                  </a:lnTo>
                  <a:lnTo>
                    <a:pt x="2036" y="10226"/>
                  </a:lnTo>
                  <a:lnTo>
                    <a:pt x="1018" y="10226"/>
                  </a:lnTo>
                  <a:lnTo>
                    <a:pt x="1018" y="1696"/>
                  </a:lnTo>
                  <a:lnTo>
                    <a:pt x="1067" y="1406"/>
                  </a:lnTo>
                  <a:lnTo>
                    <a:pt x="1212" y="1212"/>
                  </a:lnTo>
                  <a:lnTo>
                    <a:pt x="1454" y="1066"/>
                  </a:lnTo>
                  <a:lnTo>
                    <a:pt x="1697" y="1018"/>
                  </a:lnTo>
                  <a:close/>
                  <a:moveTo>
                    <a:pt x="1697" y="0"/>
                  </a:moveTo>
                  <a:lnTo>
                    <a:pt x="1358" y="49"/>
                  </a:lnTo>
                  <a:lnTo>
                    <a:pt x="1018" y="146"/>
                  </a:lnTo>
                  <a:lnTo>
                    <a:pt x="776" y="291"/>
                  </a:lnTo>
                  <a:lnTo>
                    <a:pt x="485" y="485"/>
                  </a:lnTo>
                  <a:lnTo>
                    <a:pt x="291" y="727"/>
                  </a:lnTo>
                  <a:lnTo>
                    <a:pt x="146" y="1018"/>
                  </a:lnTo>
                  <a:lnTo>
                    <a:pt x="49" y="1357"/>
                  </a:lnTo>
                  <a:lnTo>
                    <a:pt x="1" y="1696"/>
                  </a:lnTo>
                  <a:lnTo>
                    <a:pt x="1" y="10711"/>
                  </a:lnTo>
                  <a:lnTo>
                    <a:pt x="49" y="10905"/>
                  </a:lnTo>
                  <a:lnTo>
                    <a:pt x="146" y="11099"/>
                  </a:lnTo>
                  <a:lnTo>
                    <a:pt x="340" y="11196"/>
                  </a:lnTo>
                  <a:lnTo>
                    <a:pt x="534" y="11244"/>
                  </a:lnTo>
                  <a:lnTo>
                    <a:pt x="16818" y="11244"/>
                  </a:lnTo>
                  <a:lnTo>
                    <a:pt x="17012" y="11196"/>
                  </a:lnTo>
                  <a:lnTo>
                    <a:pt x="17206" y="11099"/>
                  </a:lnTo>
                  <a:lnTo>
                    <a:pt x="17303" y="10905"/>
                  </a:lnTo>
                  <a:lnTo>
                    <a:pt x="17351" y="10711"/>
                  </a:lnTo>
                  <a:lnTo>
                    <a:pt x="17351" y="1696"/>
                  </a:lnTo>
                  <a:lnTo>
                    <a:pt x="17303" y="1357"/>
                  </a:lnTo>
                  <a:lnTo>
                    <a:pt x="17206" y="1018"/>
                  </a:lnTo>
                  <a:lnTo>
                    <a:pt x="17060" y="727"/>
                  </a:lnTo>
                  <a:lnTo>
                    <a:pt x="16866" y="485"/>
                  </a:lnTo>
                  <a:lnTo>
                    <a:pt x="16576" y="291"/>
                  </a:lnTo>
                  <a:lnTo>
                    <a:pt x="16333" y="146"/>
                  </a:lnTo>
                  <a:lnTo>
                    <a:pt x="15994" y="49"/>
                  </a:lnTo>
                  <a:lnTo>
                    <a:pt x="15655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12" name="Google Shape;1280;p71">
              <a:extLst>
                <a:ext uri="{FF2B5EF4-FFF2-40B4-BE49-F238E27FC236}">
                  <a16:creationId xmlns:a16="http://schemas.microsoft.com/office/drawing/2014/main" id="{F9E70DA2-0D91-C6E4-5252-1454A8C24594}"/>
                </a:ext>
              </a:extLst>
            </p:cNvPr>
            <p:cNvSpPr/>
            <p:nvPr/>
          </p:nvSpPr>
          <p:spPr>
            <a:xfrm>
              <a:off x="7685964" y="2819129"/>
              <a:ext cx="23007" cy="23029"/>
            </a:xfrm>
            <a:custGeom>
              <a:avLst/>
              <a:gdLst/>
              <a:ahLst/>
              <a:cxnLst/>
              <a:rect l="l" t="t" r="r" b="b"/>
              <a:pathLst>
                <a:path w="1018" h="1019" extrusionOk="0">
                  <a:moveTo>
                    <a:pt x="291" y="1"/>
                  </a:moveTo>
                  <a:lnTo>
                    <a:pt x="146" y="146"/>
                  </a:lnTo>
                  <a:lnTo>
                    <a:pt x="49" y="292"/>
                  </a:lnTo>
                  <a:lnTo>
                    <a:pt x="0" y="485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1" y="970"/>
                  </a:lnTo>
                  <a:lnTo>
                    <a:pt x="533" y="1018"/>
                  </a:lnTo>
                  <a:lnTo>
                    <a:pt x="727" y="970"/>
                  </a:lnTo>
                  <a:lnTo>
                    <a:pt x="873" y="873"/>
                  </a:lnTo>
                  <a:lnTo>
                    <a:pt x="969" y="679"/>
                  </a:lnTo>
                  <a:lnTo>
                    <a:pt x="1018" y="485"/>
                  </a:lnTo>
                  <a:lnTo>
                    <a:pt x="969" y="292"/>
                  </a:lnTo>
                  <a:lnTo>
                    <a:pt x="873" y="146"/>
                  </a:lnTo>
                  <a:lnTo>
                    <a:pt x="727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281;p71">
              <a:extLst>
                <a:ext uri="{FF2B5EF4-FFF2-40B4-BE49-F238E27FC236}">
                  <a16:creationId xmlns:a16="http://schemas.microsoft.com/office/drawing/2014/main" id="{C5206279-59B5-62C5-2722-609790EF3A24}"/>
                </a:ext>
              </a:extLst>
            </p:cNvPr>
            <p:cNvSpPr/>
            <p:nvPr/>
          </p:nvSpPr>
          <p:spPr>
            <a:xfrm>
              <a:off x="7454856" y="2819129"/>
              <a:ext cx="104073" cy="23029"/>
            </a:xfrm>
            <a:custGeom>
              <a:avLst/>
              <a:gdLst/>
              <a:ahLst/>
              <a:cxnLst/>
              <a:rect l="l" t="t" r="r" b="b"/>
              <a:pathLst>
                <a:path w="4605" h="1019" extrusionOk="0">
                  <a:moveTo>
                    <a:pt x="533" y="1"/>
                  </a:moveTo>
                  <a:lnTo>
                    <a:pt x="291" y="49"/>
                  </a:lnTo>
                  <a:lnTo>
                    <a:pt x="145" y="146"/>
                  </a:lnTo>
                  <a:lnTo>
                    <a:pt x="49" y="292"/>
                  </a:lnTo>
                  <a:lnTo>
                    <a:pt x="0" y="485"/>
                  </a:lnTo>
                  <a:lnTo>
                    <a:pt x="49" y="679"/>
                  </a:lnTo>
                  <a:lnTo>
                    <a:pt x="145" y="873"/>
                  </a:lnTo>
                  <a:lnTo>
                    <a:pt x="291" y="970"/>
                  </a:lnTo>
                  <a:lnTo>
                    <a:pt x="533" y="1018"/>
                  </a:lnTo>
                  <a:lnTo>
                    <a:pt x="4071" y="1018"/>
                  </a:lnTo>
                  <a:lnTo>
                    <a:pt x="4265" y="970"/>
                  </a:lnTo>
                  <a:lnTo>
                    <a:pt x="4459" y="873"/>
                  </a:lnTo>
                  <a:lnTo>
                    <a:pt x="4556" y="679"/>
                  </a:lnTo>
                  <a:lnTo>
                    <a:pt x="4604" y="485"/>
                  </a:lnTo>
                  <a:lnTo>
                    <a:pt x="4556" y="292"/>
                  </a:lnTo>
                  <a:lnTo>
                    <a:pt x="4459" y="146"/>
                  </a:lnTo>
                  <a:lnTo>
                    <a:pt x="4265" y="49"/>
                  </a:lnTo>
                  <a:lnTo>
                    <a:pt x="4071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282;p71">
              <a:extLst>
                <a:ext uri="{FF2B5EF4-FFF2-40B4-BE49-F238E27FC236}">
                  <a16:creationId xmlns:a16="http://schemas.microsoft.com/office/drawing/2014/main" id="{9148CE72-6637-3958-F23E-E9625C7D09A1}"/>
                </a:ext>
              </a:extLst>
            </p:cNvPr>
            <p:cNvSpPr/>
            <p:nvPr/>
          </p:nvSpPr>
          <p:spPr>
            <a:xfrm>
              <a:off x="7454856" y="2865142"/>
              <a:ext cx="208123" cy="69020"/>
            </a:xfrm>
            <a:custGeom>
              <a:avLst/>
              <a:gdLst/>
              <a:ahLst/>
              <a:cxnLst/>
              <a:rect l="l" t="t" r="r" b="b"/>
              <a:pathLst>
                <a:path w="9209" h="3054" extrusionOk="0">
                  <a:moveTo>
                    <a:pt x="8191" y="1018"/>
                  </a:moveTo>
                  <a:lnTo>
                    <a:pt x="8191" y="2036"/>
                  </a:lnTo>
                  <a:lnTo>
                    <a:pt x="1018" y="2036"/>
                  </a:lnTo>
                  <a:lnTo>
                    <a:pt x="1018" y="1018"/>
                  </a:lnTo>
                  <a:close/>
                  <a:moveTo>
                    <a:pt x="533" y="0"/>
                  </a:moveTo>
                  <a:lnTo>
                    <a:pt x="291" y="49"/>
                  </a:lnTo>
                  <a:lnTo>
                    <a:pt x="145" y="146"/>
                  </a:lnTo>
                  <a:lnTo>
                    <a:pt x="49" y="340"/>
                  </a:lnTo>
                  <a:lnTo>
                    <a:pt x="0" y="533"/>
                  </a:lnTo>
                  <a:lnTo>
                    <a:pt x="0" y="2569"/>
                  </a:lnTo>
                  <a:lnTo>
                    <a:pt x="49" y="2763"/>
                  </a:lnTo>
                  <a:lnTo>
                    <a:pt x="145" y="2908"/>
                  </a:lnTo>
                  <a:lnTo>
                    <a:pt x="291" y="3005"/>
                  </a:lnTo>
                  <a:lnTo>
                    <a:pt x="533" y="3054"/>
                  </a:lnTo>
                  <a:lnTo>
                    <a:pt x="8724" y="3054"/>
                  </a:lnTo>
                  <a:lnTo>
                    <a:pt x="8918" y="3005"/>
                  </a:lnTo>
                  <a:lnTo>
                    <a:pt x="9063" y="2908"/>
                  </a:lnTo>
                  <a:lnTo>
                    <a:pt x="9160" y="2763"/>
                  </a:lnTo>
                  <a:lnTo>
                    <a:pt x="9208" y="2569"/>
                  </a:lnTo>
                  <a:lnTo>
                    <a:pt x="9208" y="533"/>
                  </a:lnTo>
                  <a:lnTo>
                    <a:pt x="9160" y="340"/>
                  </a:lnTo>
                  <a:lnTo>
                    <a:pt x="9063" y="146"/>
                  </a:lnTo>
                  <a:lnTo>
                    <a:pt x="8918" y="49"/>
                  </a:lnTo>
                  <a:lnTo>
                    <a:pt x="8724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283;p71">
              <a:extLst>
                <a:ext uri="{FF2B5EF4-FFF2-40B4-BE49-F238E27FC236}">
                  <a16:creationId xmlns:a16="http://schemas.microsoft.com/office/drawing/2014/main" id="{87C56DCC-68C9-9951-E566-33BF918A381C}"/>
                </a:ext>
              </a:extLst>
            </p:cNvPr>
            <p:cNvSpPr/>
            <p:nvPr/>
          </p:nvSpPr>
          <p:spPr>
            <a:xfrm>
              <a:off x="7685964" y="2865142"/>
              <a:ext cx="69020" cy="69020"/>
            </a:xfrm>
            <a:custGeom>
              <a:avLst/>
              <a:gdLst/>
              <a:ahLst/>
              <a:cxnLst/>
              <a:rect l="l" t="t" r="r" b="b"/>
              <a:pathLst>
                <a:path w="3054" h="3054" extrusionOk="0">
                  <a:moveTo>
                    <a:pt x="2036" y="1018"/>
                  </a:moveTo>
                  <a:lnTo>
                    <a:pt x="2036" y="2036"/>
                  </a:lnTo>
                  <a:lnTo>
                    <a:pt x="1018" y="2036"/>
                  </a:lnTo>
                  <a:lnTo>
                    <a:pt x="1018" y="1018"/>
                  </a:lnTo>
                  <a:close/>
                  <a:moveTo>
                    <a:pt x="533" y="0"/>
                  </a:moveTo>
                  <a:lnTo>
                    <a:pt x="339" y="49"/>
                  </a:lnTo>
                  <a:lnTo>
                    <a:pt x="146" y="146"/>
                  </a:lnTo>
                  <a:lnTo>
                    <a:pt x="49" y="340"/>
                  </a:lnTo>
                  <a:lnTo>
                    <a:pt x="0" y="533"/>
                  </a:lnTo>
                  <a:lnTo>
                    <a:pt x="0" y="2569"/>
                  </a:lnTo>
                  <a:lnTo>
                    <a:pt x="49" y="2763"/>
                  </a:lnTo>
                  <a:lnTo>
                    <a:pt x="146" y="2908"/>
                  </a:lnTo>
                  <a:lnTo>
                    <a:pt x="339" y="3005"/>
                  </a:lnTo>
                  <a:lnTo>
                    <a:pt x="533" y="3054"/>
                  </a:lnTo>
                  <a:lnTo>
                    <a:pt x="2569" y="3054"/>
                  </a:lnTo>
                  <a:lnTo>
                    <a:pt x="2763" y="3005"/>
                  </a:lnTo>
                  <a:lnTo>
                    <a:pt x="2908" y="2908"/>
                  </a:lnTo>
                  <a:lnTo>
                    <a:pt x="3005" y="2763"/>
                  </a:lnTo>
                  <a:lnTo>
                    <a:pt x="3053" y="2569"/>
                  </a:lnTo>
                  <a:lnTo>
                    <a:pt x="3053" y="533"/>
                  </a:lnTo>
                  <a:lnTo>
                    <a:pt x="3005" y="340"/>
                  </a:lnTo>
                  <a:lnTo>
                    <a:pt x="2908" y="146"/>
                  </a:lnTo>
                  <a:lnTo>
                    <a:pt x="2763" y="49"/>
                  </a:lnTo>
                  <a:lnTo>
                    <a:pt x="2569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284;p71">
              <a:extLst>
                <a:ext uri="{FF2B5EF4-FFF2-40B4-BE49-F238E27FC236}">
                  <a16:creationId xmlns:a16="http://schemas.microsoft.com/office/drawing/2014/main" id="{74FA83D1-E43D-1735-C4F9-CAD1707FE01E}"/>
                </a:ext>
              </a:extLst>
            </p:cNvPr>
            <p:cNvSpPr/>
            <p:nvPr/>
          </p:nvSpPr>
          <p:spPr>
            <a:xfrm>
              <a:off x="7408842" y="2635120"/>
              <a:ext cx="392133" cy="115034"/>
            </a:xfrm>
            <a:custGeom>
              <a:avLst/>
              <a:gdLst/>
              <a:ahLst/>
              <a:cxnLst/>
              <a:rect l="l" t="t" r="r" b="b"/>
              <a:pathLst>
                <a:path w="17351" h="5090" extrusionOk="0">
                  <a:moveTo>
                    <a:pt x="12601" y="1018"/>
                  </a:moveTo>
                  <a:lnTo>
                    <a:pt x="12601" y="1988"/>
                  </a:lnTo>
                  <a:lnTo>
                    <a:pt x="3393" y="1988"/>
                  </a:lnTo>
                  <a:lnTo>
                    <a:pt x="3393" y="1018"/>
                  </a:lnTo>
                  <a:close/>
                  <a:moveTo>
                    <a:pt x="13619" y="1358"/>
                  </a:moveTo>
                  <a:lnTo>
                    <a:pt x="15800" y="2521"/>
                  </a:lnTo>
                  <a:lnTo>
                    <a:pt x="13619" y="3684"/>
                  </a:lnTo>
                  <a:lnTo>
                    <a:pt x="13619" y="1358"/>
                  </a:lnTo>
                  <a:close/>
                  <a:moveTo>
                    <a:pt x="2375" y="1018"/>
                  </a:moveTo>
                  <a:lnTo>
                    <a:pt x="2375" y="4072"/>
                  </a:lnTo>
                  <a:lnTo>
                    <a:pt x="1503" y="4072"/>
                  </a:lnTo>
                  <a:lnTo>
                    <a:pt x="1309" y="4023"/>
                  </a:lnTo>
                  <a:lnTo>
                    <a:pt x="1164" y="3926"/>
                  </a:lnTo>
                  <a:lnTo>
                    <a:pt x="1067" y="3781"/>
                  </a:lnTo>
                  <a:lnTo>
                    <a:pt x="1018" y="3587"/>
                  </a:lnTo>
                  <a:lnTo>
                    <a:pt x="1018" y="1503"/>
                  </a:lnTo>
                  <a:lnTo>
                    <a:pt x="1067" y="1309"/>
                  </a:lnTo>
                  <a:lnTo>
                    <a:pt x="1164" y="1164"/>
                  </a:lnTo>
                  <a:lnTo>
                    <a:pt x="1309" y="1067"/>
                  </a:lnTo>
                  <a:lnTo>
                    <a:pt x="1503" y="1018"/>
                  </a:lnTo>
                  <a:close/>
                  <a:moveTo>
                    <a:pt x="12601" y="3005"/>
                  </a:moveTo>
                  <a:lnTo>
                    <a:pt x="12601" y="4072"/>
                  </a:lnTo>
                  <a:lnTo>
                    <a:pt x="3393" y="4072"/>
                  </a:lnTo>
                  <a:lnTo>
                    <a:pt x="3393" y="3005"/>
                  </a:lnTo>
                  <a:close/>
                  <a:moveTo>
                    <a:pt x="1503" y="1"/>
                  </a:moveTo>
                  <a:lnTo>
                    <a:pt x="1212" y="49"/>
                  </a:lnTo>
                  <a:lnTo>
                    <a:pt x="921" y="98"/>
                  </a:lnTo>
                  <a:lnTo>
                    <a:pt x="679" y="243"/>
                  </a:lnTo>
                  <a:lnTo>
                    <a:pt x="437" y="437"/>
                  </a:lnTo>
                  <a:lnTo>
                    <a:pt x="243" y="679"/>
                  </a:lnTo>
                  <a:lnTo>
                    <a:pt x="146" y="921"/>
                  </a:lnTo>
                  <a:lnTo>
                    <a:pt x="49" y="1212"/>
                  </a:lnTo>
                  <a:lnTo>
                    <a:pt x="1" y="1503"/>
                  </a:lnTo>
                  <a:lnTo>
                    <a:pt x="1" y="3587"/>
                  </a:lnTo>
                  <a:lnTo>
                    <a:pt x="49" y="3878"/>
                  </a:lnTo>
                  <a:lnTo>
                    <a:pt x="146" y="4169"/>
                  </a:lnTo>
                  <a:lnTo>
                    <a:pt x="243" y="4411"/>
                  </a:lnTo>
                  <a:lnTo>
                    <a:pt x="437" y="4653"/>
                  </a:lnTo>
                  <a:lnTo>
                    <a:pt x="679" y="4799"/>
                  </a:lnTo>
                  <a:lnTo>
                    <a:pt x="921" y="4944"/>
                  </a:lnTo>
                  <a:lnTo>
                    <a:pt x="1212" y="5041"/>
                  </a:lnTo>
                  <a:lnTo>
                    <a:pt x="1503" y="5089"/>
                  </a:lnTo>
                  <a:lnTo>
                    <a:pt x="13135" y="5089"/>
                  </a:lnTo>
                  <a:lnTo>
                    <a:pt x="13231" y="5041"/>
                  </a:lnTo>
                  <a:lnTo>
                    <a:pt x="13377" y="4993"/>
                  </a:lnTo>
                  <a:lnTo>
                    <a:pt x="17060" y="2957"/>
                  </a:lnTo>
                  <a:lnTo>
                    <a:pt x="17206" y="2860"/>
                  </a:lnTo>
                  <a:lnTo>
                    <a:pt x="17254" y="2763"/>
                  </a:lnTo>
                  <a:lnTo>
                    <a:pt x="17351" y="2618"/>
                  </a:lnTo>
                  <a:lnTo>
                    <a:pt x="17351" y="2521"/>
                  </a:lnTo>
                  <a:lnTo>
                    <a:pt x="17303" y="2375"/>
                  </a:lnTo>
                  <a:lnTo>
                    <a:pt x="17254" y="2230"/>
                  </a:lnTo>
                  <a:lnTo>
                    <a:pt x="17206" y="2133"/>
                  </a:lnTo>
                  <a:lnTo>
                    <a:pt x="17060" y="2036"/>
                  </a:lnTo>
                  <a:lnTo>
                    <a:pt x="13377" y="49"/>
                  </a:lnTo>
                  <a:lnTo>
                    <a:pt x="13231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285;p71">
              <a:extLst>
                <a:ext uri="{FF2B5EF4-FFF2-40B4-BE49-F238E27FC236}">
                  <a16:creationId xmlns:a16="http://schemas.microsoft.com/office/drawing/2014/main" id="{84192B2F-177E-1465-B9C8-5969A7E8BD2C}"/>
                </a:ext>
              </a:extLst>
            </p:cNvPr>
            <p:cNvSpPr/>
            <p:nvPr/>
          </p:nvSpPr>
          <p:spPr>
            <a:xfrm>
              <a:off x="7731955" y="2819129"/>
              <a:ext cx="23029" cy="23029"/>
            </a:xfrm>
            <a:custGeom>
              <a:avLst/>
              <a:gdLst/>
              <a:ahLst/>
              <a:cxnLst/>
              <a:rect l="l" t="t" r="r" b="b"/>
              <a:pathLst>
                <a:path w="1019" h="1019" extrusionOk="0">
                  <a:moveTo>
                    <a:pt x="292" y="1"/>
                  </a:moveTo>
                  <a:lnTo>
                    <a:pt x="146" y="146"/>
                  </a:lnTo>
                  <a:lnTo>
                    <a:pt x="49" y="292"/>
                  </a:lnTo>
                  <a:lnTo>
                    <a:pt x="1" y="485"/>
                  </a:lnTo>
                  <a:lnTo>
                    <a:pt x="49" y="679"/>
                  </a:lnTo>
                  <a:lnTo>
                    <a:pt x="146" y="873"/>
                  </a:lnTo>
                  <a:lnTo>
                    <a:pt x="292" y="970"/>
                  </a:lnTo>
                  <a:lnTo>
                    <a:pt x="485" y="1018"/>
                  </a:lnTo>
                  <a:lnTo>
                    <a:pt x="728" y="970"/>
                  </a:lnTo>
                  <a:lnTo>
                    <a:pt x="873" y="873"/>
                  </a:lnTo>
                  <a:lnTo>
                    <a:pt x="970" y="679"/>
                  </a:lnTo>
                  <a:lnTo>
                    <a:pt x="1018" y="485"/>
                  </a:lnTo>
                  <a:lnTo>
                    <a:pt x="970" y="292"/>
                  </a:lnTo>
                  <a:lnTo>
                    <a:pt x="873" y="146"/>
                  </a:lnTo>
                  <a:lnTo>
                    <a:pt x="728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152;p71">
            <a:extLst>
              <a:ext uri="{FF2B5EF4-FFF2-40B4-BE49-F238E27FC236}">
                <a16:creationId xmlns:a16="http://schemas.microsoft.com/office/drawing/2014/main" id="{C6057437-A56E-958B-E717-785AD51E6E68}"/>
              </a:ext>
            </a:extLst>
          </p:cNvPr>
          <p:cNvGrpSpPr/>
          <p:nvPr/>
        </p:nvGrpSpPr>
        <p:grpSpPr>
          <a:xfrm>
            <a:off x="372776" y="4099171"/>
            <a:ext cx="275477" cy="224396"/>
            <a:chOff x="6706751" y="1332817"/>
            <a:chExt cx="392133" cy="392132"/>
          </a:xfrm>
        </p:grpSpPr>
        <p:sp>
          <p:nvSpPr>
            <p:cNvPr id="19" name="Google Shape;1153;p71">
              <a:extLst>
                <a:ext uri="{FF2B5EF4-FFF2-40B4-BE49-F238E27FC236}">
                  <a16:creationId xmlns:a16="http://schemas.microsoft.com/office/drawing/2014/main" id="{38908F7B-C7A1-C694-FA59-D8B775CC5BD4}"/>
                </a:ext>
              </a:extLst>
            </p:cNvPr>
            <p:cNvSpPr/>
            <p:nvPr/>
          </p:nvSpPr>
          <p:spPr>
            <a:xfrm>
              <a:off x="6815186" y="1332817"/>
              <a:ext cx="283698" cy="284783"/>
            </a:xfrm>
            <a:custGeom>
              <a:avLst/>
              <a:gdLst/>
              <a:ahLst/>
              <a:cxnLst/>
              <a:rect l="l" t="t" r="r" b="b"/>
              <a:pathLst>
                <a:path w="12553" h="12601" extrusionOk="0">
                  <a:moveTo>
                    <a:pt x="4362" y="1018"/>
                  </a:moveTo>
                  <a:lnTo>
                    <a:pt x="4653" y="1066"/>
                  </a:lnTo>
                  <a:lnTo>
                    <a:pt x="4992" y="1115"/>
                  </a:lnTo>
                  <a:lnTo>
                    <a:pt x="5332" y="1163"/>
                  </a:lnTo>
                  <a:lnTo>
                    <a:pt x="5622" y="1260"/>
                  </a:lnTo>
                  <a:lnTo>
                    <a:pt x="5913" y="1405"/>
                  </a:lnTo>
                  <a:lnTo>
                    <a:pt x="6204" y="1599"/>
                  </a:lnTo>
                  <a:lnTo>
                    <a:pt x="6495" y="1793"/>
                  </a:lnTo>
                  <a:lnTo>
                    <a:pt x="6737" y="2036"/>
                  </a:lnTo>
                  <a:lnTo>
                    <a:pt x="6979" y="2278"/>
                  </a:lnTo>
                  <a:lnTo>
                    <a:pt x="7173" y="2569"/>
                  </a:lnTo>
                  <a:lnTo>
                    <a:pt x="7319" y="2811"/>
                  </a:lnTo>
                  <a:lnTo>
                    <a:pt x="7464" y="3150"/>
                  </a:lnTo>
                  <a:lnTo>
                    <a:pt x="7561" y="3441"/>
                  </a:lnTo>
                  <a:lnTo>
                    <a:pt x="7658" y="3732"/>
                  </a:lnTo>
                  <a:lnTo>
                    <a:pt x="7706" y="4071"/>
                  </a:lnTo>
                  <a:lnTo>
                    <a:pt x="7706" y="4410"/>
                  </a:lnTo>
                  <a:lnTo>
                    <a:pt x="7706" y="4701"/>
                  </a:lnTo>
                  <a:lnTo>
                    <a:pt x="7658" y="5040"/>
                  </a:lnTo>
                  <a:lnTo>
                    <a:pt x="7561" y="5331"/>
                  </a:lnTo>
                  <a:lnTo>
                    <a:pt x="7464" y="5670"/>
                  </a:lnTo>
                  <a:lnTo>
                    <a:pt x="7319" y="5961"/>
                  </a:lnTo>
                  <a:lnTo>
                    <a:pt x="7173" y="6252"/>
                  </a:lnTo>
                  <a:lnTo>
                    <a:pt x="6979" y="6543"/>
                  </a:lnTo>
                  <a:lnTo>
                    <a:pt x="6737" y="6785"/>
                  </a:lnTo>
                  <a:lnTo>
                    <a:pt x="6495" y="7027"/>
                  </a:lnTo>
                  <a:lnTo>
                    <a:pt x="6204" y="7221"/>
                  </a:lnTo>
                  <a:lnTo>
                    <a:pt x="5913" y="7367"/>
                  </a:lnTo>
                  <a:lnTo>
                    <a:pt x="5622" y="7512"/>
                  </a:lnTo>
                  <a:lnTo>
                    <a:pt x="5332" y="7609"/>
                  </a:lnTo>
                  <a:lnTo>
                    <a:pt x="4992" y="7706"/>
                  </a:lnTo>
                  <a:lnTo>
                    <a:pt x="4653" y="7754"/>
                  </a:lnTo>
                  <a:lnTo>
                    <a:pt x="4023" y="7754"/>
                  </a:lnTo>
                  <a:lnTo>
                    <a:pt x="3732" y="7706"/>
                  </a:lnTo>
                  <a:lnTo>
                    <a:pt x="3393" y="7609"/>
                  </a:lnTo>
                  <a:lnTo>
                    <a:pt x="3102" y="7512"/>
                  </a:lnTo>
                  <a:lnTo>
                    <a:pt x="2811" y="7367"/>
                  </a:lnTo>
                  <a:lnTo>
                    <a:pt x="2521" y="7221"/>
                  </a:lnTo>
                  <a:lnTo>
                    <a:pt x="2230" y="7027"/>
                  </a:lnTo>
                  <a:lnTo>
                    <a:pt x="1988" y="6785"/>
                  </a:lnTo>
                  <a:lnTo>
                    <a:pt x="1745" y="6543"/>
                  </a:lnTo>
                  <a:lnTo>
                    <a:pt x="1551" y="6252"/>
                  </a:lnTo>
                  <a:lnTo>
                    <a:pt x="1357" y="5961"/>
                  </a:lnTo>
                  <a:lnTo>
                    <a:pt x="1261" y="5670"/>
                  </a:lnTo>
                  <a:lnTo>
                    <a:pt x="1115" y="5331"/>
                  </a:lnTo>
                  <a:lnTo>
                    <a:pt x="1067" y="5040"/>
                  </a:lnTo>
                  <a:lnTo>
                    <a:pt x="1018" y="4701"/>
                  </a:lnTo>
                  <a:lnTo>
                    <a:pt x="970" y="4410"/>
                  </a:lnTo>
                  <a:lnTo>
                    <a:pt x="1018" y="4071"/>
                  </a:lnTo>
                  <a:lnTo>
                    <a:pt x="1067" y="3732"/>
                  </a:lnTo>
                  <a:lnTo>
                    <a:pt x="1115" y="3441"/>
                  </a:lnTo>
                  <a:lnTo>
                    <a:pt x="1261" y="3150"/>
                  </a:lnTo>
                  <a:lnTo>
                    <a:pt x="1357" y="2811"/>
                  </a:lnTo>
                  <a:lnTo>
                    <a:pt x="1551" y="2569"/>
                  </a:lnTo>
                  <a:lnTo>
                    <a:pt x="1745" y="2278"/>
                  </a:lnTo>
                  <a:lnTo>
                    <a:pt x="1988" y="2036"/>
                  </a:lnTo>
                  <a:lnTo>
                    <a:pt x="2230" y="1793"/>
                  </a:lnTo>
                  <a:lnTo>
                    <a:pt x="2521" y="1599"/>
                  </a:lnTo>
                  <a:lnTo>
                    <a:pt x="2811" y="1405"/>
                  </a:lnTo>
                  <a:lnTo>
                    <a:pt x="3102" y="1260"/>
                  </a:lnTo>
                  <a:lnTo>
                    <a:pt x="3393" y="1163"/>
                  </a:lnTo>
                  <a:lnTo>
                    <a:pt x="3732" y="1115"/>
                  </a:lnTo>
                  <a:lnTo>
                    <a:pt x="4023" y="1066"/>
                  </a:lnTo>
                  <a:lnTo>
                    <a:pt x="4362" y="1018"/>
                  </a:lnTo>
                  <a:close/>
                  <a:moveTo>
                    <a:pt x="7803" y="7124"/>
                  </a:moveTo>
                  <a:lnTo>
                    <a:pt x="11390" y="10711"/>
                  </a:lnTo>
                  <a:lnTo>
                    <a:pt x="11487" y="10856"/>
                  </a:lnTo>
                  <a:lnTo>
                    <a:pt x="11535" y="11050"/>
                  </a:lnTo>
                  <a:lnTo>
                    <a:pt x="11487" y="11244"/>
                  </a:lnTo>
                  <a:lnTo>
                    <a:pt x="11390" y="11438"/>
                  </a:lnTo>
                  <a:lnTo>
                    <a:pt x="11196" y="11535"/>
                  </a:lnTo>
                  <a:lnTo>
                    <a:pt x="11002" y="11583"/>
                  </a:lnTo>
                  <a:lnTo>
                    <a:pt x="10808" y="11535"/>
                  </a:lnTo>
                  <a:lnTo>
                    <a:pt x="10663" y="11438"/>
                  </a:lnTo>
                  <a:lnTo>
                    <a:pt x="7076" y="7851"/>
                  </a:lnTo>
                  <a:lnTo>
                    <a:pt x="7464" y="7512"/>
                  </a:lnTo>
                  <a:lnTo>
                    <a:pt x="7803" y="7124"/>
                  </a:lnTo>
                  <a:close/>
                  <a:moveTo>
                    <a:pt x="4362" y="0"/>
                  </a:moveTo>
                  <a:lnTo>
                    <a:pt x="3926" y="48"/>
                  </a:lnTo>
                  <a:lnTo>
                    <a:pt x="3538" y="97"/>
                  </a:lnTo>
                  <a:lnTo>
                    <a:pt x="3102" y="194"/>
                  </a:lnTo>
                  <a:lnTo>
                    <a:pt x="2714" y="339"/>
                  </a:lnTo>
                  <a:lnTo>
                    <a:pt x="2327" y="533"/>
                  </a:lnTo>
                  <a:lnTo>
                    <a:pt x="1939" y="727"/>
                  </a:lnTo>
                  <a:lnTo>
                    <a:pt x="1600" y="1018"/>
                  </a:lnTo>
                  <a:lnTo>
                    <a:pt x="1261" y="1309"/>
                  </a:lnTo>
                  <a:lnTo>
                    <a:pt x="970" y="1648"/>
                  </a:lnTo>
                  <a:lnTo>
                    <a:pt x="679" y="1987"/>
                  </a:lnTo>
                  <a:lnTo>
                    <a:pt x="485" y="2375"/>
                  </a:lnTo>
                  <a:lnTo>
                    <a:pt x="291" y="2762"/>
                  </a:lnTo>
                  <a:lnTo>
                    <a:pt x="146" y="3150"/>
                  </a:lnTo>
                  <a:lnTo>
                    <a:pt x="49" y="3538"/>
                  </a:lnTo>
                  <a:lnTo>
                    <a:pt x="0" y="3974"/>
                  </a:lnTo>
                  <a:lnTo>
                    <a:pt x="0" y="4410"/>
                  </a:lnTo>
                  <a:lnTo>
                    <a:pt x="0" y="4798"/>
                  </a:lnTo>
                  <a:lnTo>
                    <a:pt x="49" y="5234"/>
                  </a:lnTo>
                  <a:lnTo>
                    <a:pt x="146" y="5622"/>
                  </a:lnTo>
                  <a:lnTo>
                    <a:pt x="291" y="6058"/>
                  </a:lnTo>
                  <a:lnTo>
                    <a:pt x="485" y="6446"/>
                  </a:lnTo>
                  <a:lnTo>
                    <a:pt x="679" y="6785"/>
                  </a:lnTo>
                  <a:lnTo>
                    <a:pt x="970" y="7173"/>
                  </a:lnTo>
                  <a:lnTo>
                    <a:pt x="1261" y="7512"/>
                  </a:lnTo>
                  <a:lnTo>
                    <a:pt x="1600" y="7803"/>
                  </a:lnTo>
                  <a:lnTo>
                    <a:pt x="1939" y="8045"/>
                  </a:lnTo>
                  <a:lnTo>
                    <a:pt x="2327" y="8287"/>
                  </a:lnTo>
                  <a:lnTo>
                    <a:pt x="2714" y="8433"/>
                  </a:lnTo>
                  <a:lnTo>
                    <a:pt x="3102" y="8578"/>
                  </a:lnTo>
                  <a:lnTo>
                    <a:pt x="3538" y="8675"/>
                  </a:lnTo>
                  <a:lnTo>
                    <a:pt x="3926" y="8772"/>
                  </a:lnTo>
                  <a:lnTo>
                    <a:pt x="4798" y="8772"/>
                  </a:lnTo>
                  <a:lnTo>
                    <a:pt x="5283" y="8675"/>
                  </a:lnTo>
                  <a:lnTo>
                    <a:pt x="5719" y="8530"/>
                  </a:lnTo>
                  <a:lnTo>
                    <a:pt x="6156" y="8384"/>
                  </a:lnTo>
                  <a:lnTo>
                    <a:pt x="9936" y="12116"/>
                  </a:lnTo>
                  <a:lnTo>
                    <a:pt x="10178" y="12310"/>
                  </a:lnTo>
                  <a:lnTo>
                    <a:pt x="10420" y="12455"/>
                  </a:lnTo>
                  <a:lnTo>
                    <a:pt x="10711" y="12552"/>
                  </a:lnTo>
                  <a:lnTo>
                    <a:pt x="11002" y="12601"/>
                  </a:lnTo>
                  <a:lnTo>
                    <a:pt x="11293" y="12552"/>
                  </a:lnTo>
                  <a:lnTo>
                    <a:pt x="11584" y="12455"/>
                  </a:lnTo>
                  <a:lnTo>
                    <a:pt x="11874" y="12310"/>
                  </a:lnTo>
                  <a:lnTo>
                    <a:pt x="12068" y="12116"/>
                  </a:lnTo>
                  <a:lnTo>
                    <a:pt x="12262" y="11874"/>
                  </a:lnTo>
                  <a:lnTo>
                    <a:pt x="12408" y="11632"/>
                  </a:lnTo>
                  <a:lnTo>
                    <a:pt x="12504" y="11341"/>
                  </a:lnTo>
                  <a:lnTo>
                    <a:pt x="12553" y="11050"/>
                  </a:lnTo>
                  <a:lnTo>
                    <a:pt x="12504" y="10759"/>
                  </a:lnTo>
                  <a:lnTo>
                    <a:pt x="12408" y="10468"/>
                  </a:lnTo>
                  <a:lnTo>
                    <a:pt x="12262" y="10226"/>
                  </a:lnTo>
                  <a:lnTo>
                    <a:pt x="12068" y="9984"/>
                  </a:lnTo>
                  <a:lnTo>
                    <a:pt x="8336" y="6203"/>
                  </a:lnTo>
                  <a:lnTo>
                    <a:pt x="8579" y="5622"/>
                  </a:lnTo>
                  <a:lnTo>
                    <a:pt x="8676" y="4943"/>
                  </a:lnTo>
                  <a:lnTo>
                    <a:pt x="8724" y="4313"/>
                  </a:lnTo>
                  <a:lnTo>
                    <a:pt x="8676" y="3635"/>
                  </a:lnTo>
                  <a:lnTo>
                    <a:pt x="8530" y="3005"/>
                  </a:lnTo>
                  <a:lnTo>
                    <a:pt x="8240" y="2423"/>
                  </a:lnTo>
                  <a:lnTo>
                    <a:pt x="7900" y="1842"/>
                  </a:lnTo>
                  <a:lnTo>
                    <a:pt x="7464" y="1309"/>
                  </a:lnTo>
                  <a:lnTo>
                    <a:pt x="7125" y="1018"/>
                  </a:lnTo>
                  <a:lnTo>
                    <a:pt x="6786" y="727"/>
                  </a:lnTo>
                  <a:lnTo>
                    <a:pt x="6398" y="533"/>
                  </a:lnTo>
                  <a:lnTo>
                    <a:pt x="6010" y="339"/>
                  </a:lnTo>
                  <a:lnTo>
                    <a:pt x="5622" y="194"/>
                  </a:lnTo>
                  <a:lnTo>
                    <a:pt x="5186" y="97"/>
                  </a:lnTo>
                  <a:lnTo>
                    <a:pt x="4750" y="48"/>
                  </a:lnTo>
                  <a:lnTo>
                    <a:pt x="4362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154;p71">
              <a:extLst>
                <a:ext uri="{FF2B5EF4-FFF2-40B4-BE49-F238E27FC236}">
                  <a16:creationId xmlns:a16="http://schemas.microsoft.com/office/drawing/2014/main" id="{FEC8AF0D-EBC0-E0A2-6F55-CD3003ECC902}"/>
                </a:ext>
              </a:extLst>
            </p:cNvPr>
            <p:cNvSpPr/>
            <p:nvPr/>
          </p:nvSpPr>
          <p:spPr>
            <a:xfrm>
              <a:off x="6706751" y="1494904"/>
              <a:ext cx="297936" cy="230045"/>
            </a:xfrm>
            <a:custGeom>
              <a:avLst/>
              <a:gdLst/>
              <a:ahLst/>
              <a:cxnLst/>
              <a:rect l="l" t="t" r="r" b="b"/>
              <a:pathLst>
                <a:path w="13183" h="10179" extrusionOk="0">
                  <a:moveTo>
                    <a:pt x="3054" y="1019"/>
                  </a:moveTo>
                  <a:lnTo>
                    <a:pt x="3054" y="9161"/>
                  </a:lnTo>
                  <a:lnTo>
                    <a:pt x="2036" y="9161"/>
                  </a:lnTo>
                  <a:lnTo>
                    <a:pt x="2036" y="1019"/>
                  </a:lnTo>
                  <a:close/>
                  <a:moveTo>
                    <a:pt x="7125" y="3442"/>
                  </a:moveTo>
                  <a:lnTo>
                    <a:pt x="7125" y="9161"/>
                  </a:lnTo>
                  <a:lnTo>
                    <a:pt x="6107" y="9161"/>
                  </a:lnTo>
                  <a:lnTo>
                    <a:pt x="6107" y="3442"/>
                  </a:lnTo>
                  <a:close/>
                  <a:moveTo>
                    <a:pt x="11147" y="4556"/>
                  </a:moveTo>
                  <a:lnTo>
                    <a:pt x="11147" y="9161"/>
                  </a:lnTo>
                  <a:lnTo>
                    <a:pt x="10178" y="9161"/>
                  </a:lnTo>
                  <a:lnTo>
                    <a:pt x="10178" y="4556"/>
                  </a:lnTo>
                  <a:close/>
                  <a:moveTo>
                    <a:pt x="1503" y="1"/>
                  </a:moveTo>
                  <a:lnTo>
                    <a:pt x="1309" y="49"/>
                  </a:lnTo>
                  <a:lnTo>
                    <a:pt x="1164" y="146"/>
                  </a:lnTo>
                  <a:lnTo>
                    <a:pt x="1067" y="292"/>
                  </a:lnTo>
                  <a:lnTo>
                    <a:pt x="1018" y="485"/>
                  </a:lnTo>
                  <a:lnTo>
                    <a:pt x="1018" y="9161"/>
                  </a:lnTo>
                  <a:lnTo>
                    <a:pt x="485" y="9161"/>
                  </a:lnTo>
                  <a:lnTo>
                    <a:pt x="291" y="9209"/>
                  </a:lnTo>
                  <a:lnTo>
                    <a:pt x="146" y="9306"/>
                  </a:lnTo>
                  <a:lnTo>
                    <a:pt x="49" y="9500"/>
                  </a:lnTo>
                  <a:lnTo>
                    <a:pt x="0" y="9694"/>
                  </a:lnTo>
                  <a:lnTo>
                    <a:pt x="49" y="9888"/>
                  </a:lnTo>
                  <a:lnTo>
                    <a:pt x="146" y="10033"/>
                  </a:lnTo>
                  <a:lnTo>
                    <a:pt x="291" y="10130"/>
                  </a:lnTo>
                  <a:lnTo>
                    <a:pt x="485" y="10178"/>
                  </a:lnTo>
                  <a:lnTo>
                    <a:pt x="12698" y="10178"/>
                  </a:lnTo>
                  <a:lnTo>
                    <a:pt x="12892" y="10130"/>
                  </a:lnTo>
                  <a:lnTo>
                    <a:pt x="13038" y="10033"/>
                  </a:lnTo>
                  <a:lnTo>
                    <a:pt x="13183" y="9888"/>
                  </a:lnTo>
                  <a:lnTo>
                    <a:pt x="13183" y="9694"/>
                  </a:lnTo>
                  <a:lnTo>
                    <a:pt x="13183" y="9500"/>
                  </a:lnTo>
                  <a:lnTo>
                    <a:pt x="13038" y="9306"/>
                  </a:lnTo>
                  <a:lnTo>
                    <a:pt x="12892" y="9209"/>
                  </a:lnTo>
                  <a:lnTo>
                    <a:pt x="12698" y="9161"/>
                  </a:lnTo>
                  <a:lnTo>
                    <a:pt x="12165" y="9161"/>
                  </a:lnTo>
                  <a:lnTo>
                    <a:pt x="12165" y="4072"/>
                  </a:lnTo>
                  <a:lnTo>
                    <a:pt x="12165" y="3878"/>
                  </a:lnTo>
                  <a:lnTo>
                    <a:pt x="12020" y="3684"/>
                  </a:lnTo>
                  <a:lnTo>
                    <a:pt x="11874" y="3587"/>
                  </a:lnTo>
                  <a:lnTo>
                    <a:pt x="11680" y="3539"/>
                  </a:lnTo>
                  <a:lnTo>
                    <a:pt x="9645" y="3539"/>
                  </a:lnTo>
                  <a:lnTo>
                    <a:pt x="9451" y="3587"/>
                  </a:lnTo>
                  <a:lnTo>
                    <a:pt x="9306" y="3684"/>
                  </a:lnTo>
                  <a:lnTo>
                    <a:pt x="9160" y="3878"/>
                  </a:lnTo>
                  <a:lnTo>
                    <a:pt x="9160" y="4072"/>
                  </a:lnTo>
                  <a:lnTo>
                    <a:pt x="9160" y="9161"/>
                  </a:lnTo>
                  <a:lnTo>
                    <a:pt x="8143" y="9161"/>
                  </a:lnTo>
                  <a:lnTo>
                    <a:pt x="8143" y="2909"/>
                  </a:lnTo>
                  <a:lnTo>
                    <a:pt x="8094" y="2715"/>
                  </a:lnTo>
                  <a:lnTo>
                    <a:pt x="7997" y="2569"/>
                  </a:lnTo>
                  <a:lnTo>
                    <a:pt x="7803" y="2472"/>
                  </a:lnTo>
                  <a:lnTo>
                    <a:pt x="7609" y="2424"/>
                  </a:lnTo>
                  <a:lnTo>
                    <a:pt x="5574" y="2424"/>
                  </a:lnTo>
                  <a:lnTo>
                    <a:pt x="5380" y="2472"/>
                  </a:lnTo>
                  <a:lnTo>
                    <a:pt x="5235" y="2569"/>
                  </a:lnTo>
                  <a:lnTo>
                    <a:pt x="5138" y="2715"/>
                  </a:lnTo>
                  <a:lnTo>
                    <a:pt x="5089" y="2909"/>
                  </a:lnTo>
                  <a:lnTo>
                    <a:pt x="5089" y="9161"/>
                  </a:lnTo>
                  <a:lnTo>
                    <a:pt x="4071" y="9161"/>
                  </a:lnTo>
                  <a:lnTo>
                    <a:pt x="4071" y="485"/>
                  </a:lnTo>
                  <a:lnTo>
                    <a:pt x="4023" y="292"/>
                  </a:lnTo>
                  <a:lnTo>
                    <a:pt x="3926" y="146"/>
                  </a:lnTo>
                  <a:lnTo>
                    <a:pt x="3732" y="49"/>
                  </a:lnTo>
                  <a:lnTo>
                    <a:pt x="3538" y="1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155;p71">
              <a:extLst>
                <a:ext uri="{FF2B5EF4-FFF2-40B4-BE49-F238E27FC236}">
                  <a16:creationId xmlns:a16="http://schemas.microsoft.com/office/drawing/2014/main" id="{B79A6458-B1A8-BEC7-02AD-B41F926FA73E}"/>
                </a:ext>
              </a:extLst>
            </p:cNvPr>
            <p:cNvSpPr/>
            <p:nvPr/>
          </p:nvSpPr>
          <p:spPr>
            <a:xfrm>
              <a:off x="6857900" y="1420437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534" y="0"/>
                  </a:moveTo>
                  <a:lnTo>
                    <a:pt x="340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1" y="485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340" y="969"/>
                  </a:lnTo>
                  <a:lnTo>
                    <a:pt x="534" y="1018"/>
                  </a:lnTo>
                  <a:lnTo>
                    <a:pt x="728" y="969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728" y="49"/>
                  </a:lnTo>
                  <a:lnTo>
                    <a:pt x="534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1156;p71">
              <a:extLst>
                <a:ext uri="{FF2B5EF4-FFF2-40B4-BE49-F238E27FC236}">
                  <a16:creationId xmlns:a16="http://schemas.microsoft.com/office/drawing/2014/main" id="{AE0CF3A1-10AF-6CD2-05BF-C9F4C0F8734E}"/>
                </a:ext>
              </a:extLst>
            </p:cNvPr>
            <p:cNvSpPr/>
            <p:nvPr/>
          </p:nvSpPr>
          <p:spPr>
            <a:xfrm>
              <a:off x="6901721" y="1420437"/>
              <a:ext cx="23007" cy="23007"/>
            </a:xfrm>
            <a:custGeom>
              <a:avLst/>
              <a:gdLst/>
              <a:ahLst/>
              <a:cxnLst/>
              <a:rect l="l" t="t" r="r" b="b"/>
              <a:pathLst>
                <a:path w="1018" h="1018" extrusionOk="0">
                  <a:moveTo>
                    <a:pt x="533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49" y="291"/>
                  </a:lnTo>
                  <a:lnTo>
                    <a:pt x="0" y="485"/>
                  </a:lnTo>
                  <a:lnTo>
                    <a:pt x="49" y="727"/>
                  </a:lnTo>
                  <a:lnTo>
                    <a:pt x="146" y="873"/>
                  </a:lnTo>
                  <a:lnTo>
                    <a:pt x="291" y="969"/>
                  </a:lnTo>
                  <a:lnTo>
                    <a:pt x="533" y="1018"/>
                  </a:lnTo>
                  <a:lnTo>
                    <a:pt x="727" y="969"/>
                  </a:lnTo>
                  <a:lnTo>
                    <a:pt x="873" y="873"/>
                  </a:lnTo>
                  <a:lnTo>
                    <a:pt x="969" y="727"/>
                  </a:lnTo>
                  <a:lnTo>
                    <a:pt x="1018" y="485"/>
                  </a:lnTo>
                  <a:lnTo>
                    <a:pt x="969" y="291"/>
                  </a:lnTo>
                  <a:lnTo>
                    <a:pt x="873" y="146"/>
                  </a:lnTo>
                  <a:lnTo>
                    <a:pt x="727" y="49"/>
                  </a:lnTo>
                  <a:lnTo>
                    <a:pt x="533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1157;p71">
              <a:extLst>
                <a:ext uri="{FF2B5EF4-FFF2-40B4-BE49-F238E27FC236}">
                  <a16:creationId xmlns:a16="http://schemas.microsoft.com/office/drawing/2014/main" id="{3BBF4F83-86E3-F6A5-3FD2-B7999D8672EC}"/>
                </a:ext>
              </a:extLst>
            </p:cNvPr>
            <p:cNvSpPr/>
            <p:nvPr/>
          </p:nvSpPr>
          <p:spPr>
            <a:xfrm>
              <a:off x="6946627" y="1420437"/>
              <a:ext cx="23029" cy="23007"/>
            </a:xfrm>
            <a:custGeom>
              <a:avLst/>
              <a:gdLst/>
              <a:ahLst/>
              <a:cxnLst/>
              <a:rect l="l" t="t" r="r" b="b"/>
              <a:pathLst>
                <a:path w="1019" h="1018" extrusionOk="0">
                  <a:moveTo>
                    <a:pt x="485" y="0"/>
                  </a:moveTo>
                  <a:lnTo>
                    <a:pt x="291" y="49"/>
                  </a:lnTo>
                  <a:lnTo>
                    <a:pt x="146" y="146"/>
                  </a:lnTo>
                  <a:lnTo>
                    <a:pt x="0" y="291"/>
                  </a:lnTo>
                  <a:lnTo>
                    <a:pt x="0" y="485"/>
                  </a:lnTo>
                  <a:lnTo>
                    <a:pt x="0" y="727"/>
                  </a:lnTo>
                  <a:lnTo>
                    <a:pt x="146" y="873"/>
                  </a:lnTo>
                  <a:lnTo>
                    <a:pt x="291" y="969"/>
                  </a:lnTo>
                  <a:lnTo>
                    <a:pt x="485" y="1018"/>
                  </a:lnTo>
                  <a:lnTo>
                    <a:pt x="679" y="969"/>
                  </a:lnTo>
                  <a:lnTo>
                    <a:pt x="873" y="873"/>
                  </a:lnTo>
                  <a:lnTo>
                    <a:pt x="970" y="727"/>
                  </a:lnTo>
                  <a:lnTo>
                    <a:pt x="1018" y="485"/>
                  </a:lnTo>
                  <a:lnTo>
                    <a:pt x="970" y="291"/>
                  </a:lnTo>
                  <a:lnTo>
                    <a:pt x="873" y="146"/>
                  </a:lnTo>
                  <a:lnTo>
                    <a:pt x="679" y="49"/>
                  </a:lnTo>
                  <a:lnTo>
                    <a:pt x="485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C5729775-B7F1-0121-C995-114C3FC76B9E}"/>
              </a:ext>
            </a:extLst>
          </p:cNvPr>
          <p:cNvSpPr txBox="1"/>
          <p:nvPr/>
        </p:nvSpPr>
        <p:spPr>
          <a:xfrm>
            <a:off x="346078" y="4094272"/>
            <a:ext cx="7817469" cy="9079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300" dirty="0">
                <a:latin typeface="DM Sans" pitchFamily="2" charset="0"/>
              </a:rPr>
              <a:t>       </a:t>
            </a:r>
            <a:r>
              <a:rPr lang="en-IN" b="1" dirty="0">
                <a:latin typeface="DM Sans" pitchFamily="2" charset="0"/>
              </a:rPr>
              <a:t>Data Validation Summary:</a:t>
            </a:r>
          </a:p>
          <a:p>
            <a:endParaRPr lang="en-IN" sz="1300" b="1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Ensured all derived fields had valid ranges and no nulls, confirming dataset readiness for KPI analysis.</a:t>
            </a:r>
            <a:endParaRPr lang="en-IN" sz="1300" dirty="0"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33064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6391527D-6749-2F0A-BA10-7BD6DDA6F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ED7FC479-BF90-B601-0DFA-3F6584CB88F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2311477"/>
            <a:ext cx="4344300" cy="1061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200" dirty="0"/>
              <a:t>Exploratory Analysis &amp; KPI Development</a:t>
            </a:r>
            <a:endParaRPr sz="3200" dirty="0"/>
          </a:p>
        </p:txBody>
      </p:sp>
      <p:sp>
        <p:nvSpPr>
          <p:cNvPr id="430" name="Google Shape;430;p40">
            <a:extLst>
              <a:ext uri="{FF2B5EF4-FFF2-40B4-BE49-F238E27FC236}">
                <a16:creationId xmlns:a16="http://schemas.microsoft.com/office/drawing/2014/main" id="{C6AA0BA4-20C1-0B8F-1C37-516EC6ED230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FDBC455D-2E1E-32EB-B242-99FD34B3653E}"/>
              </a:ext>
            </a:extLst>
          </p:cNvPr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3D8D6773-FC19-014D-FA23-2817710E79CF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CA12C2F5-0A27-121B-CB09-526B92C05362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C94A7714-CF51-0C7B-AB18-070513F77405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EE46B989-2396-69E6-93F9-5FF2D9199192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9C8F9A7B-BB04-B380-8F7F-C183124CA451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2ADDE318-F0BB-DA28-6858-83C9D57F455B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82A27483-1DEF-FD4C-08B5-07F85DEBB90A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7F0434C7-16D6-F87F-0682-15CF300C84E1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0F4F4598-5B58-F101-7A07-2C8B06028FF8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CD58DDFE-07B0-1A06-5118-2D441E1E0DFC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DDE7107E-81F4-A847-0FCE-31F23FE63C23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28281B43-36D5-47A2-47B1-1A1AB2C01AFD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06D4930E-AAF4-2983-B20A-AC7D5B0DA716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4B008594-0481-C4AB-F8D3-BC6ED6C08F21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F42DF8B1-92C6-EACD-4F40-93C03DABC194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0FF3E12B-BFAF-E0FA-0448-678F36C48C0E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86BA951E-8061-BD78-C0F2-9C732FF0C170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F28F1630-29B3-7436-4FC5-F9D65401DF22}"/>
              </a:ext>
            </a:extLst>
          </p:cNvPr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F22A969-0E8F-41D0-E817-5B14478AA1B2}"/>
              </a:ext>
            </a:extLst>
          </p:cNvPr>
          <p:cNvSpPr txBox="1"/>
          <p:nvPr/>
        </p:nvSpPr>
        <p:spPr>
          <a:xfrm>
            <a:off x="713225" y="3353707"/>
            <a:ext cx="4008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384655"/>
                </a:solidFill>
                <a:latin typeface="DM Sans" pitchFamily="2" charset="0"/>
              </a:rPr>
              <a:t>Deriving key performance indicators and uncovering booking trends using SQL analysis.</a:t>
            </a:r>
            <a:endParaRPr lang="en-IN" i="1" dirty="0">
              <a:solidFill>
                <a:srgbClr val="384655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30673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A76563-8501-98FD-D136-824A6476C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9D21E69B-2196-32E2-FD8A-FD248D938097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F6DB90D6-790E-941F-5A56-68171679A5CF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8223734A-F3AF-8BF8-CA45-F8075C4F093E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6C1A4DBF-5234-1D2C-0E72-6BB718B0B1FC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07DF221-4813-C3EC-000D-8E1F085F2245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Objective &amp; KPI Framework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9E6A12C-2294-BC4F-1305-DD8CA7F96F5F}"/>
              </a:ext>
            </a:extLst>
          </p:cNvPr>
          <p:cNvSpPr txBox="1"/>
          <p:nvPr/>
        </p:nvSpPr>
        <p:spPr>
          <a:xfrm>
            <a:off x="331076" y="1269124"/>
            <a:ext cx="839356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       Objective</a:t>
            </a:r>
          </a:p>
          <a:p>
            <a:endParaRPr lang="en-US" b="1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To explore hotel booking data using SQL-based aggregations and derive meaningful KPIs that highlight </a:t>
            </a:r>
            <a:r>
              <a:rPr lang="en-US" b="1" dirty="0">
                <a:latin typeface="DM Sans" pitchFamily="2" charset="0"/>
              </a:rPr>
              <a:t>booking patterns</a:t>
            </a:r>
            <a:r>
              <a:rPr lang="en-US" dirty="0">
                <a:latin typeface="DM Sans" pitchFamily="2" charset="0"/>
              </a:rPr>
              <a:t>, </a:t>
            </a:r>
            <a:r>
              <a:rPr lang="en-US" b="1" dirty="0">
                <a:latin typeface="DM Sans" pitchFamily="2" charset="0"/>
              </a:rPr>
              <a:t>guest behavior</a:t>
            </a:r>
            <a:r>
              <a:rPr lang="en-US" dirty="0">
                <a:latin typeface="DM Sans" pitchFamily="2" charset="0"/>
              </a:rPr>
              <a:t>, </a:t>
            </a:r>
            <a:r>
              <a:rPr lang="en-US" b="1" dirty="0">
                <a:latin typeface="DM Sans" pitchFamily="2" charset="0"/>
              </a:rPr>
              <a:t>revenue performance</a:t>
            </a:r>
            <a:r>
              <a:rPr lang="en-US" dirty="0">
                <a:latin typeface="DM Sans" pitchFamily="2" charset="0"/>
              </a:rPr>
              <a:t>, and </a:t>
            </a:r>
            <a:r>
              <a:rPr lang="en-US" b="1" dirty="0">
                <a:latin typeface="DM Sans" pitchFamily="2" charset="0"/>
              </a:rPr>
              <a:t>cancellation risks</a:t>
            </a:r>
            <a:r>
              <a:rPr lang="en-US" dirty="0">
                <a:latin typeface="DM Sans" pitchFamily="2" charset="0"/>
              </a:rPr>
              <a:t>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FF98E50-8FCD-7874-5FD6-56F3C2F48433}"/>
              </a:ext>
            </a:extLst>
          </p:cNvPr>
          <p:cNvSpPr txBox="1"/>
          <p:nvPr/>
        </p:nvSpPr>
        <p:spPr>
          <a:xfrm>
            <a:off x="331076" y="2704080"/>
            <a:ext cx="83935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latin typeface="DM Sans" pitchFamily="2" charset="0"/>
              </a:rPr>
              <a:t>       </a:t>
            </a:r>
            <a:r>
              <a:rPr lang="en-IN" b="1" dirty="0">
                <a:latin typeface="DM Sans" pitchFamily="2" charset="0"/>
              </a:rPr>
              <a:t>KPI Framework:</a:t>
            </a:r>
            <a:endParaRPr lang="en-US" b="1" dirty="0">
              <a:latin typeface="DM Sans" pitchFamily="2" charset="0"/>
            </a:endParaRPr>
          </a:p>
          <a:p>
            <a:endParaRPr lang="en-US" b="1" dirty="0">
              <a:latin typeface="DM Sans" pitchFamily="2" charset="0"/>
            </a:endParaRPr>
          </a:p>
          <a:p>
            <a:r>
              <a:rPr lang="en-US" dirty="0">
                <a:latin typeface="DM Sans" pitchFamily="2" charset="0"/>
              </a:rPr>
              <a:t>KPIs were organized into </a:t>
            </a:r>
            <a:r>
              <a:rPr lang="en-US" b="1" dirty="0">
                <a:latin typeface="DM Sans" pitchFamily="2" charset="0"/>
              </a:rPr>
              <a:t>four analytical groups</a:t>
            </a:r>
            <a:r>
              <a:rPr lang="en-US" dirty="0">
                <a:latin typeface="DM Sans" pitchFamily="2" charset="0"/>
              </a:rPr>
              <a:t> to ensure structured insight generation across all business dimensions:</a:t>
            </a:r>
          </a:p>
          <a:p>
            <a:endParaRPr lang="en-US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DM Sans" pitchFamily="2" charset="0"/>
              </a:rPr>
              <a:t>Booking Volume &amp; Trends</a:t>
            </a:r>
            <a:r>
              <a:rPr lang="en-US" dirty="0">
                <a:latin typeface="DM Sans" pitchFamily="2" charset="0"/>
              </a:rPr>
              <a:t> – Demand analysis over time and seasons.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DM Sans" pitchFamily="2" charset="0"/>
              </a:rPr>
              <a:t>Profit &amp; Revenue Metrics</a:t>
            </a:r>
            <a:r>
              <a:rPr lang="en-US" dirty="0">
                <a:latin typeface="DM Sans" pitchFamily="2" charset="0"/>
              </a:rPr>
              <a:t> – Financial performance tracking.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DM Sans" pitchFamily="2" charset="0"/>
              </a:rPr>
              <a:t>Guest Behavior KPIs</a:t>
            </a:r>
            <a:r>
              <a:rPr lang="en-US" dirty="0">
                <a:latin typeface="DM Sans" pitchFamily="2" charset="0"/>
              </a:rPr>
              <a:t> – Understanding booking behavior and planning patterns.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latin typeface="DM Sans" pitchFamily="2" charset="0"/>
              </a:rPr>
              <a:t>Cancellation Intelligence</a:t>
            </a:r>
            <a:r>
              <a:rPr lang="en-US" dirty="0">
                <a:latin typeface="DM Sans" pitchFamily="2" charset="0"/>
              </a:rPr>
              <a:t> – Identifying patterns and root causes of cancellations.</a:t>
            </a:r>
          </a:p>
        </p:txBody>
      </p:sp>
      <p:sp>
        <p:nvSpPr>
          <p:cNvPr id="11" name="Google Shape;9190;p84">
            <a:extLst>
              <a:ext uri="{FF2B5EF4-FFF2-40B4-BE49-F238E27FC236}">
                <a16:creationId xmlns:a16="http://schemas.microsoft.com/office/drawing/2014/main" id="{47E46140-CCE6-2FC3-A488-46C050F459A2}"/>
              </a:ext>
            </a:extLst>
          </p:cNvPr>
          <p:cNvSpPr/>
          <p:nvPr/>
        </p:nvSpPr>
        <p:spPr>
          <a:xfrm>
            <a:off x="331076" y="1269124"/>
            <a:ext cx="260131" cy="250293"/>
          </a:xfrm>
          <a:custGeom>
            <a:avLst/>
            <a:gdLst/>
            <a:ahLst/>
            <a:cxnLst/>
            <a:rect l="l" t="t" r="r" b="b"/>
            <a:pathLst>
              <a:path w="19516" h="19326" extrusionOk="0">
                <a:moveTo>
                  <a:pt x="15929" y="1934"/>
                </a:moveTo>
                <a:lnTo>
                  <a:pt x="15929" y="2834"/>
                </a:lnTo>
                <a:cubicBezTo>
                  <a:pt x="15929" y="3145"/>
                  <a:pt x="16182" y="3398"/>
                  <a:pt x="16496" y="3398"/>
                </a:cubicBezTo>
                <a:lnTo>
                  <a:pt x="17393" y="3398"/>
                </a:lnTo>
                <a:lnTo>
                  <a:pt x="16261" y="4531"/>
                </a:lnTo>
                <a:lnTo>
                  <a:pt x="14796" y="4531"/>
                </a:lnTo>
                <a:lnTo>
                  <a:pt x="14796" y="3066"/>
                </a:lnTo>
                <a:lnTo>
                  <a:pt x="15929" y="1934"/>
                </a:lnTo>
                <a:close/>
                <a:moveTo>
                  <a:pt x="9663" y="7927"/>
                </a:moveTo>
                <a:cubicBezTo>
                  <a:pt x="9926" y="7927"/>
                  <a:pt x="10183" y="7991"/>
                  <a:pt x="10418" y="8109"/>
                </a:cubicBezTo>
                <a:lnTo>
                  <a:pt x="9262" y="9262"/>
                </a:lnTo>
                <a:cubicBezTo>
                  <a:pt x="9041" y="9485"/>
                  <a:pt x="9041" y="9842"/>
                  <a:pt x="9262" y="10065"/>
                </a:cubicBezTo>
                <a:cubicBezTo>
                  <a:pt x="9372" y="10175"/>
                  <a:pt x="9517" y="10231"/>
                  <a:pt x="9662" y="10231"/>
                </a:cubicBezTo>
                <a:cubicBezTo>
                  <a:pt x="9807" y="10231"/>
                  <a:pt x="9952" y="10175"/>
                  <a:pt x="10062" y="10065"/>
                </a:cubicBezTo>
                <a:lnTo>
                  <a:pt x="11218" y="8909"/>
                </a:lnTo>
                <a:cubicBezTo>
                  <a:pt x="11336" y="9141"/>
                  <a:pt x="11399" y="9401"/>
                  <a:pt x="11399" y="9664"/>
                </a:cubicBezTo>
                <a:cubicBezTo>
                  <a:pt x="11399" y="10585"/>
                  <a:pt x="10605" y="11364"/>
                  <a:pt x="9663" y="11364"/>
                </a:cubicBezTo>
                <a:cubicBezTo>
                  <a:pt x="8721" y="11364"/>
                  <a:pt x="7927" y="10585"/>
                  <a:pt x="7927" y="9664"/>
                </a:cubicBezTo>
                <a:cubicBezTo>
                  <a:pt x="7927" y="8722"/>
                  <a:pt x="8721" y="7927"/>
                  <a:pt x="9663" y="7927"/>
                </a:cubicBezTo>
                <a:close/>
                <a:moveTo>
                  <a:pt x="9663" y="5663"/>
                </a:moveTo>
                <a:cubicBezTo>
                  <a:pt x="10527" y="5666"/>
                  <a:pt x="11363" y="5953"/>
                  <a:pt x="12049" y="6478"/>
                </a:cubicBezTo>
                <a:lnTo>
                  <a:pt x="11242" y="7287"/>
                </a:lnTo>
                <a:cubicBezTo>
                  <a:pt x="10777" y="6967"/>
                  <a:pt x="10228" y="6798"/>
                  <a:pt x="9663" y="6795"/>
                </a:cubicBezTo>
                <a:cubicBezTo>
                  <a:pt x="8108" y="6795"/>
                  <a:pt x="6795" y="8109"/>
                  <a:pt x="6795" y="9664"/>
                </a:cubicBezTo>
                <a:cubicBezTo>
                  <a:pt x="6795" y="10422"/>
                  <a:pt x="7103" y="11143"/>
                  <a:pt x="7649" y="11669"/>
                </a:cubicBezTo>
                <a:cubicBezTo>
                  <a:pt x="8208" y="12220"/>
                  <a:pt x="8935" y="12495"/>
                  <a:pt x="9663" y="12495"/>
                </a:cubicBezTo>
                <a:cubicBezTo>
                  <a:pt x="10391" y="12495"/>
                  <a:pt x="11119" y="12220"/>
                  <a:pt x="11677" y="11669"/>
                </a:cubicBezTo>
                <a:cubicBezTo>
                  <a:pt x="12224" y="11143"/>
                  <a:pt x="12532" y="10422"/>
                  <a:pt x="12532" y="9664"/>
                </a:cubicBezTo>
                <a:cubicBezTo>
                  <a:pt x="12529" y="9099"/>
                  <a:pt x="12360" y="8549"/>
                  <a:pt x="12043" y="8084"/>
                </a:cubicBezTo>
                <a:lnTo>
                  <a:pt x="12849" y="7278"/>
                </a:lnTo>
                <a:cubicBezTo>
                  <a:pt x="13374" y="7964"/>
                  <a:pt x="13661" y="8800"/>
                  <a:pt x="13664" y="9664"/>
                </a:cubicBezTo>
                <a:cubicBezTo>
                  <a:pt x="13664" y="11850"/>
                  <a:pt x="11870" y="13628"/>
                  <a:pt x="9663" y="13628"/>
                </a:cubicBezTo>
                <a:cubicBezTo>
                  <a:pt x="7456" y="13628"/>
                  <a:pt x="5662" y="11850"/>
                  <a:pt x="5662" y="9664"/>
                </a:cubicBezTo>
                <a:cubicBezTo>
                  <a:pt x="5662" y="7496"/>
                  <a:pt x="7495" y="5663"/>
                  <a:pt x="9663" y="5663"/>
                </a:cubicBezTo>
                <a:close/>
                <a:moveTo>
                  <a:pt x="9676" y="3398"/>
                </a:moveTo>
                <a:cubicBezTo>
                  <a:pt x="11130" y="3398"/>
                  <a:pt x="12541" y="3902"/>
                  <a:pt x="13664" y="4826"/>
                </a:cubicBezTo>
                <a:lnTo>
                  <a:pt x="13664" y="4863"/>
                </a:lnTo>
                <a:lnTo>
                  <a:pt x="12861" y="5663"/>
                </a:lnTo>
                <a:cubicBezTo>
                  <a:pt x="11911" y="4901"/>
                  <a:pt x="10770" y="4528"/>
                  <a:pt x="9634" y="4528"/>
                </a:cubicBezTo>
                <a:cubicBezTo>
                  <a:pt x="8214" y="4528"/>
                  <a:pt x="6803" y="5111"/>
                  <a:pt x="5786" y="6246"/>
                </a:cubicBezTo>
                <a:cubicBezTo>
                  <a:pt x="3959" y="8287"/>
                  <a:pt x="4047" y="11403"/>
                  <a:pt x="5985" y="13341"/>
                </a:cubicBezTo>
                <a:cubicBezTo>
                  <a:pt x="6991" y="14346"/>
                  <a:pt x="8313" y="14852"/>
                  <a:pt x="9638" y="14852"/>
                </a:cubicBezTo>
                <a:cubicBezTo>
                  <a:pt x="10866" y="14852"/>
                  <a:pt x="12096" y="14417"/>
                  <a:pt x="13078" y="13538"/>
                </a:cubicBezTo>
                <a:cubicBezTo>
                  <a:pt x="15119" y="11711"/>
                  <a:pt x="15376" y="8604"/>
                  <a:pt x="13664" y="6463"/>
                </a:cubicBezTo>
                <a:lnTo>
                  <a:pt x="14464" y="5663"/>
                </a:lnTo>
                <a:lnTo>
                  <a:pt x="14503" y="5663"/>
                </a:lnTo>
                <a:cubicBezTo>
                  <a:pt x="15430" y="6789"/>
                  <a:pt x="15935" y="8205"/>
                  <a:pt x="15929" y="9664"/>
                </a:cubicBezTo>
                <a:cubicBezTo>
                  <a:pt x="15929" y="13100"/>
                  <a:pt x="13117" y="15893"/>
                  <a:pt x="9663" y="15893"/>
                </a:cubicBezTo>
                <a:cubicBezTo>
                  <a:pt x="6209" y="15893"/>
                  <a:pt x="3398" y="13100"/>
                  <a:pt x="3398" y="9664"/>
                </a:cubicBezTo>
                <a:cubicBezTo>
                  <a:pt x="3398" y="6209"/>
                  <a:pt x="6209" y="3398"/>
                  <a:pt x="9663" y="3398"/>
                </a:cubicBezTo>
                <a:cubicBezTo>
                  <a:pt x="9668" y="3398"/>
                  <a:pt x="9672" y="3398"/>
                  <a:pt x="9676" y="3398"/>
                </a:cubicBezTo>
                <a:close/>
                <a:moveTo>
                  <a:pt x="9663" y="1134"/>
                </a:moveTo>
                <a:cubicBezTo>
                  <a:pt x="11176" y="1134"/>
                  <a:pt x="12661" y="1532"/>
                  <a:pt x="13975" y="2287"/>
                </a:cubicBezTo>
                <a:lnTo>
                  <a:pt x="13830" y="2432"/>
                </a:lnTo>
                <a:cubicBezTo>
                  <a:pt x="13724" y="2538"/>
                  <a:pt x="13664" y="2683"/>
                  <a:pt x="13664" y="2834"/>
                </a:cubicBezTo>
                <a:lnTo>
                  <a:pt x="13664" y="3428"/>
                </a:lnTo>
                <a:cubicBezTo>
                  <a:pt x="12473" y="2670"/>
                  <a:pt x="11090" y="2266"/>
                  <a:pt x="9679" y="2266"/>
                </a:cubicBezTo>
                <a:cubicBezTo>
                  <a:pt x="9674" y="2266"/>
                  <a:pt x="9668" y="2266"/>
                  <a:pt x="9663" y="2266"/>
                </a:cubicBezTo>
                <a:cubicBezTo>
                  <a:pt x="7701" y="2266"/>
                  <a:pt x="5847" y="3039"/>
                  <a:pt x="4443" y="4443"/>
                </a:cubicBezTo>
                <a:cubicBezTo>
                  <a:pt x="3039" y="5847"/>
                  <a:pt x="2266" y="7701"/>
                  <a:pt x="2266" y="9664"/>
                </a:cubicBezTo>
                <a:cubicBezTo>
                  <a:pt x="2266" y="11626"/>
                  <a:pt x="3039" y="13474"/>
                  <a:pt x="4443" y="14866"/>
                </a:cubicBezTo>
                <a:cubicBezTo>
                  <a:pt x="5886" y="16305"/>
                  <a:pt x="7775" y="17024"/>
                  <a:pt x="9663" y="17024"/>
                </a:cubicBezTo>
                <a:cubicBezTo>
                  <a:pt x="11552" y="17024"/>
                  <a:pt x="13441" y="16305"/>
                  <a:pt x="14884" y="14866"/>
                </a:cubicBezTo>
                <a:cubicBezTo>
                  <a:pt x="16288" y="13474"/>
                  <a:pt x="17061" y="11626"/>
                  <a:pt x="17061" y="9664"/>
                </a:cubicBezTo>
                <a:cubicBezTo>
                  <a:pt x="17064" y="8248"/>
                  <a:pt x="16659" y="6859"/>
                  <a:pt x="15898" y="5663"/>
                </a:cubicBezTo>
                <a:lnTo>
                  <a:pt x="16496" y="5663"/>
                </a:lnTo>
                <a:cubicBezTo>
                  <a:pt x="16644" y="5663"/>
                  <a:pt x="16789" y="5602"/>
                  <a:pt x="16895" y="5497"/>
                </a:cubicBezTo>
                <a:lnTo>
                  <a:pt x="17040" y="5352"/>
                </a:lnTo>
                <a:cubicBezTo>
                  <a:pt x="17795" y="6665"/>
                  <a:pt x="18193" y="8151"/>
                  <a:pt x="18193" y="9664"/>
                </a:cubicBezTo>
                <a:cubicBezTo>
                  <a:pt x="18193" y="14368"/>
                  <a:pt x="14367" y="18194"/>
                  <a:pt x="9663" y="18194"/>
                </a:cubicBezTo>
                <a:cubicBezTo>
                  <a:pt x="4959" y="18194"/>
                  <a:pt x="1133" y="14368"/>
                  <a:pt x="1133" y="9664"/>
                </a:cubicBezTo>
                <a:cubicBezTo>
                  <a:pt x="1133" y="4959"/>
                  <a:pt x="4959" y="1134"/>
                  <a:pt x="9663" y="1134"/>
                </a:cubicBezTo>
                <a:close/>
                <a:moveTo>
                  <a:pt x="16491" y="0"/>
                </a:moveTo>
                <a:cubicBezTo>
                  <a:pt x="16352" y="0"/>
                  <a:pt x="16210" y="52"/>
                  <a:pt x="16095" y="167"/>
                </a:cubicBezTo>
                <a:lnTo>
                  <a:pt x="14799" y="1463"/>
                </a:lnTo>
                <a:cubicBezTo>
                  <a:pt x="13256" y="509"/>
                  <a:pt x="11478" y="4"/>
                  <a:pt x="9663" y="1"/>
                </a:cubicBezTo>
                <a:cubicBezTo>
                  <a:pt x="7094" y="1"/>
                  <a:pt x="4669" y="1010"/>
                  <a:pt x="2839" y="2840"/>
                </a:cubicBezTo>
                <a:cubicBezTo>
                  <a:pt x="1009" y="4669"/>
                  <a:pt x="1" y="7094"/>
                  <a:pt x="1" y="9664"/>
                </a:cubicBezTo>
                <a:cubicBezTo>
                  <a:pt x="1" y="12233"/>
                  <a:pt x="1009" y="14658"/>
                  <a:pt x="2839" y="16488"/>
                </a:cubicBezTo>
                <a:cubicBezTo>
                  <a:pt x="4669" y="18317"/>
                  <a:pt x="7094" y="19326"/>
                  <a:pt x="9663" y="19326"/>
                </a:cubicBezTo>
                <a:cubicBezTo>
                  <a:pt x="12233" y="19326"/>
                  <a:pt x="14657" y="18317"/>
                  <a:pt x="16487" y="16488"/>
                </a:cubicBezTo>
                <a:cubicBezTo>
                  <a:pt x="18317" y="14658"/>
                  <a:pt x="19325" y="12233"/>
                  <a:pt x="19325" y="9664"/>
                </a:cubicBezTo>
                <a:cubicBezTo>
                  <a:pt x="19322" y="7849"/>
                  <a:pt x="18818" y="6070"/>
                  <a:pt x="17864" y="4528"/>
                </a:cubicBezTo>
                <a:lnTo>
                  <a:pt x="19159" y="3232"/>
                </a:lnTo>
                <a:cubicBezTo>
                  <a:pt x="19516" y="2876"/>
                  <a:pt x="19265" y="2266"/>
                  <a:pt x="18761" y="2266"/>
                </a:cubicBezTo>
                <a:lnTo>
                  <a:pt x="17061" y="2266"/>
                </a:lnTo>
                <a:lnTo>
                  <a:pt x="17061" y="569"/>
                </a:lnTo>
                <a:cubicBezTo>
                  <a:pt x="17061" y="226"/>
                  <a:pt x="16782" y="0"/>
                  <a:pt x="16491" y="0"/>
                </a:cubicBezTo>
                <a:close/>
              </a:path>
            </a:pathLst>
          </a:custGeom>
          <a:solidFill>
            <a:schemeClr val="tx1">
              <a:lumMod val="50000"/>
            </a:schemeClr>
          </a:solidFill>
          <a:ln>
            <a:solidFill>
              <a:schemeClr val="accent1"/>
            </a:solidFill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5D74"/>
              </a:solidFill>
            </a:endParaRPr>
          </a:p>
        </p:txBody>
      </p:sp>
      <p:pic>
        <p:nvPicPr>
          <p:cNvPr id="16" name="Picture 15" descr="A blue circle with circles and black text">
            <a:extLst>
              <a:ext uri="{FF2B5EF4-FFF2-40B4-BE49-F238E27FC236}">
                <a16:creationId xmlns:a16="http://schemas.microsoft.com/office/drawing/2014/main" id="{5FFB11FB-C968-FE61-57D3-08923196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3" t="22089" r="11531" b="22487"/>
          <a:stretch>
            <a:fillRect/>
          </a:stretch>
        </p:blipFill>
        <p:spPr>
          <a:xfrm>
            <a:off x="331075" y="2704080"/>
            <a:ext cx="354725" cy="300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7694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0779F-C900-8211-0FAF-6D494821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EFCD42CF-09AB-1067-71C9-51C0D91EF9E3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D71AEEF3-0D6E-3283-71D0-C8F6EAF1B928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FB8770-DF9A-08B1-FECD-F905F627F6FD}"/>
              </a:ext>
            </a:extLst>
          </p:cNvPr>
          <p:cNvSpPr txBox="1"/>
          <p:nvPr/>
        </p:nvSpPr>
        <p:spPr>
          <a:xfrm>
            <a:off x="1160716" y="267880"/>
            <a:ext cx="7452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Group A &amp; Group B KPIs</a:t>
            </a:r>
            <a:endParaRPr lang="en-IN" sz="3200" dirty="0">
              <a:solidFill>
                <a:schemeClr val="tx2">
                  <a:lumMod val="50000"/>
                </a:schemeClr>
              </a:solidFill>
              <a:latin typeface="Outfit" panose="020B060402020202020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306C03-9B93-9AE3-6CE0-38A050F81141}"/>
              </a:ext>
            </a:extLst>
          </p:cNvPr>
          <p:cNvSpPr txBox="1"/>
          <p:nvPr/>
        </p:nvSpPr>
        <p:spPr>
          <a:xfrm>
            <a:off x="208893" y="1077638"/>
            <a:ext cx="8404207" cy="39857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Group A – Booking Volume &amp; Trends</a:t>
            </a:r>
          </a:p>
          <a:p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Focus: Measure overall booking demand and seasonality</a:t>
            </a:r>
          </a:p>
          <a:p>
            <a:endParaRPr lang="en-US" sz="800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Total Bookings:</a:t>
            </a:r>
            <a:r>
              <a:rPr lang="en-US" sz="1300" dirty="0">
                <a:latin typeface="DM Sans" pitchFamily="2" charset="0"/>
              </a:rPr>
              <a:t> Total ~119K bookings analyzed.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Bookings per Year:</a:t>
            </a:r>
            <a:r>
              <a:rPr lang="en-US" sz="1300" dirty="0">
                <a:latin typeface="DM Sans" pitchFamily="2" charset="0"/>
              </a:rPr>
              <a:t> Slight increase from 2015 → 2016, minor dip in 2017.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Bookings per Month:</a:t>
            </a:r>
            <a:r>
              <a:rPr lang="en-US" sz="1300" dirty="0">
                <a:latin typeface="DM Sans" pitchFamily="2" charset="0"/>
              </a:rPr>
              <a:t> Peak bookings during July–August (holiday season).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Bookings per Season:</a:t>
            </a:r>
            <a:r>
              <a:rPr lang="en-US" sz="1300" dirty="0">
                <a:latin typeface="DM Sans" pitchFamily="2" charset="0"/>
              </a:rPr>
              <a:t> Summer and Spring showed highest demand.</a:t>
            </a:r>
          </a:p>
          <a:p>
            <a:endParaRPr lang="en-US" sz="8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➡ </a:t>
            </a:r>
            <a:r>
              <a:rPr lang="en-US" sz="1300" b="1" dirty="0">
                <a:latin typeface="DM Sans" pitchFamily="2" charset="0"/>
              </a:rPr>
              <a:t>Insight:</a:t>
            </a:r>
            <a:r>
              <a:rPr lang="en-US" sz="1300" dirty="0">
                <a:latin typeface="DM Sans" pitchFamily="2" charset="0"/>
              </a:rPr>
              <a:t> </a:t>
            </a:r>
            <a:r>
              <a:rPr lang="en-US" sz="1200" dirty="0">
                <a:latin typeface="DM Sans" pitchFamily="2" charset="0"/>
              </a:rPr>
              <a:t>Booking activity peaks during summer months – confirming strong seasonal demand patterns.</a:t>
            </a:r>
          </a:p>
          <a:p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      </a:t>
            </a:r>
            <a:r>
              <a:rPr lang="en-US" sz="1300" b="1" dirty="0">
                <a:latin typeface="DM Sans" pitchFamily="2" charset="0"/>
              </a:rPr>
              <a:t>Group B – Profit &amp; Revenue Metrics</a:t>
            </a:r>
          </a:p>
          <a:p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Focus: Evaluate hotel profitability and ADR performance.</a:t>
            </a:r>
          </a:p>
          <a:p>
            <a:endParaRPr lang="en-US" sz="800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Average Daily Rate (ADR):</a:t>
            </a:r>
            <a:r>
              <a:rPr lang="en-US" sz="1300" dirty="0">
                <a:latin typeface="DM Sans" pitchFamily="2" charset="0"/>
              </a:rPr>
              <a:t> Higher for City Hotels; consistent growth across months.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Revenue Estimation:</a:t>
            </a:r>
            <a:r>
              <a:rPr lang="en-US" sz="1300" dirty="0">
                <a:latin typeface="DM Sans" pitchFamily="2" charset="0"/>
              </a:rPr>
              <a:t> City Hotels contribute higher overall revenue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Revenue by Hotel Type:</a:t>
            </a:r>
            <a:r>
              <a:rPr lang="en-US" sz="1300" dirty="0">
                <a:latin typeface="DM Sans" pitchFamily="2" charset="0"/>
              </a:rPr>
              <a:t> Resort Hotels show steadier ADR but lower booking count.</a:t>
            </a:r>
          </a:p>
          <a:p>
            <a:endParaRPr lang="en-US" sz="8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➡ </a:t>
            </a:r>
            <a:r>
              <a:rPr lang="en-US" sz="1300" b="1" dirty="0">
                <a:latin typeface="DM Sans" pitchFamily="2" charset="0"/>
              </a:rPr>
              <a:t>Insight:</a:t>
            </a:r>
            <a:r>
              <a:rPr lang="en-US" sz="1300" dirty="0">
                <a:latin typeface="DM Sans" pitchFamily="2" charset="0"/>
              </a:rPr>
              <a:t> </a:t>
            </a:r>
            <a:r>
              <a:rPr lang="en-US" sz="1300" i="1" dirty="0">
                <a:latin typeface="DM Sans" pitchFamily="2" charset="0"/>
              </a:rPr>
              <a:t>City Hotels drive higher revenue through volume, while Resort Hotels maintain stable ADR across seasons.</a:t>
            </a:r>
            <a:endParaRPr lang="en-US" sz="1300" dirty="0">
              <a:latin typeface="DM Sans" pitchFamily="2" charset="0"/>
            </a:endParaRPr>
          </a:p>
        </p:txBody>
      </p:sp>
      <p:grpSp>
        <p:nvGrpSpPr>
          <p:cNvPr id="25" name="Google Shape;9678;p85">
            <a:extLst>
              <a:ext uri="{FF2B5EF4-FFF2-40B4-BE49-F238E27FC236}">
                <a16:creationId xmlns:a16="http://schemas.microsoft.com/office/drawing/2014/main" id="{08E41186-F12E-B1D9-9D5B-C01240C8838A}"/>
              </a:ext>
            </a:extLst>
          </p:cNvPr>
          <p:cNvGrpSpPr/>
          <p:nvPr/>
        </p:nvGrpSpPr>
        <p:grpSpPr>
          <a:xfrm>
            <a:off x="207340" y="1078408"/>
            <a:ext cx="310896" cy="273283"/>
            <a:chOff x="-25104475" y="2340425"/>
            <a:chExt cx="295375" cy="296150"/>
          </a:xfrm>
        </p:grpSpPr>
        <p:sp>
          <p:nvSpPr>
            <p:cNvPr id="26" name="Google Shape;9679;p85">
              <a:extLst>
                <a:ext uri="{FF2B5EF4-FFF2-40B4-BE49-F238E27FC236}">
                  <a16:creationId xmlns:a16="http://schemas.microsoft.com/office/drawing/2014/main" id="{C180F601-C3D9-8BB2-C667-9E4E4FD04AFA}"/>
                </a:ext>
              </a:extLst>
            </p:cNvPr>
            <p:cNvSpPr/>
            <p:nvPr/>
          </p:nvSpPr>
          <p:spPr>
            <a:xfrm>
              <a:off x="-25104475" y="2340425"/>
              <a:ext cx="225275" cy="296150"/>
            </a:xfrm>
            <a:custGeom>
              <a:avLst/>
              <a:gdLst/>
              <a:ahLst/>
              <a:cxnLst/>
              <a:rect l="l" t="t" r="r" b="b"/>
              <a:pathLst>
                <a:path w="9011" h="11846" extrusionOk="0">
                  <a:moveTo>
                    <a:pt x="4474" y="693"/>
                  </a:moveTo>
                  <a:cubicBezTo>
                    <a:pt x="5041" y="693"/>
                    <a:pt x="5514" y="1166"/>
                    <a:pt x="5514" y="1733"/>
                  </a:cubicBezTo>
                  <a:cubicBezTo>
                    <a:pt x="5514" y="1922"/>
                    <a:pt x="5671" y="2079"/>
                    <a:pt x="5860" y="2079"/>
                  </a:cubicBezTo>
                  <a:lnTo>
                    <a:pt x="6585" y="2079"/>
                  </a:lnTo>
                  <a:cubicBezTo>
                    <a:pt x="6774" y="2079"/>
                    <a:pt x="6931" y="2237"/>
                    <a:pt x="6931" y="2426"/>
                  </a:cubicBezTo>
                  <a:lnTo>
                    <a:pt x="6931" y="2804"/>
                  </a:lnTo>
                  <a:lnTo>
                    <a:pt x="2080" y="2804"/>
                  </a:lnTo>
                  <a:lnTo>
                    <a:pt x="2080" y="2426"/>
                  </a:lnTo>
                  <a:cubicBezTo>
                    <a:pt x="2048" y="2237"/>
                    <a:pt x="2206" y="2079"/>
                    <a:pt x="2395" y="2079"/>
                  </a:cubicBezTo>
                  <a:lnTo>
                    <a:pt x="3119" y="2079"/>
                  </a:lnTo>
                  <a:cubicBezTo>
                    <a:pt x="3308" y="2079"/>
                    <a:pt x="3466" y="1922"/>
                    <a:pt x="3466" y="1733"/>
                  </a:cubicBezTo>
                  <a:cubicBezTo>
                    <a:pt x="3466" y="1134"/>
                    <a:pt x="3939" y="693"/>
                    <a:pt x="4474" y="693"/>
                  </a:cubicBezTo>
                  <a:close/>
                  <a:moveTo>
                    <a:pt x="8003" y="2804"/>
                  </a:moveTo>
                  <a:cubicBezTo>
                    <a:pt x="8192" y="2804"/>
                    <a:pt x="8349" y="2962"/>
                    <a:pt x="8349" y="3151"/>
                  </a:cubicBezTo>
                  <a:lnTo>
                    <a:pt x="8349" y="10838"/>
                  </a:lnTo>
                  <a:lnTo>
                    <a:pt x="8286" y="10838"/>
                  </a:lnTo>
                  <a:cubicBezTo>
                    <a:pt x="8286" y="11027"/>
                    <a:pt x="8129" y="11184"/>
                    <a:pt x="7940" y="11184"/>
                  </a:cubicBezTo>
                  <a:lnTo>
                    <a:pt x="1009" y="11184"/>
                  </a:lnTo>
                  <a:cubicBezTo>
                    <a:pt x="820" y="11184"/>
                    <a:pt x="662" y="11027"/>
                    <a:pt x="662" y="10838"/>
                  </a:cubicBezTo>
                  <a:lnTo>
                    <a:pt x="662" y="3151"/>
                  </a:lnTo>
                  <a:cubicBezTo>
                    <a:pt x="662" y="2962"/>
                    <a:pt x="820" y="2804"/>
                    <a:pt x="1009" y="2804"/>
                  </a:cubicBezTo>
                  <a:lnTo>
                    <a:pt x="1355" y="2804"/>
                  </a:lnTo>
                  <a:lnTo>
                    <a:pt x="1355" y="3151"/>
                  </a:lnTo>
                  <a:cubicBezTo>
                    <a:pt x="1355" y="3340"/>
                    <a:pt x="1544" y="3497"/>
                    <a:pt x="1733" y="3497"/>
                  </a:cubicBezTo>
                  <a:lnTo>
                    <a:pt x="7278" y="3497"/>
                  </a:lnTo>
                  <a:cubicBezTo>
                    <a:pt x="7467" y="3497"/>
                    <a:pt x="7625" y="3340"/>
                    <a:pt x="7625" y="3151"/>
                  </a:cubicBezTo>
                  <a:lnTo>
                    <a:pt x="7625" y="2804"/>
                  </a:lnTo>
                  <a:close/>
                  <a:moveTo>
                    <a:pt x="4474" y="0"/>
                  </a:moveTo>
                  <a:cubicBezTo>
                    <a:pt x="3655" y="0"/>
                    <a:pt x="2930" y="599"/>
                    <a:pt x="2773" y="1386"/>
                  </a:cubicBezTo>
                  <a:lnTo>
                    <a:pt x="2395" y="1386"/>
                  </a:lnTo>
                  <a:cubicBezTo>
                    <a:pt x="1954" y="1386"/>
                    <a:pt x="1576" y="1638"/>
                    <a:pt x="1418" y="2079"/>
                  </a:cubicBezTo>
                  <a:lnTo>
                    <a:pt x="1009" y="2079"/>
                  </a:lnTo>
                  <a:cubicBezTo>
                    <a:pt x="410" y="2079"/>
                    <a:pt x="0" y="2552"/>
                    <a:pt x="0" y="3119"/>
                  </a:cubicBezTo>
                  <a:lnTo>
                    <a:pt x="0" y="10838"/>
                  </a:lnTo>
                  <a:cubicBezTo>
                    <a:pt x="0" y="11405"/>
                    <a:pt x="473" y="11846"/>
                    <a:pt x="1009" y="11846"/>
                  </a:cubicBezTo>
                  <a:lnTo>
                    <a:pt x="7940" y="11846"/>
                  </a:lnTo>
                  <a:cubicBezTo>
                    <a:pt x="8538" y="11846"/>
                    <a:pt x="8979" y="11373"/>
                    <a:pt x="8979" y="10838"/>
                  </a:cubicBezTo>
                  <a:lnTo>
                    <a:pt x="8979" y="3151"/>
                  </a:lnTo>
                  <a:cubicBezTo>
                    <a:pt x="9011" y="2552"/>
                    <a:pt x="8538" y="2079"/>
                    <a:pt x="7940" y="2079"/>
                  </a:cubicBezTo>
                  <a:lnTo>
                    <a:pt x="7562" y="2079"/>
                  </a:lnTo>
                  <a:cubicBezTo>
                    <a:pt x="7404" y="1701"/>
                    <a:pt x="7026" y="1386"/>
                    <a:pt x="6553" y="1386"/>
                  </a:cubicBezTo>
                  <a:lnTo>
                    <a:pt x="6175" y="1386"/>
                  </a:lnTo>
                  <a:cubicBezTo>
                    <a:pt x="6018" y="599"/>
                    <a:pt x="5293" y="0"/>
                    <a:pt x="44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9680;p85">
              <a:extLst>
                <a:ext uri="{FF2B5EF4-FFF2-40B4-BE49-F238E27FC236}">
                  <a16:creationId xmlns:a16="http://schemas.microsoft.com/office/drawing/2014/main" id="{8FBBBC98-4A62-6460-7ADC-9285A06CECBB}"/>
                </a:ext>
              </a:extLst>
            </p:cNvPr>
            <p:cNvSpPr/>
            <p:nvPr/>
          </p:nvSpPr>
          <p:spPr>
            <a:xfrm>
              <a:off x="-25001300" y="2375075"/>
              <a:ext cx="18150" cy="17350"/>
            </a:xfrm>
            <a:custGeom>
              <a:avLst/>
              <a:gdLst/>
              <a:ahLst/>
              <a:cxnLst/>
              <a:rect l="l" t="t" r="r" b="b"/>
              <a:pathLst>
                <a:path w="726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cubicBezTo>
                    <a:pt x="568" y="693"/>
                    <a:pt x="725" y="536"/>
                    <a:pt x="725" y="347"/>
                  </a:cubicBezTo>
                  <a:cubicBezTo>
                    <a:pt x="725" y="158"/>
                    <a:pt x="568" y="0"/>
                    <a:pt x="34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9681;p85">
              <a:extLst>
                <a:ext uri="{FF2B5EF4-FFF2-40B4-BE49-F238E27FC236}">
                  <a16:creationId xmlns:a16="http://schemas.microsoft.com/office/drawing/2014/main" id="{28C0D670-01A8-DB87-2BF5-190BD2A4E317}"/>
                </a:ext>
              </a:extLst>
            </p:cNvPr>
            <p:cNvSpPr/>
            <p:nvPr/>
          </p:nvSpPr>
          <p:spPr>
            <a:xfrm>
              <a:off x="-25070600" y="2444375"/>
              <a:ext cx="87450" cy="86675"/>
            </a:xfrm>
            <a:custGeom>
              <a:avLst/>
              <a:gdLst/>
              <a:ahLst/>
              <a:cxnLst/>
              <a:rect l="l" t="t" r="r" b="b"/>
              <a:pathLst>
                <a:path w="3498" h="3467" extrusionOk="0">
                  <a:moveTo>
                    <a:pt x="2773" y="725"/>
                  </a:moveTo>
                  <a:lnTo>
                    <a:pt x="2773" y="2805"/>
                  </a:lnTo>
                  <a:lnTo>
                    <a:pt x="693" y="2805"/>
                  </a:lnTo>
                  <a:lnTo>
                    <a:pt x="693" y="725"/>
                  </a:lnTo>
                  <a:close/>
                  <a:moveTo>
                    <a:pt x="378" y="1"/>
                  </a:moveTo>
                  <a:cubicBezTo>
                    <a:pt x="189" y="1"/>
                    <a:pt x="0" y="158"/>
                    <a:pt x="0" y="379"/>
                  </a:cubicBezTo>
                  <a:lnTo>
                    <a:pt x="0" y="3120"/>
                  </a:lnTo>
                  <a:cubicBezTo>
                    <a:pt x="0" y="3309"/>
                    <a:pt x="189" y="3466"/>
                    <a:pt x="378" y="3466"/>
                  </a:cubicBezTo>
                  <a:lnTo>
                    <a:pt x="3119" y="3466"/>
                  </a:lnTo>
                  <a:cubicBezTo>
                    <a:pt x="3340" y="3466"/>
                    <a:pt x="3497" y="3309"/>
                    <a:pt x="3497" y="3120"/>
                  </a:cubicBezTo>
                  <a:lnTo>
                    <a:pt x="3497" y="379"/>
                  </a:lnTo>
                  <a:cubicBezTo>
                    <a:pt x="3497" y="158"/>
                    <a:pt x="3340" y="1"/>
                    <a:pt x="311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9" name="Google Shape;9682;p85">
              <a:extLst>
                <a:ext uri="{FF2B5EF4-FFF2-40B4-BE49-F238E27FC236}">
                  <a16:creationId xmlns:a16="http://schemas.microsoft.com/office/drawing/2014/main" id="{54F567C5-BC01-8F6C-7449-235EB465B643}"/>
                </a:ext>
              </a:extLst>
            </p:cNvPr>
            <p:cNvSpPr/>
            <p:nvPr/>
          </p:nvSpPr>
          <p:spPr>
            <a:xfrm>
              <a:off x="-24966650" y="247902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68"/>
                    <a:pt x="158" y="726"/>
                    <a:pt x="347" y="726"/>
                  </a:cubicBezTo>
                  <a:lnTo>
                    <a:pt x="1734" y="726"/>
                  </a:lnTo>
                  <a:cubicBezTo>
                    <a:pt x="1923" y="726"/>
                    <a:pt x="2080" y="568"/>
                    <a:pt x="2080" y="347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9683;p85">
              <a:extLst>
                <a:ext uri="{FF2B5EF4-FFF2-40B4-BE49-F238E27FC236}">
                  <a16:creationId xmlns:a16="http://schemas.microsoft.com/office/drawing/2014/main" id="{2E8F5A8A-6531-64F7-C17D-2DDD9B741886}"/>
                </a:ext>
              </a:extLst>
            </p:cNvPr>
            <p:cNvSpPr/>
            <p:nvPr/>
          </p:nvSpPr>
          <p:spPr>
            <a:xfrm>
              <a:off x="-24966650" y="2444375"/>
              <a:ext cx="52025" cy="18150"/>
            </a:xfrm>
            <a:custGeom>
              <a:avLst/>
              <a:gdLst/>
              <a:ahLst/>
              <a:cxnLst/>
              <a:rect l="l" t="t" r="r" b="b"/>
              <a:pathLst>
                <a:path w="2081" h="726" extrusionOk="0">
                  <a:moveTo>
                    <a:pt x="347" y="1"/>
                  </a:moveTo>
                  <a:cubicBezTo>
                    <a:pt x="158" y="1"/>
                    <a:pt x="1" y="158"/>
                    <a:pt x="1" y="379"/>
                  </a:cubicBezTo>
                  <a:cubicBezTo>
                    <a:pt x="1" y="568"/>
                    <a:pt x="158" y="725"/>
                    <a:pt x="347" y="725"/>
                  </a:cubicBezTo>
                  <a:lnTo>
                    <a:pt x="1734" y="725"/>
                  </a:lnTo>
                  <a:cubicBezTo>
                    <a:pt x="1923" y="725"/>
                    <a:pt x="2080" y="568"/>
                    <a:pt x="2080" y="379"/>
                  </a:cubicBezTo>
                  <a:cubicBezTo>
                    <a:pt x="2080" y="158"/>
                    <a:pt x="1923" y="1"/>
                    <a:pt x="173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9684;p85">
              <a:extLst>
                <a:ext uri="{FF2B5EF4-FFF2-40B4-BE49-F238E27FC236}">
                  <a16:creationId xmlns:a16="http://schemas.microsoft.com/office/drawing/2014/main" id="{986F184F-850D-D390-E775-89A12BBD6CAD}"/>
                </a:ext>
              </a:extLst>
            </p:cNvPr>
            <p:cNvSpPr/>
            <p:nvPr/>
          </p:nvSpPr>
          <p:spPr>
            <a:xfrm>
              <a:off x="-24966650" y="2513700"/>
              <a:ext cx="52025" cy="17350"/>
            </a:xfrm>
            <a:custGeom>
              <a:avLst/>
              <a:gdLst/>
              <a:ahLst/>
              <a:cxnLst/>
              <a:rect l="l" t="t" r="r" b="b"/>
              <a:pathLst>
                <a:path w="2081" h="694" extrusionOk="0">
                  <a:moveTo>
                    <a:pt x="347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47" y="693"/>
                  </a:cubicBezTo>
                  <a:lnTo>
                    <a:pt x="1734" y="693"/>
                  </a:lnTo>
                  <a:cubicBezTo>
                    <a:pt x="1923" y="693"/>
                    <a:pt x="2080" y="536"/>
                    <a:pt x="2080" y="347"/>
                  </a:cubicBezTo>
                  <a:cubicBezTo>
                    <a:pt x="2080" y="158"/>
                    <a:pt x="1923" y="0"/>
                    <a:pt x="173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9685;p85">
              <a:extLst>
                <a:ext uri="{FF2B5EF4-FFF2-40B4-BE49-F238E27FC236}">
                  <a16:creationId xmlns:a16="http://schemas.microsoft.com/office/drawing/2014/main" id="{963B56C5-BBF3-C67E-563E-DAFFA495696E}"/>
                </a:ext>
              </a:extLst>
            </p:cNvPr>
            <p:cNvSpPr/>
            <p:nvPr/>
          </p:nvSpPr>
          <p:spPr>
            <a:xfrm>
              <a:off x="-25071400" y="2549125"/>
              <a:ext cx="156775" cy="17350"/>
            </a:xfrm>
            <a:custGeom>
              <a:avLst/>
              <a:gdLst/>
              <a:ahLst/>
              <a:cxnLst/>
              <a:rect l="l" t="t" r="r" b="b"/>
              <a:pathLst>
                <a:path w="6271" h="694" extrusionOk="0">
                  <a:moveTo>
                    <a:pt x="379" y="1"/>
                  </a:moveTo>
                  <a:cubicBezTo>
                    <a:pt x="158" y="1"/>
                    <a:pt x="1" y="158"/>
                    <a:pt x="1" y="347"/>
                  </a:cubicBezTo>
                  <a:cubicBezTo>
                    <a:pt x="1" y="536"/>
                    <a:pt x="158" y="694"/>
                    <a:pt x="379" y="694"/>
                  </a:cubicBezTo>
                  <a:lnTo>
                    <a:pt x="5924" y="694"/>
                  </a:lnTo>
                  <a:cubicBezTo>
                    <a:pt x="6113" y="694"/>
                    <a:pt x="6270" y="536"/>
                    <a:pt x="6270" y="347"/>
                  </a:cubicBezTo>
                  <a:cubicBezTo>
                    <a:pt x="6270" y="158"/>
                    <a:pt x="6113" y="1"/>
                    <a:pt x="592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9686;p85">
              <a:extLst>
                <a:ext uri="{FF2B5EF4-FFF2-40B4-BE49-F238E27FC236}">
                  <a16:creationId xmlns:a16="http://schemas.microsoft.com/office/drawing/2014/main" id="{B071B680-BBB5-EC8E-B548-CDE35C4EB9F6}"/>
                </a:ext>
              </a:extLst>
            </p:cNvPr>
            <p:cNvSpPr/>
            <p:nvPr/>
          </p:nvSpPr>
          <p:spPr>
            <a:xfrm>
              <a:off x="-25071400" y="2583800"/>
              <a:ext cx="156775" cy="17350"/>
            </a:xfrm>
            <a:custGeom>
              <a:avLst/>
              <a:gdLst/>
              <a:ahLst/>
              <a:cxnLst/>
              <a:rect l="l" t="t" r="r" b="b"/>
              <a:pathLst>
                <a:path w="6271" h="694" extrusionOk="0">
                  <a:moveTo>
                    <a:pt x="379" y="0"/>
                  </a:moveTo>
                  <a:cubicBezTo>
                    <a:pt x="158" y="0"/>
                    <a:pt x="1" y="158"/>
                    <a:pt x="1" y="347"/>
                  </a:cubicBezTo>
                  <a:cubicBezTo>
                    <a:pt x="1" y="536"/>
                    <a:pt x="158" y="693"/>
                    <a:pt x="379" y="693"/>
                  </a:cubicBezTo>
                  <a:lnTo>
                    <a:pt x="5924" y="693"/>
                  </a:lnTo>
                  <a:cubicBezTo>
                    <a:pt x="6113" y="693"/>
                    <a:pt x="6270" y="536"/>
                    <a:pt x="6270" y="347"/>
                  </a:cubicBezTo>
                  <a:cubicBezTo>
                    <a:pt x="6270" y="158"/>
                    <a:pt x="6113" y="0"/>
                    <a:pt x="592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9687;p85">
              <a:extLst>
                <a:ext uri="{FF2B5EF4-FFF2-40B4-BE49-F238E27FC236}">
                  <a16:creationId xmlns:a16="http://schemas.microsoft.com/office/drawing/2014/main" id="{5415F2A3-A51B-4AB9-BF34-F60D4699CF4F}"/>
                </a:ext>
              </a:extLst>
            </p:cNvPr>
            <p:cNvSpPr/>
            <p:nvPr/>
          </p:nvSpPr>
          <p:spPr>
            <a:xfrm>
              <a:off x="-24862675" y="2375850"/>
              <a:ext cx="53575" cy="260725"/>
            </a:xfrm>
            <a:custGeom>
              <a:avLst/>
              <a:gdLst/>
              <a:ahLst/>
              <a:cxnLst/>
              <a:rect l="l" t="t" r="r" b="b"/>
              <a:pathLst>
                <a:path w="2143" h="10429" extrusionOk="0">
                  <a:moveTo>
                    <a:pt x="1103" y="1103"/>
                  </a:moveTo>
                  <a:lnTo>
                    <a:pt x="1481" y="1797"/>
                  </a:lnTo>
                  <a:lnTo>
                    <a:pt x="1481" y="7625"/>
                  </a:lnTo>
                  <a:lnTo>
                    <a:pt x="757" y="7625"/>
                  </a:lnTo>
                  <a:lnTo>
                    <a:pt x="757" y="1797"/>
                  </a:lnTo>
                  <a:lnTo>
                    <a:pt x="1103" y="1103"/>
                  </a:lnTo>
                  <a:close/>
                  <a:moveTo>
                    <a:pt x="1481" y="8255"/>
                  </a:moveTo>
                  <a:lnTo>
                    <a:pt x="1481" y="9358"/>
                  </a:lnTo>
                  <a:cubicBezTo>
                    <a:pt x="1450" y="9578"/>
                    <a:pt x="1324" y="9736"/>
                    <a:pt x="1103" y="9736"/>
                  </a:cubicBezTo>
                  <a:cubicBezTo>
                    <a:pt x="914" y="9736"/>
                    <a:pt x="757" y="9578"/>
                    <a:pt x="757" y="9358"/>
                  </a:cubicBezTo>
                  <a:lnTo>
                    <a:pt x="757" y="8255"/>
                  </a:lnTo>
                  <a:close/>
                  <a:moveTo>
                    <a:pt x="1072" y="1"/>
                  </a:moveTo>
                  <a:cubicBezTo>
                    <a:pt x="946" y="1"/>
                    <a:pt x="820" y="64"/>
                    <a:pt x="757" y="190"/>
                  </a:cubicBezTo>
                  <a:lnTo>
                    <a:pt x="32" y="1576"/>
                  </a:lnTo>
                  <a:cubicBezTo>
                    <a:pt x="0" y="1608"/>
                    <a:pt x="0" y="1702"/>
                    <a:pt x="0" y="1734"/>
                  </a:cubicBezTo>
                  <a:lnTo>
                    <a:pt x="0" y="9421"/>
                  </a:lnTo>
                  <a:cubicBezTo>
                    <a:pt x="0" y="9988"/>
                    <a:pt x="473" y="10429"/>
                    <a:pt x="1040" y="10429"/>
                  </a:cubicBezTo>
                  <a:cubicBezTo>
                    <a:pt x="1607" y="10429"/>
                    <a:pt x="2048" y="9956"/>
                    <a:pt x="2048" y="9421"/>
                  </a:cubicBezTo>
                  <a:lnTo>
                    <a:pt x="2048" y="1734"/>
                  </a:lnTo>
                  <a:cubicBezTo>
                    <a:pt x="2143" y="1639"/>
                    <a:pt x="2143" y="1608"/>
                    <a:pt x="2111" y="1576"/>
                  </a:cubicBezTo>
                  <a:lnTo>
                    <a:pt x="1387" y="190"/>
                  </a:lnTo>
                  <a:cubicBezTo>
                    <a:pt x="1355" y="64"/>
                    <a:pt x="1198" y="1"/>
                    <a:pt x="107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" name="Google Shape;1182;p71">
            <a:extLst>
              <a:ext uri="{FF2B5EF4-FFF2-40B4-BE49-F238E27FC236}">
                <a16:creationId xmlns:a16="http://schemas.microsoft.com/office/drawing/2014/main" id="{73C0448B-16D1-2386-EBF2-3BC215FB4A11}"/>
              </a:ext>
            </a:extLst>
          </p:cNvPr>
          <p:cNvGrpSpPr/>
          <p:nvPr/>
        </p:nvGrpSpPr>
        <p:grpSpPr>
          <a:xfrm>
            <a:off x="206318" y="3108963"/>
            <a:ext cx="324582" cy="273283"/>
            <a:chOff x="3287190" y="1999856"/>
            <a:chExt cx="392133" cy="392133"/>
          </a:xfrm>
        </p:grpSpPr>
        <p:sp>
          <p:nvSpPr>
            <p:cNvPr id="36" name="Google Shape;1183;p71">
              <a:extLst>
                <a:ext uri="{FF2B5EF4-FFF2-40B4-BE49-F238E27FC236}">
                  <a16:creationId xmlns:a16="http://schemas.microsoft.com/office/drawing/2014/main" id="{5DB27E84-E66C-106A-9B3A-76D82975403E}"/>
                </a:ext>
              </a:extLst>
            </p:cNvPr>
            <p:cNvSpPr/>
            <p:nvPr/>
          </p:nvSpPr>
          <p:spPr>
            <a:xfrm>
              <a:off x="3380302" y="2056808"/>
              <a:ext cx="75597" cy="147872"/>
            </a:xfrm>
            <a:custGeom>
              <a:avLst/>
              <a:gdLst/>
              <a:ahLst/>
              <a:cxnLst/>
              <a:rect l="l" t="t" r="r" b="b"/>
              <a:pathLst>
                <a:path w="3345" h="6543" extrusionOk="0">
                  <a:moveTo>
                    <a:pt x="1454" y="0"/>
                  </a:moveTo>
                  <a:lnTo>
                    <a:pt x="1309" y="146"/>
                  </a:lnTo>
                  <a:lnTo>
                    <a:pt x="1163" y="291"/>
                  </a:lnTo>
                  <a:lnTo>
                    <a:pt x="1163" y="485"/>
                  </a:lnTo>
                  <a:lnTo>
                    <a:pt x="1163" y="679"/>
                  </a:lnTo>
                  <a:lnTo>
                    <a:pt x="775" y="824"/>
                  </a:lnTo>
                  <a:lnTo>
                    <a:pt x="485" y="1066"/>
                  </a:lnTo>
                  <a:lnTo>
                    <a:pt x="291" y="1406"/>
                  </a:lnTo>
                  <a:lnTo>
                    <a:pt x="145" y="1793"/>
                  </a:lnTo>
                  <a:lnTo>
                    <a:pt x="145" y="2181"/>
                  </a:lnTo>
                  <a:lnTo>
                    <a:pt x="194" y="2520"/>
                  </a:lnTo>
                  <a:lnTo>
                    <a:pt x="339" y="2811"/>
                  </a:lnTo>
                  <a:lnTo>
                    <a:pt x="582" y="3054"/>
                  </a:lnTo>
                  <a:lnTo>
                    <a:pt x="969" y="3296"/>
                  </a:lnTo>
                  <a:lnTo>
                    <a:pt x="1454" y="3538"/>
                  </a:lnTo>
                  <a:lnTo>
                    <a:pt x="1939" y="3732"/>
                  </a:lnTo>
                  <a:lnTo>
                    <a:pt x="2181" y="3877"/>
                  </a:lnTo>
                  <a:lnTo>
                    <a:pt x="2278" y="4023"/>
                  </a:lnTo>
                  <a:lnTo>
                    <a:pt x="2326" y="4168"/>
                  </a:lnTo>
                  <a:lnTo>
                    <a:pt x="2326" y="4314"/>
                  </a:lnTo>
                  <a:lnTo>
                    <a:pt x="2278" y="4556"/>
                  </a:lnTo>
                  <a:lnTo>
                    <a:pt x="2132" y="4750"/>
                  </a:lnTo>
                  <a:lnTo>
                    <a:pt x="1939" y="4847"/>
                  </a:lnTo>
                  <a:lnTo>
                    <a:pt x="1648" y="4895"/>
                  </a:lnTo>
                  <a:lnTo>
                    <a:pt x="1163" y="4895"/>
                  </a:lnTo>
                  <a:lnTo>
                    <a:pt x="1018" y="4798"/>
                  </a:lnTo>
                  <a:lnTo>
                    <a:pt x="775" y="4701"/>
                  </a:lnTo>
                  <a:lnTo>
                    <a:pt x="630" y="4604"/>
                  </a:lnTo>
                  <a:lnTo>
                    <a:pt x="436" y="4604"/>
                  </a:lnTo>
                  <a:lnTo>
                    <a:pt x="242" y="4701"/>
                  </a:lnTo>
                  <a:lnTo>
                    <a:pt x="97" y="4798"/>
                  </a:lnTo>
                  <a:lnTo>
                    <a:pt x="0" y="4992"/>
                  </a:lnTo>
                  <a:lnTo>
                    <a:pt x="0" y="5186"/>
                  </a:lnTo>
                  <a:lnTo>
                    <a:pt x="97" y="5380"/>
                  </a:lnTo>
                  <a:lnTo>
                    <a:pt x="242" y="5525"/>
                  </a:lnTo>
                  <a:lnTo>
                    <a:pt x="679" y="5816"/>
                  </a:lnTo>
                  <a:lnTo>
                    <a:pt x="921" y="5864"/>
                  </a:lnTo>
                  <a:lnTo>
                    <a:pt x="1163" y="5913"/>
                  </a:lnTo>
                  <a:lnTo>
                    <a:pt x="1163" y="6058"/>
                  </a:lnTo>
                  <a:lnTo>
                    <a:pt x="1163" y="6252"/>
                  </a:lnTo>
                  <a:lnTo>
                    <a:pt x="1260" y="6398"/>
                  </a:lnTo>
                  <a:lnTo>
                    <a:pt x="1454" y="6495"/>
                  </a:lnTo>
                  <a:lnTo>
                    <a:pt x="1648" y="6543"/>
                  </a:lnTo>
                  <a:lnTo>
                    <a:pt x="1842" y="6543"/>
                  </a:lnTo>
                  <a:lnTo>
                    <a:pt x="1987" y="6398"/>
                  </a:lnTo>
                  <a:lnTo>
                    <a:pt x="2132" y="6252"/>
                  </a:lnTo>
                  <a:lnTo>
                    <a:pt x="2181" y="6058"/>
                  </a:lnTo>
                  <a:lnTo>
                    <a:pt x="2181" y="5864"/>
                  </a:lnTo>
                  <a:lnTo>
                    <a:pt x="2520" y="5719"/>
                  </a:lnTo>
                  <a:lnTo>
                    <a:pt x="2811" y="5477"/>
                  </a:lnTo>
                  <a:lnTo>
                    <a:pt x="3005" y="5283"/>
                  </a:lnTo>
                  <a:lnTo>
                    <a:pt x="3150" y="5041"/>
                  </a:lnTo>
                  <a:lnTo>
                    <a:pt x="3247" y="4798"/>
                  </a:lnTo>
                  <a:lnTo>
                    <a:pt x="3344" y="4507"/>
                  </a:lnTo>
                  <a:lnTo>
                    <a:pt x="3344" y="4217"/>
                  </a:lnTo>
                  <a:lnTo>
                    <a:pt x="3344" y="3926"/>
                  </a:lnTo>
                  <a:lnTo>
                    <a:pt x="3247" y="3684"/>
                  </a:lnTo>
                  <a:lnTo>
                    <a:pt x="3150" y="3441"/>
                  </a:lnTo>
                  <a:lnTo>
                    <a:pt x="3005" y="3247"/>
                  </a:lnTo>
                  <a:lnTo>
                    <a:pt x="2811" y="3054"/>
                  </a:lnTo>
                  <a:lnTo>
                    <a:pt x="2569" y="2908"/>
                  </a:lnTo>
                  <a:lnTo>
                    <a:pt x="2278" y="2763"/>
                  </a:lnTo>
                  <a:lnTo>
                    <a:pt x="1842" y="2617"/>
                  </a:lnTo>
                  <a:lnTo>
                    <a:pt x="1454" y="2423"/>
                  </a:lnTo>
                  <a:lnTo>
                    <a:pt x="1212" y="2278"/>
                  </a:lnTo>
                  <a:lnTo>
                    <a:pt x="1163" y="2133"/>
                  </a:lnTo>
                  <a:lnTo>
                    <a:pt x="1163" y="1987"/>
                  </a:lnTo>
                  <a:lnTo>
                    <a:pt x="1212" y="1793"/>
                  </a:lnTo>
                  <a:lnTo>
                    <a:pt x="1309" y="1697"/>
                  </a:lnTo>
                  <a:lnTo>
                    <a:pt x="1454" y="1648"/>
                  </a:lnTo>
                  <a:lnTo>
                    <a:pt x="1696" y="1600"/>
                  </a:lnTo>
                  <a:lnTo>
                    <a:pt x="1890" y="1600"/>
                  </a:lnTo>
                  <a:lnTo>
                    <a:pt x="2036" y="1648"/>
                  </a:lnTo>
                  <a:lnTo>
                    <a:pt x="2181" y="1745"/>
                  </a:lnTo>
                  <a:lnTo>
                    <a:pt x="2326" y="1842"/>
                  </a:lnTo>
                  <a:lnTo>
                    <a:pt x="2520" y="1890"/>
                  </a:lnTo>
                  <a:lnTo>
                    <a:pt x="2714" y="1890"/>
                  </a:lnTo>
                  <a:lnTo>
                    <a:pt x="2859" y="1793"/>
                  </a:lnTo>
                  <a:lnTo>
                    <a:pt x="3005" y="1648"/>
                  </a:lnTo>
                  <a:lnTo>
                    <a:pt x="3053" y="1503"/>
                  </a:lnTo>
                  <a:lnTo>
                    <a:pt x="3102" y="1309"/>
                  </a:lnTo>
                  <a:lnTo>
                    <a:pt x="3005" y="1115"/>
                  </a:lnTo>
                  <a:lnTo>
                    <a:pt x="2859" y="1018"/>
                  </a:lnTo>
                  <a:lnTo>
                    <a:pt x="2666" y="824"/>
                  </a:lnTo>
                  <a:lnTo>
                    <a:pt x="2423" y="727"/>
                  </a:lnTo>
                  <a:lnTo>
                    <a:pt x="2181" y="630"/>
                  </a:lnTo>
                  <a:lnTo>
                    <a:pt x="2181" y="533"/>
                  </a:lnTo>
                  <a:lnTo>
                    <a:pt x="2132" y="339"/>
                  </a:lnTo>
                  <a:lnTo>
                    <a:pt x="2036" y="146"/>
                  </a:lnTo>
                  <a:lnTo>
                    <a:pt x="1890" y="49"/>
                  </a:lnTo>
                  <a:lnTo>
                    <a:pt x="1696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1184;p71">
              <a:extLst>
                <a:ext uri="{FF2B5EF4-FFF2-40B4-BE49-F238E27FC236}">
                  <a16:creationId xmlns:a16="http://schemas.microsoft.com/office/drawing/2014/main" id="{440333B3-4F68-6FD9-FFBA-FF8882C3DD75}"/>
                </a:ext>
              </a:extLst>
            </p:cNvPr>
            <p:cNvSpPr/>
            <p:nvPr/>
          </p:nvSpPr>
          <p:spPr>
            <a:xfrm>
              <a:off x="3287190" y="1999856"/>
              <a:ext cx="392133" cy="392133"/>
            </a:xfrm>
            <a:custGeom>
              <a:avLst/>
              <a:gdLst/>
              <a:ahLst/>
              <a:cxnLst/>
              <a:rect l="l" t="t" r="r" b="b"/>
              <a:pathLst>
                <a:path w="17351" h="17351" extrusionOk="0">
                  <a:moveTo>
                    <a:pt x="16333" y="6882"/>
                  </a:moveTo>
                  <a:lnTo>
                    <a:pt x="16333" y="8481"/>
                  </a:lnTo>
                  <a:lnTo>
                    <a:pt x="9500" y="8481"/>
                  </a:lnTo>
                  <a:lnTo>
                    <a:pt x="9500" y="6882"/>
                  </a:lnTo>
                  <a:close/>
                  <a:moveTo>
                    <a:pt x="5816" y="1018"/>
                  </a:moveTo>
                  <a:lnTo>
                    <a:pt x="6301" y="1066"/>
                  </a:lnTo>
                  <a:lnTo>
                    <a:pt x="6786" y="1115"/>
                  </a:lnTo>
                  <a:lnTo>
                    <a:pt x="7222" y="1260"/>
                  </a:lnTo>
                  <a:lnTo>
                    <a:pt x="7658" y="1406"/>
                  </a:lnTo>
                  <a:lnTo>
                    <a:pt x="8094" y="1599"/>
                  </a:lnTo>
                  <a:lnTo>
                    <a:pt x="8482" y="1842"/>
                  </a:lnTo>
                  <a:lnTo>
                    <a:pt x="8870" y="2133"/>
                  </a:lnTo>
                  <a:lnTo>
                    <a:pt x="9209" y="2472"/>
                  </a:lnTo>
                  <a:lnTo>
                    <a:pt x="9500" y="2811"/>
                  </a:lnTo>
                  <a:lnTo>
                    <a:pt x="9790" y="3199"/>
                  </a:lnTo>
                  <a:lnTo>
                    <a:pt x="9984" y="3586"/>
                  </a:lnTo>
                  <a:lnTo>
                    <a:pt x="10227" y="3974"/>
                  </a:lnTo>
                  <a:lnTo>
                    <a:pt x="10372" y="4459"/>
                  </a:lnTo>
                  <a:lnTo>
                    <a:pt x="10469" y="4895"/>
                  </a:lnTo>
                  <a:lnTo>
                    <a:pt x="10517" y="5380"/>
                  </a:lnTo>
                  <a:lnTo>
                    <a:pt x="10566" y="5864"/>
                  </a:lnTo>
                  <a:lnTo>
                    <a:pt x="9015" y="5864"/>
                  </a:lnTo>
                  <a:lnTo>
                    <a:pt x="8821" y="5913"/>
                  </a:lnTo>
                  <a:lnTo>
                    <a:pt x="8627" y="6010"/>
                  </a:lnTo>
                  <a:lnTo>
                    <a:pt x="8530" y="6155"/>
                  </a:lnTo>
                  <a:lnTo>
                    <a:pt x="8482" y="6397"/>
                  </a:lnTo>
                  <a:lnTo>
                    <a:pt x="8482" y="9015"/>
                  </a:lnTo>
                  <a:lnTo>
                    <a:pt x="8482" y="9741"/>
                  </a:lnTo>
                  <a:lnTo>
                    <a:pt x="7852" y="10081"/>
                  </a:lnTo>
                  <a:lnTo>
                    <a:pt x="7222" y="10323"/>
                  </a:lnTo>
                  <a:lnTo>
                    <a:pt x="6495" y="10517"/>
                  </a:lnTo>
                  <a:lnTo>
                    <a:pt x="5816" y="10565"/>
                  </a:lnTo>
                  <a:lnTo>
                    <a:pt x="5332" y="10517"/>
                  </a:lnTo>
                  <a:lnTo>
                    <a:pt x="4847" y="10468"/>
                  </a:lnTo>
                  <a:lnTo>
                    <a:pt x="4362" y="10323"/>
                  </a:lnTo>
                  <a:lnTo>
                    <a:pt x="3926" y="10178"/>
                  </a:lnTo>
                  <a:lnTo>
                    <a:pt x="3538" y="9984"/>
                  </a:lnTo>
                  <a:lnTo>
                    <a:pt x="3151" y="9741"/>
                  </a:lnTo>
                  <a:lnTo>
                    <a:pt x="2763" y="9451"/>
                  </a:lnTo>
                  <a:lnTo>
                    <a:pt x="2424" y="9160"/>
                  </a:lnTo>
                  <a:lnTo>
                    <a:pt x="2133" y="8821"/>
                  </a:lnTo>
                  <a:lnTo>
                    <a:pt x="1842" y="8433"/>
                  </a:lnTo>
                  <a:lnTo>
                    <a:pt x="1600" y="8045"/>
                  </a:lnTo>
                  <a:lnTo>
                    <a:pt x="1406" y="7658"/>
                  </a:lnTo>
                  <a:lnTo>
                    <a:pt x="1261" y="7221"/>
                  </a:lnTo>
                  <a:lnTo>
                    <a:pt x="1115" y="6737"/>
                  </a:lnTo>
                  <a:lnTo>
                    <a:pt x="1067" y="6300"/>
                  </a:lnTo>
                  <a:lnTo>
                    <a:pt x="1018" y="5816"/>
                  </a:lnTo>
                  <a:lnTo>
                    <a:pt x="1067" y="5331"/>
                  </a:lnTo>
                  <a:lnTo>
                    <a:pt x="1115" y="4847"/>
                  </a:lnTo>
                  <a:lnTo>
                    <a:pt x="1261" y="4362"/>
                  </a:lnTo>
                  <a:lnTo>
                    <a:pt x="1406" y="3926"/>
                  </a:lnTo>
                  <a:lnTo>
                    <a:pt x="1600" y="3538"/>
                  </a:lnTo>
                  <a:lnTo>
                    <a:pt x="1842" y="3150"/>
                  </a:lnTo>
                  <a:lnTo>
                    <a:pt x="2133" y="2763"/>
                  </a:lnTo>
                  <a:lnTo>
                    <a:pt x="2424" y="2423"/>
                  </a:lnTo>
                  <a:lnTo>
                    <a:pt x="2763" y="2133"/>
                  </a:lnTo>
                  <a:lnTo>
                    <a:pt x="3151" y="1842"/>
                  </a:lnTo>
                  <a:lnTo>
                    <a:pt x="3538" y="1599"/>
                  </a:lnTo>
                  <a:lnTo>
                    <a:pt x="3926" y="1406"/>
                  </a:lnTo>
                  <a:lnTo>
                    <a:pt x="4362" y="1260"/>
                  </a:lnTo>
                  <a:lnTo>
                    <a:pt x="4847" y="1115"/>
                  </a:lnTo>
                  <a:lnTo>
                    <a:pt x="5332" y="1066"/>
                  </a:lnTo>
                  <a:lnTo>
                    <a:pt x="5816" y="1018"/>
                  </a:lnTo>
                  <a:close/>
                  <a:moveTo>
                    <a:pt x="11099" y="9499"/>
                  </a:moveTo>
                  <a:lnTo>
                    <a:pt x="11099" y="11099"/>
                  </a:lnTo>
                  <a:lnTo>
                    <a:pt x="9500" y="11099"/>
                  </a:lnTo>
                  <a:lnTo>
                    <a:pt x="9500" y="9499"/>
                  </a:lnTo>
                  <a:close/>
                  <a:moveTo>
                    <a:pt x="13716" y="9499"/>
                  </a:moveTo>
                  <a:lnTo>
                    <a:pt x="13716" y="11099"/>
                  </a:lnTo>
                  <a:lnTo>
                    <a:pt x="12117" y="11099"/>
                  </a:lnTo>
                  <a:lnTo>
                    <a:pt x="12117" y="9499"/>
                  </a:lnTo>
                  <a:close/>
                  <a:moveTo>
                    <a:pt x="16333" y="9499"/>
                  </a:moveTo>
                  <a:lnTo>
                    <a:pt x="16333" y="11099"/>
                  </a:lnTo>
                  <a:lnTo>
                    <a:pt x="14734" y="11099"/>
                  </a:lnTo>
                  <a:lnTo>
                    <a:pt x="14734" y="9499"/>
                  </a:lnTo>
                  <a:close/>
                  <a:moveTo>
                    <a:pt x="11099" y="12116"/>
                  </a:moveTo>
                  <a:lnTo>
                    <a:pt x="11099" y="13716"/>
                  </a:lnTo>
                  <a:lnTo>
                    <a:pt x="9500" y="13716"/>
                  </a:lnTo>
                  <a:lnTo>
                    <a:pt x="9500" y="12116"/>
                  </a:lnTo>
                  <a:close/>
                  <a:moveTo>
                    <a:pt x="13716" y="12116"/>
                  </a:moveTo>
                  <a:lnTo>
                    <a:pt x="13716" y="13716"/>
                  </a:lnTo>
                  <a:lnTo>
                    <a:pt x="12117" y="13716"/>
                  </a:lnTo>
                  <a:lnTo>
                    <a:pt x="12117" y="12116"/>
                  </a:lnTo>
                  <a:close/>
                  <a:moveTo>
                    <a:pt x="16333" y="12116"/>
                  </a:moveTo>
                  <a:lnTo>
                    <a:pt x="16333" y="13716"/>
                  </a:lnTo>
                  <a:lnTo>
                    <a:pt x="14734" y="13716"/>
                  </a:lnTo>
                  <a:lnTo>
                    <a:pt x="14734" y="12116"/>
                  </a:lnTo>
                  <a:close/>
                  <a:moveTo>
                    <a:pt x="11099" y="14733"/>
                  </a:moveTo>
                  <a:lnTo>
                    <a:pt x="11099" y="16333"/>
                  </a:lnTo>
                  <a:lnTo>
                    <a:pt x="9500" y="16333"/>
                  </a:lnTo>
                  <a:lnTo>
                    <a:pt x="9500" y="14733"/>
                  </a:lnTo>
                  <a:close/>
                  <a:moveTo>
                    <a:pt x="13716" y="14733"/>
                  </a:moveTo>
                  <a:lnTo>
                    <a:pt x="13716" y="16333"/>
                  </a:lnTo>
                  <a:lnTo>
                    <a:pt x="12117" y="16333"/>
                  </a:lnTo>
                  <a:lnTo>
                    <a:pt x="12117" y="14733"/>
                  </a:lnTo>
                  <a:close/>
                  <a:moveTo>
                    <a:pt x="16333" y="14733"/>
                  </a:moveTo>
                  <a:lnTo>
                    <a:pt x="16333" y="16333"/>
                  </a:lnTo>
                  <a:lnTo>
                    <a:pt x="14734" y="16333"/>
                  </a:lnTo>
                  <a:lnTo>
                    <a:pt x="14734" y="14733"/>
                  </a:lnTo>
                  <a:close/>
                  <a:moveTo>
                    <a:pt x="5816" y="0"/>
                  </a:moveTo>
                  <a:lnTo>
                    <a:pt x="5186" y="49"/>
                  </a:lnTo>
                  <a:lnTo>
                    <a:pt x="4653" y="145"/>
                  </a:lnTo>
                  <a:lnTo>
                    <a:pt x="4072" y="291"/>
                  </a:lnTo>
                  <a:lnTo>
                    <a:pt x="3538" y="485"/>
                  </a:lnTo>
                  <a:lnTo>
                    <a:pt x="3054" y="727"/>
                  </a:lnTo>
                  <a:lnTo>
                    <a:pt x="2569" y="1018"/>
                  </a:lnTo>
                  <a:lnTo>
                    <a:pt x="2133" y="1357"/>
                  </a:lnTo>
                  <a:lnTo>
                    <a:pt x="1697" y="1696"/>
                  </a:lnTo>
                  <a:lnTo>
                    <a:pt x="1358" y="2133"/>
                  </a:lnTo>
                  <a:lnTo>
                    <a:pt x="1018" y="2569"/>
                  </a:lnTo>
                  <a:lnTo>
                    <a:pt x="727" y="3053"/>
                  </a:lnTo>
                  <a:lnTo>
                    <a:pt x="485" y="3538"/>
                  </a:lnTo>
                  <a:lnTo>
                    <a:pt x="291" y="4071"/>
                  </a:lnTo>
                  <a:lnTo>
                    <a:pt x="146" y="4653"/>
                  </a:lnTo>
                  <a:lnTo>
                    <a:pt x="49" y="5186"/>
                  </a:lnTo>
                  <a:lnTo>
                    <a:pt x="0" y="5816"/>
                  </a:lnTo>
                  <a:lnTo>
                    <a:pt x="49" y="6397"/>
                  </a:lnTo>
                  <a:lnTo>
                    <a:pt x="146" y="6979"/>
                  </a:lnTo>
                  <a:lnTo>
                    <a:pt x="291" y="7512"/>
                  </a:lnTo>
                  <a:lnTo>
                    <a:pt x="485" y="8045"/>
                  </a:lnTo>
                  <a:lnTo>
                    <a:pt x="727" y="8530"/>
                  </a:lnTo>
                  <a:lnTo>
                    <a:pt x="1018" y="9015"/>
                  </a:lnTo>
                  <a:lnTo>
                    <a:pt x="1358" y="9451"/>
                  </a:lnTo>
                  <a:lnTo>
                    <a:pt x="1697" y="9887"/>
                  </a:lnTo>
                  <a:lnTo>
                    <a:pt x="2133" y="10226"/>
                  </a:lnTo>
                  <a:lnTo>
                    <a:pt x="2569" y="10565"/>
                  </a:lnTo>
                  <a:lnTo>
                    <a:pt x="3054" y="10856"/>
                  </a:lnTo>
                  <a:lnTo>
                    <a:pt x="3538" y="11099"/>
                  </a:lnTo>
                  <a:lnTo>
                    <a:pt x="4072" y="11292"/>
                  </a:lnTo>
                  <a:lnTo>
                    <a:pt x="4653" y="11438"/>
                  </a:lnTo>
                  <a:lnTo>
                    <a:pt x="5186" y="11535"/>
                  </a:lnTo>
                  <a:lnTo>
                    <a:pt x="5816" y="11583"/>
                  </a:lnTo>
                  <a:lnTo>
                    <a:pt x="6495" y="11535"/>
                  </a:lnTo>
                  <a:lnTo>
                    <a:pt x="7173" y="11389"/>
                  </a:lnTo>
                  <a:lnTo>
                    <a:pt x="7852" y="11195"/>
                  </a:lnTo>
                  <a:lnTo>
                    <a:pt x="8482" y="10905"/>
                  </a:lnTo>
                  <a:lnTo>
                    <a:pt x="8482" y="16866"/>
                  </a:lnTo>
                  <a:lnTo>
                    <a:pt x="8530" y="17060"/>
                  </a:lnTo>
                  <a:lnTo>
                    <a:pt x="8627" y="17205"/>
                  </a:lnTo>
                  <a:lnTo>
                    <a:pt x="8821" y="17302"/>
                  </a:lnTo>
                  <a:lnTo>
                    <a:pt x="9015" y="17350"/>
                  </a:lnTo>
                  <a:lnTo>
                    <a:pt x="16866" y="17350"/>
                  </a:lnTo>
                  <a:lnTo>
                    <a:pt x="17060" y="17302"/>
                  </a:lnTo>
                  <a:lnTo>
                    <a:pt x="17206" y="17205"/>
                  </a:lnTo>
                  <a:lnTo>
                    <a:pt x="17303" y="17060"/>
                  </a:lnTo>
                  <a:lnTo>
                    <a:pt x="17351" y="16866"/>
                  </a:lnTo>
                  <a:lnTo>
                    <a:pt x="17351" y="6397"/>
                  </a:lnTo>
                  <a:lnTo>
                    <a:pt x="17303" y="6155"/>
                  </a:lnTo>
                  <a:lnTo>
                    <a:pt x="17206" y="6010"/>
                  </a:lnTo>
                  <a:lnTo>
                    <a:pt x="17060" y="5913"/>
                  </a:lnTo>
                  <a:lnTo>
                    <a:pt x="16866" y="5864"/>
                  </a:lnTo>
                  <a:lnTo>
                    <a:pt x="11584" y="5864"/>
                  </a:lnTo>
                  <a:lnTo>
                    <a:pt x="11535" y="5283"/>
                  </a:lnTo>
                  <a:lnTo>
                    <a:pt x="11487" y="4701"/>
                  </a:lnTo>
                  <a:lnTo>
                    <a:pt x="11341" y="4120"/>
                  </a:lnTo>
                  <a:lnTo>
                    <a:pt x="11147" y="3586"/>
                  </a:lnTo>
                  <a:lnTo>
                    <a:pt x="10905" y="3102"/>
                  </a:lnTo>
                  <a:lnTo>
                    <a:pt x="10614" y="2617"/>
                  </a:lnTo>
                  <a:lnTo>
                    <a:pt x="10275" y="2133"/>
                  </a:lnTo>
                  <a:lnTo>
                    <a:pt x="9887" y="1745"/>
                  </a:lnTo>
                  <a:lnTo>
                    <a:pt x="9500" y="1357"/>
                  </a:lnTo>
                  <a:lnTo>
                    <a:pt x="9063" y="1018"/>
                  </a:lnTo>
                  <a:lnTo>
                    <a:pt x="8579" y="727"/>
                  </a:lnTo>
                  <a:lnTo>
                    <a:pt x="8046" y="485"/>
                  </a:lnTo>
                  <a:lnTo>
                    <a:pt x="7513" y="291"/>
                  </a:lnTo>
                  <a:lnTo>
                    <a:pt x="6979" y="145"/>
                  </a:lnTo>
                  <a:lnTo>
                    <a:pt x="6398" y="49"/>
                  </a:lnTo>
                  <a:lnTo>
                    <a:pt x="5816" y="0"/>
                  </a:lnTo>
                  <a:close/>
                </a:path>
              </a:pathLst>
            </a:custGeom>
            <a:solidFill>
              <a:schemeClr val="dk1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8" name="Google Shape;1096;p70">
            <a:extLst>
              <a:ext uri="{FF2B5EF4-FFF2-40B4-BE49-F238E27FC236}">
                <a16:creationId xmlns:a16="http://schemas.microsoft.com/office/drawing/2014/main" id="{1ACF7DD0-854B-A943-69E7-3CFB21D07674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097;p70">
            <a:extLst>
              <a:ext uri="{FF2B5EF4-FFF2-40B4-BE49-F238E27FC236}">
                <a16:creationId xmlns:a16="http://schemas.microsoft.com/office/drawing/2014/main" id="{1AEFD96B-591B-FD02-A2FA-B73C1252BE32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19501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90A823-EEDB-B2E3-52F7-EB81FC766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3BF26A60-619F-7840-9A85-BB7F04C3BC9A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43CF8A68-CC84-CF9B-260B-633FC0F5C051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8967E-2C83-9899-7C0B-371835531E2E}"/>
              </a:ext>
            </a:extLst>
          </p:cNvPr>
          <p:cNvSpPr txBox="1"/>
          <p:nvPr/>
        </p:nvSpPr>
        <p:spPr>
          <a:xfrm>
            <a:off x="1160716" y="267880"/>
            <a:ext cx="745238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Group C &amp; Group D KPIs</a:t>
            </a:r>
            <a:endParaRPr lang="en-IN" sz="3200" dirty="0">
              <a:solidFill>
                <a:schemeClr val="tx2">
                  <a:lumMod val="50000"/>
                </a:schemeClr>
              </a:solidFill>
              <a:latin typeface="Outfit" panose="020B0604020202020204" charset="0"/>
            </a:endParaRPr>
          </a:p>
        </p:txBody>
      </p:sp>
      <p:sp>
        <p:nvSpPr>
          <p:cNvPr id="38" name="Google Shape;1096;p70">
            <a:extLst>
              <a:ext uri="{FF2B5EF4-FFF2-40B4-BE49-F238E27FC236}">
                <a16:creationId xmlns:a16="http://schemas.microsoft.com/office/drawing/2014/main" id="{62F331BC-3643-6D52-0B78-478F3E4EEEEF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1097;p70">
            <a:extLst>
              <a:ext uri="{FF2B5EF4-FFF2-40B4-BE49-F238E27FC236}">
                <a16:creationId xmlns:a16="http://schemas.microsoft.com/office/drawing/2014/main" id="{5499AD31-AF1F-AA86-379C-5825FCD8F5B3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74298F-AAA5-99FF-5DE0-0AC5A3183DC6}"/>
              </a:ext>
            </a:extLst>
          </p:cNvPr>
          <p:cNvSpPr txBox="1"/>
          <p:nvPr/>
        </p:nvSpPr>
        <p:spPr>
          <a:xfrm>
            <a:off x="185837" y="974545"/>
            <a:ext cx="877232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Group C – Guest Behavior KPIs</a:t>
            </a:r>
          </a:p>
          <a:p>
            <a:r>
              <a:rPr lang="en-US" sz="800" dirty="0">
                <a:latin typeface="DM Sans" pitchFamily="2" charset="0"/>
              </a:rPr>
              <a:t> </a:t>
            </a:r>
            <a:r>
              <a:rPr lang="en-US" sz="1300" dirty="0">
                <a:latin typeface="DM Sans" pitchFamily="2" charset="0"/>
              </a:rPr>
              <a:t> </a:t>
            </a:r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Focus: Analyze guest stay duration and planning behavior.</a:t>
            </a:r>
          </a:p>
          <a:p>
            <a:endParaRPr lang="en-US" sz="800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Average Stay Length:</a:t>
            </a:r>
            <a:r>
              <a:rPr lang="en-US" sz="1300" dirty="0">
                <a:latin typeface="DM Sans" pitchFamily="2" charset="0"/>
              </a:rPr>
              <a:t> 3–4 nights on average; slightly longer for Resort stays.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Guest Count Distribution:</a:t>
            </a:r>
            <a:r>
              <a:rPr lang="en-US" sz="1300" dirty="0">
                <a:latin typeface="DM Sans" pitchFamily="2" charset="0"/>
              </a:rPr>
              <a:t> Mostly adult travelers; few family bookings with children.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Lead Time Patterns:</a:t>
            </a:r>
            <a:r>
              <a:rPr lang="en-US" sz="1300" dirty="0">
                <a:latin typeface="DM Sans" pitchFamily="2" charset="0"/>
              </a:rPr>
              <a:t> Average lead time </a:t>
            </a:r>
            <a:r>
              <a:rPr lang="en-US" sz="1300" b="1" dirty="0">
                <a:latin typeface="DM Sans" pitchFamily="2" charset="0"/>
              </a:rPr>
              <a:t>~104 days</a:t>
            </a:r>
            <a:r>
              <a:rPr lang="en-US" sz="1300" dirty="0">
                <a:latin typeface="DM Sans" pitchFamily="2" charset="0"/>
              </a:rPr>
              <a:t>; Resort guests book earlier.</a:t>
            </a:r>
          </a:p>
          <a:p>
            <a:endParaRPr lang="en-US" sz="8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➡ </a:t>
            </a:r>
            <a:r>
              <a:rPr lang="en-US" sz="1300" b="1" dirty="0">
                <a:latin typeface="DM Sans" pitchFamily="2" charset="0"/>
              </a:rPr>
              <a:t>Insight:</a:t>
            </a:r>
            <a:r>
              <a:rPr lang="en-US" sz="1300" dirty="0">
                <a:latin typeface="DM Sans" pitchFamily="2" charset="0"/>
              </a:rPr>
              <a:t> </a:t>
            </a:r>
            <a:r>
              <a:rPr lang="en-US" sz="1300" i="1" dirty="0">
                <a:latin typeface="DM Sans" pitchFamily="2" charset="0"/>
              </a:rPr>
              <a:t>Guests plan vacations well in advance, especially for resorts, showing planned leisure travel behavior.</a:t>
            </a:r>
            <a:endParaRPr lang="en-US" sz="1300" dirty="0">
              <a:latin typeface="DM Sans" pitchFamily="2" charset="0"/>
            </a:endParaRPr>
          </a:p>
          <a:p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      </a:t>
            </a:r>
            <a:r>
              <a:rPr lang="en-US" sz="1300" b="1" dirty="0">
                <a:latin typeface="DM Sans" pitchFamily="2" charset="0"/>
              </a:rPr>
              <a:t>Group D – Cancellation Intelligence</a:t>
            </a:r>
          </a:p>
          <a:p>
            <a:br>
              <a:rPr lang="en-US" sz="1300" dirty="0">
                <a:latin typeface="DM Sans" pitchFamily="2" charset="0"/>
              </a:rPr>
            </a:br>
            <a:r>
              <a:rPr lang="en-US" sz="1300" dirty="0">
                <a:latin typeface="DM Sans" pitchFamily="2" charset="0"/>
              </a:rPr>
              <a:t>Focus: Identify trends and risks in booking cancellations.</a:t>
            </a:r>
          </a:p>
          <a:p>
            <a:endParaRPr lang="en-US" sz="800" dirty="0">
              <a:latin typeface="DM Sans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Overall Cancellation Rate:</a:t>
            </a:r>
            <a:r>
              <a:rPr lang="en-US" sz="1300" dirty="0">
                <a:latin typeface="DM Sans" pitchFamily="2" charset="0"/>
              </a:rPr>
              <a:t> ~37% of total bookings canceled.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By Year:</a:t>
            </a:r>
            <a:r>
              <a:rPr lang="en-US" sz="1300" dirty="0">
                <a:latin typeface="DM Sans" pitchFamily="2" charset="0"/>
              </a:rPr>
              <a:t> 2016 saw highest cancellation volume.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By Lead Time:</a:t>
            </a:r>
            <a:r>
              <a:rPr lang="en-US" sz="1300" dirty="0">
                <a:latin typeface="DM Sans" pitchFamily="2" charset="0"/>
              </a:rPr>
              <a:t> Longer lead times had higher cancellation probability.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By Market Segment:</a:t>
            </a:r>
            <a:r>
              <a:rPr lang="en-US" sz="1300" dirty="0">
                <a:latin typeface="DM Sans" pitchFamily="2" charset="0"/>
              </a:rPr>
              <a:t> Online Travel Agents showed maximum cancellations.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300" b="1" dirty="0">
                <a:latin typeface="DM Sans" pitchFamily="2" charset="0"/>
              </a:rPr>
              <a:t>By Country:</a:t>
            </a:r>
            <a:r>
              <a:rPr lang="en-US" sz="1300" dirty="0">
                <a:latin typeface="DM Sans" pitchFamily="2" charset="0"/>
              </a:rPr>
              <a:t> High cancellations from Portugal.</a:t>
            </a:r>
          </a:p>
          <a:p>
            <a:endParaRPr lang="en-US" sz="800" dirty="0">
              <a:latin typeface="DM Sans" pitchFamily="2" charset="0"/>
            </a:endParaRPr>
          </a:p>
          <a:p>
            <a:r>
              <a:rPr lang="en-US" sz="1300" dirty="0">
                <a:latin typeface="DM Sans" pitchFamily="2" charset="0"/>
              </a:rPr>
              <a:t>➡ </a:t>
            </a:r>
            <a:r>
              <a:rPr lang="en-US" sz="1300" b="1" dirty="0">
                <a:latin typeface="DM Sans" pitchFamily="2" charset="0"/>
              </a:rPr>
              <a:t>Insight:</a:t>
            </a:r>
            <a:r>
              <a:rPr lang="en-US" sz="1300" dirty="0">
                <a:latin typeface="DM Sans" pitchFamily="2" charset="0"/>
              </a:rPr>
              <a:t> </a:t>
            </a:r>
            <a:r>
              <a:rPr lang="en-US" sz="1300" i="1" dirty="0">
                <a:latin typeface="DM Sans" pitchFamily="2" charset="0"/>
              </a:rPr>
              <a:t>High cancellations from OTA channels and long-lead bookings highlight the need for stricter policies and </a:t>
            </a:r>
            <a:r>
              <a:rPr lang="en-IN" sz="1200" dirty="0">
                <a:latin typeface="DM Sans" pitchFamily="2" charset="0"/>
              </a:rPr>
              <a:t>targeted customer retention efforts.</a:t>
            </a:r>
            <a:endParaRPr lang="en-US" sz="1300" dirty="0">
              <a:latin typeface="DM Sans" pitchFamily="2" charset="0"/>
            </a:endParaRPr>
          </a:p>
        </p:txBody>
      </p:sp>
      <p:grpSp>
        <p:nvGrpSpPr>
          <p:cNvPr id="5" name="Google Shape;11181;p90">
            <a:extLst>
              <a:ext uri="{FF2B5EF4-FFF2-40B4-BE49-F238E27FC236}">
                <a16:creationId xmlns:a16="http://schemas.microsoft.com/office/drawing/2014/main" id="{88A149AE-8BC2-C3CC-5CF9-EC05D754E20F}"/>
              </a:ext>
            </a:extLst>
          </p:cNvPr>
          <p:cNvGrpSpPr/>
          <p:nvPr/>
        </p:nvGrpSpPr>
        <p:grpSpPr>
          <a:xfrm>
            <a:off x="234278" y="1044329"/>
            <a:ext cx="255045" cy="191674"/>
            <a:chOff x="6679825" y="2693700"/>
            <a:chExt cx="257875" cy="258575"/>
          </a:xfrm>
        </p:grpSpPr>
        <p:sp>
          <p:nvSpPr>
            <p:cNvPr id="6" name="Google Shape;11182;p90">
              <a:extLst>
                <a:ext uri="{FF2B5EF4-FFF2-40B4-BE49-F238E27FC236}">
                  <a16:creationId xmlns:a16="http://schemas.microsoft.com/office/drawing/2014/main" id="{BA23CECD-FEEF-4FAA-BD22-D0DD043FCCE2}"/>
                </a:ext>
              </a:extLst>
            </p:cNvPr>
            <p:cNvSpPr/>
            <p:nvPr/>
          </p:nvSpPr>
          <p:spPr>
            <a:xfrm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1183;p90">
              <a:extLst>
                <a:ext uri="{FF2B5EF4-FFF2-40B4-BE49-F238E27FC236}">
                  <a16:creationId xmlns:a16="http://schemas.microsoft.com/office/drawing/2014/main" id="{98C39D49-12C8-A596-CD96-0E5282F86BB7}"/>
                </a:ext>
              </a:extLst>
            </p:cNvPr>
            <p:cNvSpPr/>
            <p:nvPr/>
          </p:nvSpPr>
          <p:spPr>
            <a:xfrm flipH="1">
              <a:off x="6679825" y="2693700"/>
              <a:ext cx="257875" cy="258575"/>
            </a:xfrm>
            <a:custGeom>
              <a:avLst/>
              <a:gdLst/>
              <a:ahLst/>
              <a:cxnLst/>
              <a:rect l="l" t="t" r="r" b="b"/>
              <a:pathLst>
                <a:path w="10315" h="10343" extrusionOk="0">
                  <a:moveTo>
                    <a:pt x="5102" y="670"/>
                  </a:moveTo>
                  <a:cubicBezTo>
                    <a:pt x="5604" y="670"/>
                    <a:pt x="6022" y="1088"/>
                    <a:pt x="6022" y="1562"/>
                  </a:cubicBezTo>
                  <a:cubicBezTo>
                    <a:pt x="6022" y="2063"/>
                    <a:pt x="5604" y="2481"/>
                    <a:pt x="5102" y="2481"/>
                  </a:cubicBezTo>
                  <a:cubicBezTo>
                    <a:pt x="4600" y="2481"/>
                    <a:pt x="4182" y="2063"/>
                    <a:pt x="4182" y="1562"/>
                  </a:cubicBezTo>
                  <a:cubicBezTo>
                    <a:pt x="4182" y="1088"/>
                    <a:pt x="4600" y="670"/>
                    <a:pt x="5102" y="670"/>
                  </a:cubicBezTo>
                  <a:close/>
                  <a:moveTo>
                    <a:pt x="1757" y="1896"/>
                  </a:moveTo>
                  <a:cubicBezTo>
                    <a:pt x="2063" y="1896"/>
                    <a:pt x="2342" y="2175"/>
                    <a:pt x="2342" y="2481"/>
                  </a:cubicBezTo>
                  <a:cubicBezTo>
                    <a:pt x="2342" y="2788"/>
                    <a:pt x="2063" y="3067"/>
                    <a:pt x="1757" y="3067"/>
                  </a:cubicBezTo>
                  <a:cubicBezTo>
                    <a:pt x="1422" y="3067"/>
                    <a:pt x="1143" y="2788"/>
                    <a:pt x="1143" y="2481"/>
                  </a:cubicBezTo>
                  <a:cubicBezTo>
                    <a:pt x="1143" y="2119"/>
                    <a:pt x="1422" y="1896"/>
                    <a:pt x="1757" y="1896"/>
                  </a:cubicBezTo>
                  <a:close/>
                  <a:moveTo>
                    <a:pt x="8447" y="1896"/>
                  </a:moveTo>
                  <a:cubicBezTo>
                    <a:pt x="8781" y="1896"/>
                    <a:pt x="9032" y="2175"/>
                    <a:pt x="9032" y="2481"/>
                  </a:cubicBezTo>
                  <a:cubicBezTo>
                    <a:pt x="9032" y="2788"/>
                    <a:pt x="8753" y="3067"/>
                    <a:pt x="8447" y="3067"/>
                  </a:cubicBezTo>
                  <a:cubicBezTo>
                    <a:pt x="8112" y="3067"/>
                    <a:pt x="7834" y="2788"/>
                    <a:pt x="7834" y="2481"/>
                  </a:cubicBezTo>
                  <a:cubicBezTo>
                    <a:pt x="7834" y="2119"/>
                    <a:pt x="8112" y="1896"/>
                    <a:pt x="8447" y="1896"/>
                  </a:cubicBezTo>
                  <a:close/>
                  <a:moveTo>
                    <a:pt x="1701" y="3624"/>
                  </a:moveTo>
                  <a:cubicBezTo>
                    <a:pt x="2370" y="3624"/>
                    <a:pt x="2927" y="4182"/>
                    <a:pt x="2927" y="4851"/>
                  </a:cubicBezTo>
                  <a:lnTo>
                    <a:pt x="2927" y="6412"/>
                  </a:lnTo>
                  <a:cubicBezTo>
                    <a:pt x="2955" y="6635"/>
                    <a:pt x="2816" y="6719"/>
                    <a:pt x="2649" y="6719"/>
                  </a:cubicBezTo>
                  <a:cubicBezTo>
                    <a:pt x="2481" y="6719"/>
                    <a:pt x="2342" y="6858"/>
                    <a:pt x="2342" y="7053"/>
                  </a:cubicBezTo>
                  <a:lnTo>
                    <a:pt x="2342" y="8865"/>
                  </a:lnTo>
                  <a:cubicBezTo>
                    <a:pt x="2342" y="9032"/>
                    <a:pt x="2203" y="9172"/>
                    <a:pt x="2035" y="9172"/>
                  </a:cubicBezTo>
                  <a:lnTo>
                    <a:pt x="1422" y="9172"/>
                  </a:lnTo>
                  <a:cubicBezTo>
                    <a:pt x="1255" y="9172"/>
                    <a:pt x="1116" y="9032"/>
                    <a:pt x="1116" y="8865"/>
                  </a:cubicBezTo>
                  <a:lnTo>
                    <a:pt x="1116" y="7053"/>
                  </a:lnTo>
                  <a:cubicBezTo>
                    <a:pt x="1116" y="6858"/>
                    <a:pt x="976" y="6719"/>
                    <a:pt x="809" y="6719"/>
                  </a:cubicBezTo>
                  <a:cubicBezTo>
                    <a:pt x="642" y="6719"/>
                    <a:pt x="502" y="6579"/>
                    <a:pt x="502" y="6412"/>
                  </a:cubicBezTo>
                  <a:lnTo>
                    <a:pt x="502" y="4851"/>
                  </a:lnTo>
                  <a:cubicBezTo>
                    <a:pt x="502" y="4182"/>
                    <a:pt x="1060" y="3624"/>
                    <a:pt x="1701" y="3624"/>
                  </a:cubicBezTo>
                  <a:close/>
                  <a:moveTo>
                    <a:pt x="8391" y="3624"/>
                  </a:moveTo>
                  <a:cubicBezTo>
                    <a:pt x="9060" y="3624"/>
                    <a:pt x="9618" y="4182"/>
                    <a:pt x="9618" y="4851"/>
                  </a:cubicBezTo>
                  <a:lnTo>
                    <a:pt x="9618" y="6440"/>
                  </a:lnTo>
                  <a:lnTo>
                    <a:pt x="9645" y="6440"/>
                  </a:lnTo>
                  <a:cubicBezTo>
                    <a:pt x="9645" y="6635"/>
                    <a:pt x="9506" y="6774"/>
                    <a:pt x="9339" y="6774"/>
                  </a:cubicBezTo>
                  <a:cubicBezTo>
                    <a:pt x="9172" y="6774"/>
                    <a:pt x="9032" y="6914"/>
                    <a:pt x="9032" y="7081"/>
                  </a:cubicBezTo>
                  <a:lnTo>
                    <a:pt x="9032" y="8893"/>
                  </a:lnTo>
                  <a:cubicBezTo>
                    <a:pt x="9032" y="9060"/>
                    <a:pt x="8893" y="9199"/>
                    <a:pt x="8726" y="9199"/>
                  </a:cubicBezTo>
                  <a:lnTo>
                    <a:pt x="8112" y="9199"/>
                  </a:lnTo>
                  <a:cubicBezTo>
                    <a:pt x="7945" y="9199"/>
                    <a:pt x="7806" y="9060"/>
                    <a:pt x="7806" y="8893"/>
                  </a:cubicBezTo>
                  <a:lnTo>
                    <a:pt x="7806" y="7053"/>
                  </a:lnTo>
                  <a:cubicBezTo>
                    <a:pt x="7806" y="6858"/>
                    <a:pt x="7666" y="6719"/>
                    <a:pt x="7499" y="6719"/>
                  </a:cubicBezTo>
                  <a:cubicBezTo>
                    <a:pt x="7332" y="6719"/>
                    <a:pt x="7192" y="6579"/>
                    <a:pt x="7192" y="6412"/>
                  </a:cubicBezTo>
                  <a:lnTo>
                    <a:pt x="7192" y="4851"/>
                  </a:lnTo>
                  <a:cubicBezTo>
                    <a:pt x="7192" y="4182"/>
                    <a:pt x="7750" y="3624"/>
                    <a:pt x="8391" y="3624"/>
                  </a:cubicBezTo>
                  <a:close/>
                  <a:moveTo>
                    <a:pt x="5381" y="3095"/>
                  </a:moveTo>
                  <a:cubicBezTo>
                    <a:pt x="6077" y="3234"/>
                    <a:pt x="6635" y="3875"/>
                    <a:pt x="6635" y="4600"/>
                  </a:cubicBezTo>
                  <a:lnTo>
                    <a:pt x="6635" y="6440"/>
                  </a:lnTo>
                  <a:cubicBezTo>
                    <a:pt x="6663" y="6635"/>
                    <a:pt x="6523" y="6719"/>
                    <a:pt x="6356" y="6719"/>
                  </a:cubicBezTo>
                  <a:cubicBezTo>
                    <a:pt x="6161" y="6719"/>
                    <a:pt x="6022" y="6858"/>
                    <a:pt x="6022" y="7053"/>
                  </a:cubicBezTo>
                  <a:lnTo>
                    <a:pt x="6022" y="9478"/>
                  </a:lnTo>
                  <a:cubicBezTo>
                    <a:pt x="6022" y="9645"/>
                    <a:pt x="5882" y="9785"/>
                    <a:pt x="5715" y="9785"/>
                  </a:cubicBezTo>
                  <a:lnTo>
                    <a:pt x="4461" y="9785"/>
                  </a:lnTo>
                  <a:cubicBezTo>
                    <a:pt x="4293" y="9785"/>
                    <a:pt x="4154" y="9645"/>
                    <a:pt x="4154" y="9478"/>
                  </a:cubicBezTo>
                  <a:lnTo>
                    <a:pt x="4154" y="7053"/>
                  </a:lnTo>
                  <a:cubicBezTo>
                    <a:pt x="4154" y="6858"/>
                    <a:pt x="4015" y="6719"/>
                    <a:pt x="3847" y="6719"/>
                  </a:cubicBezTo>
                  <a:cubicBezTo>
                    <a:pt x="3652" y="6719"/>
                    <a:pt x="3513" y="6579"/>
                    <a:pt x="3513" y="6412"/>
                  </a:cubicBezTo>
                  <a:lnTo>
                    <a:pt x="3513" y="4851"/>
                  </a:lnTo>
                  <a:lnTo>
                    <a:pt x="3513" y="4600"/>
                  </a:lnTo>
                  <a:cubicBezTo>
                    <a:pt x="3513" y="3875"/>
                    <a:pt x="4043" y="3234"/>
                    <a:pt x="4739" y="3095"/>
                  </a:cubicBezTo>
                  <a:lnTo>
                    <a:pt x="4739" y="5185"/>
                  </a:lnTo>
                  <a:cubicBezTo>
                    <a:pt x="4739" y="5381"/>
                    <a:pt x="4879" y="5520"/>
                    <a:pt x="5046" y="5520"/>
                  </a:cubicBezTo>
                  <a:cubicBezTo>
                    <a:pt x="5241" y="5520"/>
                    <a:pt x="5381" y="5381"/>
                    <a:pt x="5381" y="5185"/>
                  </a:cubicBezTo>
                  <a:lnTo>
                    <a:pt x="5381" y="3095"/>
                  </a:lnTo>
                  <a:close/>
                  <a:moveTo>
                    <a:pt x="5130" y="1"/>
                  </a:moveTo>
                  <a:cubicBezTo>
                    <a:pt x="4293" y="1"/>
                    <a:pt x="3624" y="670"/>
                    <a:pt x="3624" y="1506"/>
                  </a:cubicBezTo>
                  <a:cubicBezTo>
                    <a:pt x="3624" y="1952"/>
                    <a:pt x="3847" y="2370"/>
                    <a:pt x="4154" y="2649"/>
                  </a:cubicBezTo>
                  <a:cubicBezTo>
                    <a:pt x="3736" y="2872"/>
                    <a:pt x="3373" y="3234"/>
                    <a:pt x="3206" y="3652"/>
                  </a:cubicBezTo>
                  <a:cubicBezTo>
                    <a:pt x="3067" y="3485"/>
                    <a:pt x="2900" y="3346"/>
                    <a:pt x="2677" y="3234"/>
                  </a:cubicBezTo>
                  <a:cubicBezTo>
                    <a:pt x="2900" y="3039"/>
                    <a:pt x="3039" y="2732"/>
                    <a:pt x="3039" y="2398"/>
                  </a:cubicBezTo>
                  <a:cubicBezTo>
                    <a:pt x="3039" y="1757"/>
                    <a:pt x="2481" y="1199"/>
                    <a:pt x="1812" y="1199"/>
                  </a:cubicBezTo>
                  <a:cubicBezTo>
                    <a:pt x="1143" y="1199"/>
                    <a:pt x="586" y="1757"/>
                    <a:pt x="586" y="2398"/>
                  </a:cubicBezTo>
                  <a:cubicBezTo>
                    <a:pt x="586" y="2732"/>
                    <a:pt x="725" y="3039"/>
                    <a:pt x="948" y="3234"/>
                  </a:cubicBezTo>
                  <a:cubicBezTo>
                    <a:pt x="391" y="3569"/>
                    <a:pt x="1" y="4154"/>
                    <a:pt x="1" y="4851"/>
                  </a:cubicBezTo>
                  <a:lnTo>
                    <a:pt x="1" y="6412"/>
                  </a:lnTo>
                  <a:cubicBezTo>
                    <a:pt x="1" y="6802"/>
                    <a:pt x="251" y="7137"/>
                    <a:pt x="586" y="7276"/>
                  </a:cubicBezTo>
                  <a:lnTo>
                    <a:pt x="586" y="8865"/>
                  </a:lnTo>
                  <a:cubicBezTo>
                    <a:pt x="586" y="9339"/>
                    <a:pt x="1004" y="9757"/>
                    <a:pt x="1506" y="9757"/>
                  </a:cubicBezTo>
                  <a:lnTo>
                    <a:pt x="2091" y="9757"/>
                  </a:lnTo>
                  <a:cubicBezTo>
                    <a:pt x="2593" y="9757"/>
                    <a:pt x="3011" y="9339"/>
                    <a:pt x="3011" y="8865"/>
                  </a:cubicBezTo>
                  <a:lnTo>
                    <a:pt x="3011" y="7276"/>
                  </a:lnTo>
                  <a:cubicBezTo>
                    <a:pt x="3095" y="7248"/>
                    <a:pt x="3206" y="7192"/>
                    <a:pt x="3318" y="7109"/>
                  </a:cubicBezTo>
                  <a:cubicBezTo>
                    <a:pt x="3429" y="7192"/>
                    <a:pt x="3485" y="7248"/>
                    <a:pt x="3624" y="7276"/>
                  </a:cubicBezTo>
                  <a:lnTo>
                    <a:pt x="3624" y="9450"/>
                  </a:lnTo>
                  <a:cubicBezTo>
                    <a:pt x="3624" y="9924"/>
                    <a:pt x="4043" y="10342"/>
                    <a:pt x="4544" y="10342"/>
                  </a:cubicBezTo>
                  <a:lnTo>
                    <a:pt x="5799" y="10342"/>
                  </a:lnTo>
                  <a:cubicBezTo>
                    <a:pt x="6273" y="10342"/>
                    <a:pt x="6691" y="9924"/>
                    <a:pt x="6691" y="9450"/>
                  </a:cubicBezTo>
                  <a:lnTo>
                    <a:pt x="6691" y="7276"/>
                  </a:lnTo>
                  <a:cubicBezTo>
                    <a:pt x="6802" y="7248"/>
                    <a:pt x="6914" y="7192"/>
                    <a:pt x="6997" y="7109"/>
                  </a:cubicBezTo>
                  <a:cubicBezTo>
                    <a:pt x="7109" y="7192"/>
                    <a:pt x="7192" y="7248"/>
                    <a:pt x="7332" y="7276"/>
                  </a:cubicBezTo>
                  <a:lnTo>
                    <a:pt x="7332" y="8865"/>
                  </a:lnTo>
                  <a:cubicBezTo>
                    <a:pt x="7332" y="9339"/>
                    <a:pt x="7750" y="9757"/>
                    <a:pt x="8224" y="9757"/>
                  </a:cubicBezTo>
                  <a:lnTo>
                    <a:pt x="8809" y="9757"/>
                  </a:lnTo>
                  <a:cubicBezTo>
                    <a:pt x="9311" y="9757"/>
                    <a:pt x="9729" y="9339"/>
                    <a:pt x="9729" y="8865"/>
                  </a:cubicBezTo>
                  <a:lnTo>
                    <a:pt x="9729" y="7276"/>
                  </a:lnTo>
                  <a:cubicBezTo>
                    <a:pt x="10064" y="7137"/>
                    <a:pt x="10314" y="6830"/>
                    <a:pt x="10314" y="6412"/>
                  </a:cubicBezTo>
                  <a:lnTo>
                    <a:pt x="10314" y="4851"/>
                  </a:lnTo>
                  <a:cubicBezTo>
                    <a:pt x="10287" y="4210"/>
                    <a:pt x="9896" y="3596"/>
                    <a:pt x="9339" y="3318"/>
                  </a:cubicBezTo>
                  <a:cubicBezTo>
                    <a:pt x="9562" y="3095"/>
                    <a:pt x="9701" y="2788"/>
                    <a:pt x="9701" y="2481"/>
                  </a:cubicBezTo>
                  <a:cubicBezTo>
                    <a:pt x="9701" y="1812"/>
                    <a:pt x="9144" y="1255"/>
                    <a:pt x="8475" y="1255"/>
                  </a:cubicBezTo>
                  <a:cubicBezTo>
                    <a:pt x="7806" y="1255"/>
                    <a:pt x="7248" y="1812"/>
                    <a:pt x="7248" y="2481"/>
                  </a:cubicBezTo>
                  <a:cubicBezTo>
                    <a:pt x="7248" y="2788"/>
                    <a:pt x="7388" y="3095"/>
                    <a:pt x="7611" y="3318"/>
                  </a:cubicBezTo>
                  <a:cubicBezTo>
                    <a:pt x="7388" y="3429"/>
                    <a:pt x="7220" y="3569"/>
                    <a:pt x="7081" y="3736"/>
                  </a:cubicBezTo>
                  <a:cubicBezTo>
                    <a:pt x="6969" y="3485"/>
                    <a:pt x="6802" y="3290"/>
                    <a:pt x="6635" y="3067"/>
                  </a:cubicBezTo>
                  <a:cubicBezTo>
                    <a:pt x="6496" y="2927"/>
                    <a:pt x="6300" y="2788"/>
                    <a:pt x="6105" y="2677"/>
                  </a:cubicBezTo>
                  <a:cubicBezTo>
                    <a:pt x="6440" y="2370"/>
                    <a:pt x="6663" y="1952"/>
                    <a:pt x="6663" y="1534"/>
                  </a:cubicBezTo>
                  <a:cubicBezTo>
                    <a:pt x="6663" y="1116"/>
                    <a:pt x="6496" y="725"/>
                    <a:pt x="6217" y="447"/>
                  </a:cubicBezTo>
                  <a:cubicBezTo>
                    <a:pt x="5938" y="168"/>
                    <a:pt x="5520" y="1"/>
                    <a:pt x="513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0" name="Google Shape;9349;p84">
            <a:extLst>
              <a:ext uri="{FF2B5EF4-FFF2-40B4-BE49-F238E27FC236}">
                <a16:creationId xmlns:a16="http://schemas.microsoft.com/office/drawing/2014/main" id="{4E5592C9-D8D7-0795-A956-662DA3811607}"/>
              </a:ext>
            </a:extLst>
          </p:cNvPr>
          <p:cNvGrpSpPr/>
          <p:nvPr/>
        </p:nvGrpSpPr>
        <p:grpSpPr>
          <a:xfrm>
            <a:off x="234278" y="2875751"/>
            <a:ext cx="255046" cy="191674"/>
            <a:chOff x="5053975" y="4399375"/>
            <a:chExt cx="483000" cy="482975"/>
          </a:xfrm>
        </p:grpSpPr>
        <p:sp>
          <p:nvSpPr>
            <p:cNvPr id="11" name="Google Shape;9350;p84">
              <a:extLst>
                <a:ext uri="{FF2B5EF4-FFF2-40B4-BE49-F238E27FC236}">
                  <a16:creationId xmlns:a16="http://schemas.microsoft.com/office/drawing/2014/main" id="{9C7294B1-7786-66F2-B4B4-24A30EFE63B3}"/>
                </a:ext>
              </a:extLst>
            </p:cNvPr>
            <p:cNvSpPr/>
            <p:nvPr/>
          </p:nvSpPr>
          <p:spPr>
            <a:xfrm>
              <a:off x="5053975" y="4399375"/>
              <a:ext cx="483000" cy="482975"/>
            </a:xfrm>
            <a:custGeom>
              <a:avLst/>
              <a:gdLst/>
              <a:ahLst/>
              <a:cxnLst/>
              <a:rect l="l" t="t" r="r" b="b"/>
              <a:pathLst>
                <a:path w="19320" h="19319" extrusionOk="0">
                  <a:moveTo>
                    <a:pt x="9660" y="1130"/>
                  </a:moveTo>
                  <a:cubicBezTo>
                    <a:pt x="11822" y="1130"/>
                    <a:pt x="13981" y="1972"/>
                    <a:pt x="15666" y="3654"/>
                  </a:cubicBezTo>
                  <a:cubicBezTo>
                    <a:pt x="19033" y="7021"/>
                    <a:pt x="19033" y="12299"/>
                    <a:pt x="15666" y="15665"/>
                  </a:cubicBezTo>
                  <a:cubicBezTo>
                    <a:pt x="13983" y="17349"/>
                    <a:pt x="11821" y="18190"/>
                    <a:pt x="9660" y="18190"/>
                  </a:cubicBezTo>
                  <a:cubicBezTo>
                    <a:pt x="7499" y="18190"/>
                    <a:pt x="5338" y="17349"/>
                    <a:pt x="3655" y="15665"/>
                  </a:cubicBezTo>
                  <a:cubicBezTo>
                    <a:pt x="288" y="12299"/>
                    <a:pt x="288" y="7024"/>
                    <a:pt x="3655" y="3654"/>
                  </a:cubicBezTo>
                  <a:cubicBezTo>
                    <a:pt x="5339" y="1972"/>
                    <a:pt x="7498" y="1130"/>
                    <a:pt x="9660" y="1130"/>
                  </a:cubicBezTo>
                  <a:close/>
                  <a:moveTo>
                    <a:pt x="9660" y="0"/>
                  </a:moveTo>
                  <a:cubicBezTo>
                    <a:pt x="7112" y="0"/>
                    <a:pt x="4693" y="1015"/>
                    <a:pt x="2854" y="2854"/>
                  </a:cubicBezTo>
                  <a:cubicBezTo>
                    <a:pt x="1016" y="4693"/>
                    <a:pt x="1" y="7111"/>
                    <a:pt x="1" y="9660"/>
                  </a:cubicBezTo>
                  <a:cubicBezTo>
                    <a:pt x="1" y="12208"/>
                    <a:pt x="1016" y="14627"/>
                    <a:pt x="2854" y="16465"/>
                  </a:cubicBezTo>
                  <a:cubicBezTo>
                    <a:pt x="4693" y="18304"/>
                    <a:pt x="7112" y="19319"/>
                    <a:pt x="9660" y="19319"/>
                  </a:cubicBezTo>
                  <a:cubicBezTo>
                    <a:pt x="12209" y="19319"/>
                    <a:pt x="14627" y="18304"/>
                    <a:pt x="16466" y="16465"/>
                  </a:cubicBezTo>
                  <a:cubicBezTo>
                    <a:pt x="18305" y="14627"/>
                    <a:pt x="19319" y="12208"/>
                    <a:pt x="19319" y="9660"/>
                  </a:cubicBezTo>
                  <a:cubicBezTo>
                    <a:pt x="19319" y="7111"/>
                    <a:pt x="18305" y="4693"/>
                    <a:pt x="16466" y="2854"/>
                  </a:cubicBezTo>
                  <a:cubicBezTo>
                    <a:pt x="14627" y="1015"/>
                    <a:pt x="12209" y="0"/>
                    <a:pt x="96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2" name="Google Shape;9351;p84">
              <a:extLst>
                <a:ext uri="{FF2B5EF4-FFF2-40B4-BE49-F238E27FC236}">
                  <a16:creationId xmlns:a16="http://schemas.microsoft.com/office/drawing/2014/main" id="{FC27088D-B9A6-8C11-2919-6597688BEBAA}"/>
                </a:ext>
              </a:extLst>
            </p:cNvPr>
            <p:cNvSpPr/>
            <p:nvPr/>
          </p:nvSpPr>
          <p:spPr>
            <a:xfrm>
              <a:off x="5100725" y="4528375"/>
              <a:ext cx="309350" cy="296450"/>
            </a:xfrm>
            <a:custGeom>
              <a:avLst/>
              <a:gdLst/>
              <a:ahLst/>
              <a:cxnLst/>
              <a:rect l="l" t="t" r="r" b="b"/>
              <a:pathLst>
                <a:path w="12374" h="11858" extrusionOk="0">
                  <a:moveTo>
                    <a:pt x="2352" y="1462"/>
                  </a:moveTo>
                  <a:lnTo>
                    <a:pt x="10828" y="9938"/>
                  </a:lnTo>
                  <a:cubicBezTo>
                    <a:pt x="9875" y="10469"/>
                    <a:pt x="8830" y="10728"/>
                    <a:pt x="7793" y="10728"/>
                  </a:cubicBezTo>
                  <a:cubicBezTo>
                    <a:pt x="6180" y="10728"/>
                    <a:pt x="4586" y="10102"/>
                    <a:pt x="3388" y="8902"/>
                  </a:cubicBezTo>
                  <a:cubicBezTo>
                    <a:pt x="1416" y="6933"/>
                    <a:pt x="993" y="3896"/>
                    <a:pt x="2352" y="1462"/>
                  </a:cubicBezTo>
                  <a:close/>
                  <a:moveTo>
                    <a:pt x="2253" y="0"/>
                  </a:moveTo>
                  <a:cubicBezTo>
                    <a:pt x="2078" y="0"/>
                    <a:pt x="1904" y="81"/>
                    <a:pt x="1794" y="236"/>
                  </a:cubicBezTo>
                  <a:cubicBezTo>
                    <a:pt x="257" y="2395"/>
                    <a:pt x="0" y="5215"/>
                    <a:pt x="1120" y="7616"/>
                  </a:cubicBezTo>
                  <a:cubicBezTo>
                    <a:pt x="2243" y="10016"/>
                    <a:pt x="4568" y="11628"/>
                    <a:pt x="7210" y="11837"/>
                  </a:cubicBezTo>
                  <a:lnTo>
                    <a:pt x="7210" y="11834"/>
                  </a:lnTo>
                  <a:cubicBezTo>
                    <a:pt x="7404" y="11849"/>
                    <a:pt x="7597" y="11858"/>
                    <a:pt x="7787" y="11858"/>
                  </a:cubicBezTo>
                  <a:cubicBezTo>
                    <a:pt x="9318" y="11858"/>
                    <a:pt x="10807" y="11384"/>
                    <a:pt x="12057" y="10502"/>
                  </a:cubicBezTo>
                  <a:cubicBezTo>
                    <a:pt x="12340" y="10297"/>
                    <a:pt x="12374" y="9886"/>
                    <a:pt x="12126" y="9639"/>
                  </a:cubicBezTo>
                  <a:lnTo>
                    <a:pt x="2654" y="167"/>
                  </a:lnTo>
                  <a:cubicBezTo>
                    <a:pt x="2542" y="55"/>
                    <a:pt x="2397" y="0"/>
                    <a:pt x="225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3" name="Google Shape;9352;p84">
              <a:extLst>
                <a:ext uri="{FF2B5EF4-FFF2-40B4-BE49-F238E27FC236}">
                  <a16:creationId xmlns:a16="http://schemas.microsoft.com/office/drawing/2014/main" id="{068A03AD-7DC0-8022-20C1-2FAD2847B94B}"/>
                </a:ext>
              </a:extLst>
            </p:cNvPr>
            <p:cNvSpPr/>
            <p:nvPr/>
          </p:nvSpPr>
          <p:spPr>
            <a:xfrm>
              <a:off x="5180875" y="4456850"/>
              <a:ext cx="316625" cy="296575"/>
            </a:xfrm>
            <a:custGeom>
              <a:avLst/>
              <a:gdLst/>
              <a:ahLst/>
              <a:cxnLst/>
              <a:rect l="l" t="t" r="r" b="b"/>
              <a:pathLst>
                <a:path w="12665" h="11863" extrusionOk="0">
                  <a:moveTo>
                    <a:pt x="4584" y="1128"/>
                  </a:moveTo>
                  <a:cubicBezTo>
                    <a:pt x="6196" y="1128"/>
                    <a:pt x="7791" y="1755"/>
                    <a:pt x="8987" y="2958"/>
                  </a:cubicBezTo>
                  <a:cubicBezTo>
                    <a:pt x="10964" y="4924"/>
                    <a:pt x="11387" y="7967"/>
                    <a:pt x="10022" y="10398"/>
                  </a:cubicBezTo>
                  <a:lnTo>
                    <a:pt x="1547" y="1923"/>
                  </a:lnTo>
                  <a:cubicBezTo>
                    <a:pt x="2499" y="1388"/>
                    <a:pt x="3545" y="1128"/>
                    <a:pt x="4584" y="1128"/>
                  </a:cubicBezTo>
                  <a:close/>
                  <a:moveTo>
                    <a:pt x="4578" y="1"/>
                  </a:moveTo>
                  <a:cubicBezTo>
                    <a:pt x="3095" y="1"/>
                    <a:pt x="1604" y="448"/>
                    <a:pt x="321" y="1361"/>
                  </a:cubicBezTo>
                  <a:cubicBezTo>
                    <a:pt x="34" y="1563"/>
                    <a:pt x="1" y="1977"/>
                    <a:pt x="248" y="2224"/>
                  </a:cubicBezTo>
                  <a:lnTo>
                    <a:pt x="9723" y="11697"/>
                  </a:lnTo>
                  <a:cubicBezTo>
                    <a:pt x="9829" y="11802"/>
                    <a:pt x="9971" y="11863"/>
                    <a:pt x="10122" y="11863"/>
                  </a:cubicBezTo>
                  <a:lnTo>
                    <a:pt x="10170" y="11863"/>
                  </a:lnTo>
                  <a:cubicBezTo>
                    <a:pt x="10336" y="11847"/>
                    <a:pt x="10487" y="11763"/>
                    <a:pt x="10584" y="11624"/>
                  </a:cubicBezTo>
                  <a:cubicBezTo>
                    <a:pt x="12664" y="8698"/>
                    <a:pt x="12326" y="4697"/>
                    <a:pt x="9787" y="2158"/>
                  </a:cubicBezTo>
                  <a:cubicBezTo>
                    <a:pt x="8361" y="733"/>
                    <a:pt x="6476" y="1"/>
                    <a:pt x="457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solidFill>
                <a:schemeClr val="accent1"/>
              </a:solidFill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55110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8">
          <a:extLst>
            <a:ext uri="{FF2B5EF4-FFF2-40B4-BE49-F238E27FC236}">
              <a16:creationId xmlns:a16="http://schemas.microsoft.com/office/drawing/2014/main" id="{E952216A-A55D-3982-D771-FC98AE205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0">
            <a:extLst>
              <a:ext uri="{FF2B5EF4-FFF2-40B4-BE49-F238E27FC236}">
                <a16:creationId xmlns:a16="http://schemas.microsoft.com/office/drawing/2014/main" id="{5012DA9F-B3C0-8A0E-9346-519710A9A15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4" y="2311477"/>
            <a:ext cx="4979235" cy="1061447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3200" dirty="0"/>
              <a:t>Dashboard Visualization &amp; Strategic Insights</a:t>
            </a:r>
            <a:endParaRPr sz="3200" dirty="0"/>
          </a:p>
        </p:txBody>
      </p:sp>
      <p:sp>
        <p:nvSpPr>
          <p:cNvPr id="430" name="Google Shape;430;p40">
            <a:extLst>
              <a:ext uri="{FF2B5EF4-FFF2-40B4-BE49-F238E27FC236}">
                <a16:creationId xmlns:a16="http://schemas.microsoft.com/office/drawing/2014/main" id="{195AADBF-E2B3-3CF9-C3FF-96A61C82C42C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713225" y="1468350"/>
            <a:ext cx="1264200" cy="915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432" name="Google Shape;432;p40">
            <a:extLst>
              <a:ext uri="{FF2B5EF4-FFF2-40B4-BE49-F238E27FC236}">
                <a16:creationId xmlns:a16="http://schemas.microsoft.com/office/drawing/2014/main" id="{A722D314-8C89-AC8E-4665-112575383DCB}"/>
              </a:ext>
            </a:extLst>
          </p:cNvPr>
          <p:cNvGrpSpPr/>
          <p:nvPr/>
        </p:nvGrpSpPr>
        <p:grpSpPr>
          <a:xfrm>
            <a:off x="5104880" y="-153372"/>
            <a:ext cx="4218588" cy="6000577"/>
            <a:chOff x="5104880" y="-153372"/>
            <a:chExt cx="4218588" cy="6000577"/>
          </a:xfrm>
        </p:grpSpPr>
        <p:sp>
          <p:nvSpPr>
            <p:cNvPr id="433" name="Google Shape;433;p40">
              <a:extLst>
                <a:ext uri="{FF2B5EF4-FFF2-40B4-BE49-F238E27FC236}">
                  <a16:creationId xmlns:a16="http://schemas.microsoft.com/office/drawing/2014/main" id="{E6B8DFB9-48A7-20CB-33E4-C416A90BDBCA}"/>
                </a:ext>
              </a:extLst>
            </p:cNvPr>
            <p:cNvSpPr/>
            <p:nvPr/>
          </p:nvSpPr>
          <p:spPr>
            <a:xfrm>
              <a:off x="7074911" y="25473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0">
              <a:extLst>
                <a:ext uri="{FF2B5EF4-FFF2-40B4-BE49-F238E27FC236}">
                  <a16:creationId xmlns:a16="http://schemas.microsoft.com/office/drawing/2014/main" id="{631205D8-CC8D-48AF-3060-A74290A2BC88}"/>
                </a:ext>
              </a:extLst>
            </p:cNvPr>
            <p:cNvSpPr/>
            <p:nvPr/>
          </p:nvSpPr>
          <p:spPr>
            <a:xfrm>
              <a:off x="7026089" y="-1533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0">
              <a:extLst>
                <a:ext uri="{FF2B5EF4-FFF2-40B4-BE49-F238E27FC236}">
                  <a16:creationId xmlns:a16="http://schemas.microsoft.com/office/drawing/2014/main" id="{3FCA44FF-4B14-BA3A-8D9A-092BFDFEE1D1}"/>
                </a:ext>
              </a:extLst>
            </p:cNvPr>
            <p:cNvSpPr/>
            <p:nvPr/>
          </p:nvSpPr>
          <p:spPr>
            <a:xfrm>
              <a:off x="6606684" y="3184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0">
              <a:extLst>
                <a:ext uri="{FF2B5EF4-FFF2-40B4-BE49-F238E27FC236}">
                  <a16:creationId xmlns:a16="http://schemas.microsoft.com/office/drawing/2014/main" id="{1B165BDF-98EA-6EC6-59E4-5B7EC1E15847}"/>
                </a:ext>
              </a:extLst>
            </p:cNvPr>
            <p:cNvSpPr/>
            <p:nvPr/>
          </p:nvSpPr>
          <p:spPr>
            <a:xfrm>
              <a:off x="6138958" y="13708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7" name="Google Shape;437;p40">
              <a:extLst>
                <a:ext uri="{FF2B5EF4-FFF2-40B4-BE49-F238E27FC236}">
                  <a16:creationId xmlns:a16="http://schemas.microsoft.com/office/drawing/2014/main" id="{F07F9427-8F3C-E1E1-F6CE-ED9003FC829B}"/>
                </a:ext>
              </a:extLst>
            </p:cNvPr>
            <p:cNvSpPr/>
            <p:nvPr/>
          </p:nvSpPr>
          <p:spPr>
            <a:xfrm>
              <a:off x="5732458" y="87452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8" name="Google Shape;438;p40">
              <a:extLst>
                <a:ext uri="{FF2B5EF4-FFF2-40B4-BE49-F238E27FC236}">
                  <a16:creationId xmlns:a16="http://schemas.microsoft.com/office/drawing/2014/main" id="{97633939-CCB0-D90D-A1C1-9619B48E86B8}"/>
                </a:ext>
              </a:extLst>
            </p:cNvPr>
            <p:cNvSpPr/>
            <p:nvPr/>
          </p:nvSpPr>
          <p:spPr>
            <a:xfrm>
              <a:off x="7480889" y="98993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0">
              <a:extLst>
                <a:ext uri="{FF2B5EF4-FFF2-40B4-BE49-F238E27FC236}">
                  <a16:creationId xmlns:a16="http://schemas.microsoft.com/office/drawing/2014/main" id="{1610A1ED-8B84-EB40-1106-1F70E69D279D}"/>
                </a:ext>
              </a:extLst>
            </p:cNvPr>
            <p:cNvSpPr/>
            <p:nvPr/>
          </p:nvSpPr>
          <p:spPr>
            <a:xfrm>
              <a:off x="7074904" y="20750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0">
              <a:extLst>
                <a:ext uri="{FF2B5EF4-FFF2-40B4-BE49-F238E27FC236}">
                  <a16:creationId xmlns:a16="http://schemas.microsoft.com/office/drawing/2014/main" id="{6F7C2C50-3544-2EF8-B609-C63C5EA92840}"/>
                </a:ext>
              </a:extLst>
            </p:cNvPr>
            <p:cNvSpPr/>
            <p:nvPr/>
          </p:nvSpPr>
          <p:spPr>
            <a:xfrm>
              <a:off x="7962441" y="140407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0">
              <a:extLst>
                <a:ext uri="{FF2B5EF4-FFF2-40B4-BE49-F238E27FC236}">
                  <a16:creationId xmlns:a16="http://schemas.microsoft.com/office/drawing/2014/main" id="{BADC2183-737F-393F-D6F1-0C1659465A1F}"/>
                </a:ext>
              </a:extLst>
            </p:cNvPr>
            <p:cNvSpPr/>
            <p:nvPr/>
          </p:nvSpPr>
          <p:spPr>
            <a:xfrm rot="10800000" flipH="1">
              <a:off x="6036087" y="312497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0">
              <a:extLst>
                <a:ext uri="{FF2B5EF4-FFF2-40B4-BE49-F238E27FC236}">
                  <a16:creationId xmlns:a16="http://schemas.microsoft.com/office/drawing/2014/main" id="{D4494146-1190-6DF1-B56C-22469671F7C9}"/>
                </a:ext>
              </a:extLst>
            </p:cNvPr>
            <p:cNvSpPr/>
            <p:nvPr/>
          </p:nvSpPr>
          <p:spPr>
            <a:xfrm rot="10800000" flipH="1">
              <a:off x="6355205" y="41020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40">
              <a:extLst>
                <a:ext uri="{FF2B5EF4-FFF2-40B4-BE49-F238E27FC236}">
                  <a16:creationId xmlns:a16="http://schemas.microsoft.com/office/drawing/2014/main" id="{B18A5668-C5F9-63D7-5E6D-4B2668CCB4D1}"/>
                </a:ext>
              </a:extLst>
            </p:cNvPr>
            <p:cNvSpPr/>
            <p:nvPr/>
          </p:nvSpPr>
          <p:spPr>
            <a:xfrm rot="10800000" flipH="1">
              <a:off x="5732459" y="487908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40">
              <a:extLst>
                <a:ext uri="{FF2B5EF4-FFF2-40B4-BE49-F238E27FC236}">
                  <a16:creationId xmlns:a16="http://schemas.microsoft.com/office/drawing/2014/main" id="{59D75ADC-B321-02BF-EF5E-48D6DBA9A43A}"/>
                </a:ext>
              </a:extLst>
            </p:cNvPr>
            <p:cNvSpPr/>
            <p:nvPr/>
          </p:nvSpPr>
          <p:spPr>
            <a:xfrm rot="10800000" flipH="1">
              <a:off x="6683197" y="3515490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40">
              <a:extLst>
                <a:ext uri="{FF2B5EF4-FFF2-40B4-BE49-F238E27FC236}">
                  <a16:creationId xmlns:a16="http://schemas.microsoft.com/office/drawing/2014/main" id="{2F475FDA-D98B-AC0E-C801-6002B99B23F0}"/>
                </a:ext>
              </a:extLst>
            </p:cNvPr>
            <p:cNvSpPr/>
            <p:nvPr/>
          </p:nvSpPr>
          <p:spPr>
            <a:xfrm rot="10800000" flipH="1">
              <a:off x="5104880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40">
              <a:extLst>
                <a:ext uri="{FF2B5EF4-FFF2-40B4-BE49-F238E27FC236}">
                  <a16:creationId xmlns:a16="http://schemas.microsoft.com/office/drawing/2014/main" id="{58D71C01-A4F7-84A9-663A-502FF08AA563}"/>
                </a:ext>
              </a:extLst>
            </p:cNvPr>
            <p:cNvSpPr/>
            <p:nvPr/>
          </p:nvSpPr>
          <p:spPr>
            <a:xfrm>
              <a:off x="8484758" y="243811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7" name="Google Shape;447;p40">
              <a:extLst>
                <a:ext uri="{FF2B5EF4-FFF2-40B4-BE49-F238E27FC236}">
                  <a16:creationId xmlns:a16="http://schemas.microsoft.com/office/drawing/2014/main" id="{DA70EDCB-2707-2A01-BB7C-B304E27D3A5B}"/>
                </a:ext>
              </a:extLst>
            </p:cNvPr>
            <p:cNvSpPr/>
            <p:nvPr/>
          </p:nvSpPr>
          <p:spPr>
            <a:xfrm>
              <a:off x="8038260" y="292128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8" name="Google Shape;448;p40">
              <a:extLst>
                <a:ext uri="{FF2B5EF4-FFF2-40B4-BE49-F238E27FC236}">
                  <a16:creationId xmlns:a16="http://schemas.microsoft.com/office/drawing/2014/main" id="{300EE2DC-55D1-152F-6D6C-4062BE55D415}"/>
                </a:ext>
              </a:extLst>
            </p:cNvPr>
            <p:cNvSpPr/>
            <p:nvPr/>
          </p:nvSpPr>
          <p:spPr>
            <a:xfrm rot="10800000" flipH="1">
              <a:off x="7853362" y="39622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9" name="Google Shape;449;p40">
              <a:extLst>
                <a:ext uri="{FF2B5EF4-FFF2-40B4-BE49-F238E27FC236}">
                  <a16:creationId xmlns:a16="http://schemas.microsoft.com/office/drawing/2014/main" id="{3ABF47D6-DAC5-A189-52D5-63686772AD99}"/>
                </a:ext>
              </a:extLst>
            </p:cNvPr>
            <p:cNvSpPr/>
            <p:nvPr/>
          </p:nvSpPr>
          <p:spPr>
            <a:xfrm rot="10800000" flipH="1">
              <a:off x="8261505" y="4434525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450" name="Google Shape;450;p40">
            <a:extLst>
              <a:ext uri="{FF2B5EF4-FFF2-40B4-BE49-F238E27FC236}">
                <a16:creationId xmlns:a16="http://schemas.microsoft.com/office/drawing/2014/main" id="{13473292-AD16-1EBE-1813-A19D7FC942C3}"/>
              </a:ext>
            </a:extLst>
          </p:cNvPr>
          <p:cNvCxnSpPr/>
          <p:nvPr/>
        </p:nvCxnSpPr>
        <p:spPr>
          <a:xfrm>
            <a:off x="841250" y="1385850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5086EBB1-F990-85B9-A367-8B13BBF6E212}"/>
              </a:ext>
            </a:extLst>
          </p:cNvPr>
          <p:cNvSpPr txBox="1"/>
          <p:nvPr/>
        </p:nvSpPr>
        <p:spPr>
          <a:xfrm>
            <a:off x="713225" y="3353707"/>
            <a:ext cx="40085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rgbClr val="384655"/>
                </a:solidFill>
                <a:latin typeface="DM Sans" pitchFamily="2" charset="0"/>
              </a:rPr>
              <a:t>Building an interactive Power BI dashboard and turning data into actionable insights.</a:t>
            </a:r>
            <a:endParaRPr lang="en-IN" i="1" dirty="0">
              <a:solidFill>
                <a:srgbClr val="384655"/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17271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81912-58D2-D917-9FF3-61ECB3F3A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AA5B4612-638A-2772-83C5-C923FFF7E5E3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6086DBB4-97FC-33B9-A670-66DBA1C50C1B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B8B48DB3-2A1B-1AEF-A5DF-B16A2DD841A5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10E21675-578D-ED7A-A1C3-3FBDCE0C21ED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732D29C-7CC2-DCFE-A115-00534BAEE915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Booking &amp; Revenue Overview KPIs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BFEE26-A9B1-4308-FAFA-2B99C25F1B13}"/>
              </a:ext>
            </a:extLst>
          </p:cNvPr>
          <p:cNvSpPr txBox="1"/>
          <p:nvPr/>
        </p:nvSpPr>
        <p:spPr>
          <a:xfrm>
            <a:off x="201015" y="2869943"/>
            <a:ext cx="8809738" cy="20056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Total Bookings:</a:t>
            </a:r>
            <a:r>
              <a:rPr lang="en-US" sz="1300" dirty="0">
                <a:latin typeface="DM Sans" pitchFamily="2" charset="0"/>
              </a:rPr>
              <a:t> Total number of hotel bookings (~119K), representing overall demand volume. 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Total Revenue:</a:t>
            </a:r>
            <a:r>
              <a:rPr lang="en-US" sz="1300" dirty="0">
                <a:latin typeface="DM Sans" pitchFamily="2" charset="0"/>
              </a:rPr>
              <a:t> Estimated revenue assuming all bookings are fulfilled; represents total business potential. 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Realized Revenue:</a:t>
            </a:r>
            <a:r>
              <a:rPr lang="en-US" sz="1300" dirty="0">
                <a:latin typeface="DM Sans" pitchFamily="2" charset="0"/>
              </a:rPr>
              <a:t> Actual earnings from non-canceled bookings, showing true revenue after cancellations. 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Average Daily Rate (ADR):</a:t>
            </a:r>
            <a:r>
              <a:rPr lang="en-US" sz="1300" dirty="0">
                <a:latin typeface="DM Sans" pitchFamily="2" charset="0"/>
              </a:rPr>
              <a:t> Average revenue earned per occupied room — a core pricing performance metric. 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Average Stay Length:</a:t>
            </a:r>
            <a:r>
              <a:rPr lang="en-US" sz="1300" dirty="0">
                <a:latin typeface="DM Sans" pitchFamily="2" charset="0"/>
              </a:rPr>
              <a:t> Average number of nights guests stay (~3.43), used to understand occupancy duration. 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Average Guest Count:</a:t>
            </a:r>
            <a:r>
              <a:rPr lang="en-US" sz="1300" dirty="0">
                <a:latin typeface="DM Sans" pitchFamily="2" charset="0"/>
              </a:rPr>
              <a:t> Average booking party size (~1.97 guests), useful for occupancy and room allocation planning.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91189F65-534E-2E99-E83B-372119A92B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8065" y="948492"/>
            <a:ext cx="6167494" cy="155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46926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47012-A425-D5AB-0394-9F2A3511D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DD60BED3-3269-3F6C-8DDA-61496AECF282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ACAC3B7F-513D-3779-8DBB-53006D3847DC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71601CCF-5A3D-9653-9D3F-BEC775AB970F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B17AF3B4-7419-2CD9-EC4F-D334348A91B9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FCC74D0-FE05-EDF7-2D00-F992FD655B7B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Monthly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Booking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Trend</a:t>
            </a:r>
            <a:r>
              <a:rPr lang="en-IN" sz="3200" dirty="0">
                <a:latin typeface="Outfit" panose="020B0604020202020204" charset="0"/>
              </a:rPr>
              <a:t>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D667C5-76A4-B809-0D8E-926835973651}"/>
              </a:ext>
            </a:extLst>
          </p:cNvPr>
          <p:cNvSpPr txBox="1"/>
          <p:nvPr/>
        </p:nvSpPr>
        <p:spPr>
          <a:xfrm>
            <a:off x="3143652" y="1100565"/>
            <a:ext cx="5747326" cy="34624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City Hotels consistently outperform Resort Hotels</a:t>
            </a:r>
            <a:r>
              <a:rPr lang="en-US" sz="1300" dirty="0">
                <a:latin typeface="DM Sans" pitchFamily="2" charset="0"/>
              </a:rPr>
              <a:t>, showing 2× higher monthly bookings across all periods.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Both hotels show strong seasonality</a:t>
            </a:r>
            <a:r>
              <a:rPr lang="en-US" sz="1300" dirty="0">
                <a:latin typeface="DM Sans" pitchFamily="2" charset="0"/>
              </a:rPr>
              <a:t>, with peak bookings during </a:t>
            </a:r>
            <a:r>
              <a:rPr lang="en-US" sz="1300" b="1" dirty="0">
                <a:latin typeface="DM Sans" pitchFamily="2" charset="0"/>
              </a:rPr>
              <a:t>Oct–Nov and Apr–Jun</a:t>
            </a:r>
            <a:r>
              <a:rPr lang="en-US" sz="1300" dirty="0">
                <a:latin typeface="DM Sans" pitchFamily="2" charset="0"/>
              </a:rPr>
              <a:t>, indicating high-demand travel seasons.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Resort Hotels have smoother, more stable demand</a:t>
            </a:r>
            <a:r>
              <a:rPr lang="en-US" sz="1300" dirty="0">
                <a:latin typeface="DM Sans" pitchFamily="2" charset="0"/>
              </a:rPr>
              <a:t>, whereas City Hotels show sharp rises and drops driven by business travel cycles.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Boost pricing &amp; promotions during peak months</a:t>
            </a:r>
            <a:r>
              <a:rPr lang="en-US" sz="1300" dirty="0">
                <a:latin typeface="DM Sans" pitchFamily="2" charset="0"/>
              </a:rPr>
              <a:t> (Oct–Nov, Apr–Jun) to maximize revenue from high-demand periods.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Introduce targeted off-season offers</a:t>
            </a:r>
            <a:r>
              <a:rPr lang="en-US" sz="1300" dirty="0">
                <a:latin typeface="DM Sans" pitchFamily="2" charset="0"/>
              </a:rPr>
              <a:t>, especially for Resort Hotels (packages, discounts) to lift low-season months.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Strengthen City Hotel inventory forecasting</a:t>
            </a:r>
            <a:r>
              <a:rPr lang="en-US" sz="1300" dirty="0">
                <a:latin typeface="DM Sans" pitchFamily="2" charset="0"/>
              </a:rPr>
              <a:t> due to high volatility — adjust room prices and staffing to handle demand spikes.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05DE6C2D-D43B-2357-1E96-FB0AE4DABA05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909F930D-B2C7-BA73-B7D5-0694399F1684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D606A70F-1A1A-8FFD-9127-EEFCE4B38C9C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5848F97E-3AD2-8FE8-6BEA-A5E8606838DE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1A40D5F4-8E0B-27F9-611B-232F20832CBB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9E028F9D-DB33-DC0E-F69E-C8A2799649D4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B47E4D71-2E1F-4FDB-E356-19ED3A5CEFD5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8B0A0F00-AA9A-8161-7366-78A44A4B2E98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19CB7605-098A-369B-6D6F-622DFFA0F6F9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EE035963-1CB0-4894-425D-4E825BCD527C}"/>
              </a:ext>
            </a:extLst>
          </p:cNvPr>
          <p:cNvGrpSpPr/>
          <p:nvPr/>
        </p:nvGrpSpPr>
        <p:grpSpPr>
          <a:xfrm>
            <a:off x="3130291" y="2831808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99110A31-2E57-5CBD-5B1B-AB6D711F6796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47B0FFF9-70D8-CC62-1A8C-5381B8387832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32076015-2DFE-7736-D712-587F7D0C4338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A35FAB07-D025-B344-15DC-13D87CC8E4E8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524F2E5E-32DC-B1F8-1D37-42170C48A950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34" name="Picture 33">
            <a:extLst>
              <a:ext uri="{FF2B5EF4-FFF2-40B4-BE49-F238E27FC236}">
                <a16:creationId xmlns:a16="http://schemas.microsoft.com/office/drawing/2014/main" id="{0DCCB03B-EF71-1538-D5DE-DF5E52411A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022" y="1100312"/>
            <a:ext cx="2706808" cy="383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5430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76662-AF24-E790-0C1A-80E2496F4B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02BCE5BB-5B04-A0D5-EFF9-8F8043083336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D51F7F30-5B13-4632-85F1-B46C4F786F52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41EBE997-D3D0-C8D5-089D-2BA521356019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BAD32D62-0D52-D9F0-BBB7-B7257FAF773B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CDB675-05E1-F024-EE3F-9D53AB026D9A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Revenue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&amp;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ADR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Trend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0F4D41-4C67-982E-1349-27754ED8EED7}"/>
              </a:ext>
            </a:extLst>
          </p:cNvPr>
          <p:cNvSpPr txBox="1"/>
          <p:nvPr/>
        </p:nvSpPr>
        <p:spPr>
          <a:xfrm>
            <a:off x="3143652" y="1100565"/>
            <a:ext cx="55809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Revenue consistently peaks during Aug–Sep</a:t>
            </a:r>
            <a:r>
              <a:rPr lang="en-US" sz="1300" dirty="0">
                <a:latin typeface="DM Sans" pitchFamily="2" charset="0"/>
              </a:rPr>
              <a:t>, driven by both high booking volume and elevated ADR levels.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ADR strength closely aligns with revenue spikes</a:t>
            </a:r>
            <a:r>
              <a:rPr lang="en-US" sz="1300" dirty="0">
                <a:latin typeface="DM Sans" pitchFamily="2" charset="0"/>
              </a:rPr>
              <a:t>, showing that higher room prices directly boost revenue performance.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Early months (Jan–Feb) consistently show the weakest performance</a:t>
            </a:r>
            <a:r>
              <a:rPr lang="en-US" sz="1300" dirty="0">
                <a:latin typeface="DM Sans" pitchFamily="2" charset="0"/>
              </a:rPr>
              <a:t>, with both low demand and low ADR marking the clear off-season.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Leverage high-ADR months (Aug–Sep)</a:t>
            </a:r>
            <a:r>
              <a:rPr lang="en-US" sz="1300" dirty="0">
                <a:latin typeface="DM Sans" pitchFamily="2" charset="0"/>
              </a:rPr>
              <a:t> with premium pricing bundles and upsell offers to maximize profitability.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Introduce pricing incentives during low-ADR months (Jan–Feb)</a:t>
            </a:r>
            <a:r>
              <a:rPr lang="en-US" sz="1300" dirty="0">
                <a:latin typeface="DM Sans" pitchFamily="2" charset="0"/>
              </a:rPr>
              <a:t> to boost occupancy without harming annual revenue.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Align marketing spend with ADR trends</a:t>
            </a:r>
            <a:r>
              <a:rPr lang="en-US" sz="1300" dirty="0">
                <a:latin typeface="DM Sans" pitchFamily="2" charset="0"/>
              </a:rPr>
              <a:t> — invest more during peak revenue months for maximum return on campaigns.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135EDB15-8847-8F19-C4AC-60500D01865B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4D2D4E66-C03C-0728-A7BA-35321A648E89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B559B8BE-11EB-2BEF-E09B-75926A0514B7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4324960C-43C1-E3CC-94E4-6893E16273E1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FD9ABE2C-D776-B7C6-C1AF-2D55581EA928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EFE617B9-7366-B59D-83A0-FB63A889FAAF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54BC9C2E-36EF-6C30-4BBA-0C0B76656EF3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30A4A114-FC8A-E24E-80FA-E0AFD4846C52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6CBFA4BD-9600-0126-95AF-8AA49115A0B0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3FAEE5EC-FE58-3335-D640-4CE18C8293B4}"/>
              </a:ext>
            </a:extLst>
          </p:cNvPr>
          <p:cNvGrpSpPr/>
          <p:nvPr/>
        </p:nvGrpSpPr>
        <p:grpSpPr>
          <a:xfrm>
            <a:off x="3153817" y="2978737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8A936180-9DE2-112C-12E3-209FDC4758B8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971A3152-EE61-D830-16D4-DC609B8BDF45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844D8B4A-BC8C-7B28-4516-D9DA4E383C71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A876D079-BDDC-12E9-78C6-B393C34C8D1C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E3D599A7-439E-5D5D-7CF8-6761792282A5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78138ED5-B486-839E-7E4C-ED8295254F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04" y="1101484"/>
            <a:ext cx="2758926" cy="381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95950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DDEC28-F47D-565E-7313-3BA032D05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E3D3922A-29CC-6470-2BC3-87933F692B3C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BFCD9E2F-1214-020F-2131-502FC6AA0061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AFCBA5DF-5C99-000E-2D5B-210AD52E006A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531D0883-D33E-E250-9F90-BE93AD5A014F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5E3807-ED5E-6E91-112F-7A07F65B8738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Seasonal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Booking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Distribution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4D11FCB-A95E-2949-4E9F-CB02430E6D67}"/>
              </a:ext>
            </a:extLst>
          </p:cNvPr>
          <p:cNvSpPr txBox="1"/>
          <p:nvPr/>
        </p:nvSpPr>
        <p:spPr>
          <a:xfrm>
            <a:off x="3143652" y="1100565"/>
            <a:ext cx="5580993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Summer receives the highest bookings</a:t>
            </a:r>
            <a:r>
              <a:rPr lang="en-US" sz="1300" dirty="0">
                <a:latin typeface="DM Sans" pitchFamily="2" charset="0"/>
              </a:rPr>
              <a:t>, showing strong vacation-driven demand.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Spring also performs well</a:t>
            </a:r>
            <a:r>
              <a:rPr lang="en-US" sz="1300" dirty="0">
                <a:latin typeface="DM Sans" pitchFamily="2" charset="0"/>
              </a:rPr>
              <a:t>, indicating early-year travel momentum.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Winter experiences the lowest demand</a:t>
            </a:r>
            <a:r>
              <a:rPr lang="en-US" sz="1300" dirty="0">
                <a:latin typeface="DM Sans" pitchFamily="2" charset="0"/>
              </a:rPr>
              <a:t>, and </a:t>
            </a:r>
            <a:r>
              <a:rPr lang="en-US" sz="1300" b="1" dirty="0">
                <a:latin typeface="DM Sans" pitchFamily="2" charset="0"/>
              </a:rPr>
              <a:t>Autumn also trails behind</a:t>
            </a:r>
            <a:r>
              <a:rPr lang="en-US" sz="1300" dirty="0">
                <a:latin typeface="DM Sans" pitchFamily="2" charset="0"/>
              </a:rPr>
              <a:t> Summer and Spring, confirming the seasonal slowdown.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Increase pricing &amp; premium packages in Summer</a:t>
            </a:r>
            <a:r>
              <a:rPr lang="en-US" sz="1300" dirty="0">
                <a:latin typeface="DM Sans" pitchFamily="2" charset="0"/>
              </a:rPr>
              <a:t> to maximize revenue during the strongest season.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Run promotional discounts in Winter</a:t>
            </a:r>
            <a:r>
              <a:rPr lang="en-US" sz="1300" dirty="0">
                <a:latin typeface="DM Sans" pitchFamily="2" charset="0"/>
              </a:rPr>
              <a:t> to boost occupancy during low-demand months.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Adjust staffing &amp; inventory based on seasonality</a:t>
            </a:r>
            <a:r>
              <a:rPr lang="en-US" sz="1300" dirty="0">
                <a:latin typeface="DM Sans" pitchFamily="2" charset="0"/>
              </a:rPr>
              <a:t> — higher resources in Summer/Spring, lean operations in Winter.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9B39A49D-2690-37D2-1395-0727D4377C93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D556AE1F-9B6B-F534-CFE1-676A0902589A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6DA027A3-B501-5CD4-94D2-2DD771BE655C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94E38A7C-A835-A085-6B8C-6142703F881A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42917BAD-9C03-581F-71B7-52B09D03A689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FEBAF511-77FA-9F02-7E9F-EEBD85BF979D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9BE033AE-5767-6CC4-AA76-8942804811A9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B57EA73B-33BC-196B-2A0E-4AD599F2722A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139682C0-C955-6A52-A570-20CD2106E856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4AC08F02-056D-C0FF-97D0-A73A247AEFB2}"/>
              </a:ext>
            </a:extLst>
          </p:cNvPr>
          <p:cNvGrpSpPr/>
          <p:nvPr/>
        </p:nvGrpSpPr>
        <p:grpSpPr>
          <a:xfrm>
            <a:off x="3133749" y="2790961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69D85E5E-F4F0-9610-3135-198B5C9764A0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DB1DDC7C-17E5-42C4-7742-A9ED18CEAA5B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7C535252-DF61-97C8-1BBE-B2BD9FAAE616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4ED41F98-7DAE-9C80-75B9-F66BC164DEF6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10985B1D-A245-4D31-BD9B-1149636D60C1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F38DF22C-A38C-A2D0-FEA9-F6223BD6DB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656" y="1100565"/>
            <a:ext cx="2721207" cy="3719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4711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DCCD65-D2D7-0C8B-F486-352AFE100B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FEA9CA62-9405-ACB7-FE67-46DC2E8BE4E2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9AFD3BB0-1163-279C-5410-C5C56897FB85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52C04CF7-776F-E7A5-30C1-BDC4157A5D83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E10C2296-DFC0-778F-5AF5-6B93CEA982DD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EBF22C-24A8-A342-55B9-CED709D938F9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Revenue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Comparison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by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Hotel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Type</a:t>
            </a:r>
            <a:endParaRPr lang="en-IN" sz="3200" dirty="0">
              <a:solidFill>
                <a:schemeClr val="tx2">
                  <a:lumMod val="50000"/>
                </a:schemeClr>
              </a:solidFill>
              <a:latin typeface="Outfit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E08CA5-089E-581C-D33D-A9BD3FF07920}"/>
              </a:ext>
            </a:extLst>
          </p:cNvPr>
          <p:cNvSpPr txBox="1"/>
          <p:nvPr/>
        </p:nvSpPr>
        <p:spPr>
          <a:xfrm>
            <a:off x="3143652" y="1100565"/>
            <a:ext cx="5580993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City Hotels generate higher realized revenue ($14.4M)</a:t>
            </a:r>
            <a:r>
              <a:rPr lang="en-US" sz="1300" dirty="0">
                <a:latin typeface="DM Sans" pitchFamily="2" charset="0"/>
              </a:rPr>
              <a:t> than Resort Hotels ($11.6M), driven by stronger booking volume and higher-priced stays.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Resort Hotels still contribute significantly</a:t>
            </a:r>
            <a:r>
              <a:rPr lang="en-US" sz="1300" dirty="0">
                <a:latin typeface="DM Sans" pitchFamily="2" charset="0"/>
              </a:rPr>
              <a:t>, indicating stable demand for leisure-oriented stays.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City Hotels likely benefit </a:t>
            </a:r>
            <a:r>
              <a:rPr lang="en-US" sz="1300" dirty="0">
                <a:latin typeface="DM Sans" pitchFamily="2" charset="0"/>
              </a:rPr>
              <a:t>from business-oriented demand and more consistent year-round occupancy, helping them outperform Resorts in overall revenue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Expand premium business packages for City Hotels</a:t>
            </a:r>
            <a:r>
              <a:rPr lang="en-US" sz="1300" dirty="0">
                <a:latin typeface="DM Sans" pitchFamily="2" charset="0"/>
              </a:rPr>
              <a:t> to strengthen their already dominant revenue performance.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Introduce seasonal upsell programs for Resort Hotels</a:t>
            </a:r>
            <a:r>
              <a:rPr lang="en-US" sz="1300" dirty="0">
                <a:latin typeface="DM Sans" pitchFamily="2" charset="0"/>
              </a:rPr>
              <a:t> (spa packages, family bundles) to close the revenue gap.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Balance marketing spend</a:t>
            </a:r>
            <a:r>
              <a:rPr lang="en-US" sz="1300" dirty="0">
                <a:latin typeface="DM Sans" pitchFamily="2" charset="0"/>
              </a:rPr>
              <a:t>—allocate more budget to boosting Resort Hotel occupancy during shoulder seasons.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8E522234-5B94-358E-B6C5-E7DA567FF16A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BC5EC301-C582-27E3-4F64-2473E19DD49A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FBF472C4-E59F-51EA-ADEF-EBCC577DB6FB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737E4147-5BE5-40EA-6217-641EFA8719BA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5043949F-2968-FB0A-3DEF-512BE8ACFA66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18E77341-45E0-C16A-4350-04EC918F0336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1DD390F9-589A-768B-E025-437A4E8E5A21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840B367D-2362-8641-52DD-7DF3B555A2C9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B3091FBF-A0E7-E917-A5A9-1B7CC5760D91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430DB994-3E80-8120-2EC5-774C5221649E}"/>
              </a:ext>
            </a:extLst>
          </p:cNvPr>
          <p:cNvGrpSpPr/>
          <p:nvPr/>
        </p:nvGrpSpPr>
        <p:grpSpPr>
          <a:xfrm>
            <a:off x="3130291" y="3208748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893026D3-4481-1279-71D3-050046DA3E21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A9321D33-041F-3CCA-4532-D9351A563579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A76CE3F1-9AC9-7B25-3D12-E591AEE757CD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40993468-A9CD-0420-7D61-082AF6D2C50A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090DECF4-69FD-36BF-DBD1-93605DE6B4E8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B8A54565-718F-4315-03C8-E8379123C4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74" y="1100565"/>
            <a:ext cx="2810156" cy="3684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47312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88D43C-E2C0-C255-9E5F-A90B5D777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4C90D70F-90A8-60F7-BB49-18D159294641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3AD76096-63CD-AFF9-54A5-E59CDE143A80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54F7F61F-23D5-3A80-C395-03FBB450660E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A350210F-82ED-C7CB-EA2E-61803D66211B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541128-AF39-C793-1583-1692C087B793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Market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Segment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Contribution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536BDE-BAA6-CB55-36A6-44407D0F5225}"/>
              </a:ext>
            </a:extLst>
          </p:cNvPr>
          <p:cNvSpPr txBox="1"/>
          <p:nvPr/>
        </p:nvSpPr>
        <p:spPr>
          <a:xfrm>
            <a:off x="3143652" y="1100565"/>
            <a:ext cx="55809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Online Travel Agencies (OTA) dominate bookings</a:t>
            </a:r>
            <a:r>
              <a:rPr lang="en-US" sz="1300" dirty="0">
                <a:latin typeface="DM Sans" pitchFamily="2" charset="0"/>
              </a:rPr>
              <a:t>, capturing the largest share and acting as the primary demand driver.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Offline Travel Agencies form the second-largest segment</a:t>
            </a:r>
            <a:r>
              <a:rPr lang="en-US" sz="1300" dirty="0">
                <a:latin typeface="DM Sans" pitchFamily="2" charset="0"/>
              </a:rPr>
              <a:t>, followed by Group bookings, reflecting strong leisure and tour-operator-driven travel.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Direct and Corporate bookings form a smaller share</a:t>
            </a:r>
            <a:r>
              <a:rPr lang="en-US" sz="1300" dirty="0">
                <a:latin typeface="DM Sans" pitchFamily="2" charset="0"/>
              </a:rPr>
              <a:t>, indicating lower brand-direct traction and limited business-travel volume.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Strengthen partnerships with top OTA platforms</a:t>
            </a:r>
            <a:r>
              <a:rPr lang="en-US" sz="1300" dirty="0">
                <a:latin typeface="DM Sans" pitchFamily="2" charset="0"/>
              </a:rPr>
              <a:t> to maintain high visibility and secure peak-season volume.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Launch exclusive direct-booking benefits</a:t>
            </a:r>
            <a:r>
              <a:rPr lang="en-US" sz="1300" dirty="0">
                <a:latin typeface="DM Sans" pitchFamily="2" charset="0"/>
              </a:rPr>
              <a:t> (discounts, upgrades, reward points) to grow low-cost, high-margin direct bookings.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Expand corporate &amp; group deals</a:t>
            </a:r>
            <a:r>
              <a:rPr lang="en-US" sz="1300" dirty="0">
                <a:latin typeface="DM Sans" pitchFamily="2" charset="0"/>
              </a:rPr>
              <a:t> by offering packaged meeting/event rates to boost underperforming segments.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F2B36B67-4BC1-BDD8-43B5-D4EB3113EF8B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83C384DA-FE69-B7BD-5AB3-33B01747E5CC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818A4751-F491-F1B0-107D-EBB944F4A748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CC08EF45-5532-8F96-E6EC-ED7536264FF0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A100FF3F-762D-017C-4356-BAA27D706B83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C909550E-1095-3E8E-2629-A914824A32CE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10B38C13-3482-9F62-B0AC-BF3A0F75693C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C91B0684-0AB6-F7DA-CB63-E2E4FAC8A491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0F1D3E51-C5E6-4CA9-ED0A-24E70A04B5B8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7959821F-BD9A-48FC-2BF0-6FB738CF9476}"/>
              </a:ext>
            </a:extLst>
          </p:cNvPr>
          <p:cNvGrpSpPr/>
          <p:nvPr/>
        </p:nvGrpSpPr>
        <p:grpSpPr>
          <a:xfrm>
            <a:off x="3141874" y="3016210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9C398C9F-45AA-2AEB-5BF1-39B9302FFDFE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C92214BA-2D25-D850-6785-E3AABF21943A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06A1C257-5301-87A5-46E1-38335C646ACB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C09C04CD-D89C-422F-FDAF-1F15EBF7DA13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D92B4AB4-5987-8A3C-DAAC-8646E92C96C3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:a16="http://schemas.microsoft.com/office/drawing/2014/main" id="{FE080799-0C17-6B67-AB9E-C9B00C35B0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259" y="1107322"/>
            <a:ext cx="2796604" cy="3783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69177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B1E37A-A393-7713-8A5D-B994BE2AC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C69DC077-43FD-F4A9-445A-966E8B092509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72A52E39-735E-400B-0369-7D4F3E6B14E9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35DB4702-866B-CDF6-B77C-023BB3F0081E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A6FD073C-8D41-B949-105A-EA5FF6DFC6C5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8710CF-EA56-AD7D-F239-FF59F2B99DDE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Bookings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&amp;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Revenue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by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Country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D7905C-3084-A078-ED5D-320B17865A15}"/>
              </a:ext>
            </a:extLst>
          </p:cNvPr>
          <p:cNvSpPr txBox="1"/>
          <p:nvPr/>
        </p:nvSpPr>
        <p:spPr>
          <a:xfrm>
            <a:off x="3143652" y="1100565"/>
            <a:ext cx="5580993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European countries contribute the largest share</a:t>
            </a:r>
            <a:r>
              <a:rPr lang="en-US" sz="1300" dirty="0">
                <a:latin typeface="DM Sans" pitchFamily="2" charset="0"/>
              </a:rPr>
              <a:t> of both bookings and revenue, showing strong travel demand from this region.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North America and South America show moderate contribution</a:t>
            </a:r>
            <a:r>
              <a:rPr lang="en-US" sz="1300" dirty="0">
                <a:latin typeface="DM Sans" pitchFamily="2" charset="0"/>
              </a:rPr>
              <a:t>, indicating steady but smaller inflow compared to Europe.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Asia and Africa contribute lower volumes</a:t>
            </a:r>
            <a:r>
              <a:rPr lang="en-US" sz="1300" dirty="0">
                <a:latin typeface="DM Sans" pitchFamily="2" charset="0"/>
              </a:rPr>
              <a:t>, reflecting emerging or less frequent travel patterns to the destination.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Increase targeted promotions in high-performing European countries</a:t>
            </a:r>
            <a:r>
              <a:rPr lang="en-US" sz="1300" dirty="0">
                <a:latin typeface="DM Sans" pitchFamily="2" charset="0"/>
              </a:rPr>
              <a:t> to strengthen demand and maximize revenue.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Develop region-specific marketing campaigns in North &amp; South America</a:t>
            </a:r>
            <a:r>
              <a:rPr lang="en-US" sz="1300" dirty="0">
                <a:latin typeface="DM Sans" pitchFamily="2" charset="0"/>
              </a:rPr>
              <a:t> to grow mid-tier markets further.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Explore partnerships in Asia and Africa</a:t>
            </a:r>
            <a:r>
              <a:rPr lang="en-US" sz="1300" dirty="0">
                <a:latin typeface="DM Sans" pitchFamily="2" charset="0"/>
              </a:rPr>
              <a:t> to tap into emerging travel segments and capture new customer bases.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31C2B02D-7763-79EE-AFA2-DFB8D5078E0F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D005AF81-4053-E48A-BABD-77EE65840FC3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6DD7AF9B-FEA5-EA80-03D7-E25CD7CD2143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570BCD1D-A913-3238-4915-19280944AF22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2895C9E0-75A3-8A5C-2B77-27EBD3CFC99D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2301BDAA-1613-8E8A-6990-1396E9B42DF8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02F10C2D-46FC-03DB-56E9-DB8079D961CC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D0DC513A-EFA7-2D7E-0D13-FFB0D8730948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B6929A54-5CF8-080F-7BC8-F1058C18AA51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15DA1633-69A6-6863-2F59-2BFB99B86AC7}"/>
              </a:ext>
            </a:extLst>
          </p:cNvPr>
          <p:cNvGrpSpPr/>
          <p:nvPr/>
        </p:nvGrpSpPr>
        <p:grpSpPr>
          <a:xfrm>
            <a:off x="3111519" y="3216630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CF46986C-8FE3-C50A-86F1-2BA140539DA4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988ABE34-8A70-F500-080E-180211DB7770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EABCF939-07B8-3C62-C42F-D968F23567AD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C4F9C6F3-2B3A-F6DA-68CE-A557E4F8B3E4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C3FD0C71-9281-C751-C916-B347D2BFA873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C286E604-5E9C-2E43-27CB-223B876E35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56" y="1100565"/>
            <a:ext cx="2805573" cy="3732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73122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ACF88A-73AC-D79F-A713-22D531D64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F867F6B4-0AFC-11B5-2558-CA81CA165AEB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8248348E-D9A0-6166-218D-09ECC59D68FB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C86471D9-6189-8FD4-A2BC-8831524D78BA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E9F9EE71-78B6-3FD0-C656-C6C5C6BFC8AC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2F5390-C3E2-6087-F9DD-47BC35BF6FE9}"/>
              </a:ext>
            </a:extLst>
          </p:cNvPr>
          <p:cNvSpPr txBox="1"/>
          <p:nvPr/>
        </p:nvSpPr>
        <p:spPr>
          <a:xfrm>
            <a:off x="1171353" y="267880"/>
            <a:ext cx="692423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Guest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Behaviour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&amp; Cancellation KPIs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C4143B-6949-30BA-A113-E61A90B806E6}"/>
              </a:ext>
            </a:extLst>
          </p:cNvPr>
          <p:cNvSpPr txBox="1"/>
          <p:nvPr/>
        </p:nvSpPr>
        <p:spPr>
          <a:xfrm>
            <a:off x="168724" y="2601681"/>
            <a:ext cx="8912214" cy="2405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High cancellation volume (44K cancellations)</a:t>
            </a:r>
            <a:r>
              <a:rPr lang="en-US" sz="1300" dirty="0">
                <a:latin typeface="DM Sans" pitchFamily="2" charset="0"/>
              </a:rPr>
              <a:t> signals a major leakage point, directly impacting occupancy and revenue stability.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Cancellation Rate of ~37%</a:t>
            </a:r>
            <a:r>
              <a:rPr lang="en-US" sz="1300" dirty="0">
                <a:latin typeface="DM Sans" pitchFamily="2" charset="0"/>
              </a:rPr>
              <a:t> indicates more than 1 in 3 bookings get canceled — a strong warning for demand forecasting &amp; revenue planning.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Revenue Lost: $16.73M</a:t>
            </a:r>
            <a:r>
              <a:rPr lang="en-US" sz="1300" dirty="0">
                <a:latin typeface="DM Sans" pitchFamily="2" charset="0"/>
              </a:rPr>
              <a:t>, highlighting the financial impact of cancellations on hotel profitability.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Average Lead Time is 104 days</a:t>
            </a:r>
            <a:r>
              <a:rPr lang="en-US" sz="1300" dirty="0">
                <a:latin typeface="DM Sans" pitchFamily="2" charset="0"/>
              </a:rPr>
              <a:t>, showing guests book well in advance, increasing the window where cancellations can occur.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Repeat Guests are only 8.4%</a:t>
            </a:r>
            <a:r>
              <a:rPr lang="en-US" sz="1300" dirty="0">
                <a:latin typeface="DM Sans" pitchFamily="2" charset="0"/>
              </a:rPr>
              <a:t>, showing weak customer retention and limited loyalty behavior.</a:t>
            </a:r>
          </a:p>
          <a:p>
            <a:pPr marL="228600" indent="-228600">
              <a:spcAft>
                <a:spcPts val="800"/>
              </a:spcAft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41% of guests place Special Requests</a:t>
            </a:r>
            <a:r>
              <a:rPr lang="en-US" sz="1300" dirty="0">
                <a:latin typeface="DM Sans" pitchFamily="2" charset="0"/>
              </a:rPr>
              <a:t>, indicating high expectations and the need for personalized service.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7887734-4997-9DB1-6B98-F3417D37D2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185" y="948492"/>
            <a:ext cx="6167494" cy="1557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12890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E66451-297F-53F9-A371-4B846CE737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6E8F738B-7330-0761-3ED1-6773ECF6D699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91900743-2F29-7067-E026-5746ECBC6621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8355790E-EFC0-1AFC-9912-E194991269ED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AED42776-A942-2461-4BE2-54E40A63861E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64A5D88-36A1-1535-4DDB-3DC8A645B8A9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Guest Composition Breakdown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736A9F-E5AB-6CDB-DDB7-66BE268E892D}"/>
              </a:ext>
            </a:extLst>
          </p:cNvPr>
          <p:cNvSpPr txBox="1"/>
          <p:nvPr/>
        </p:nvSpPr>
        <p:spPr>
          <a:xfrm>
            <a:off x="3143652" y="1100565"/>
            <a:ext cx="55809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Adults dominate the guest population (94%)</a:t>
            </a:r>
            <a:r>
              <a:rPr lang="en-US" sz="1300" dirty="0">
                <a:latin typeface="DM Sans" pitchFamily="2" charset="0"/>
              </a:rPr>
              <a:t>, showing that bookings are primarily driven by adult travelers.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Children account for ~5%</a:t>
            </a:r>
            <a:r>
              <a:rPr lang="en-US" sz="1300" dirty="0">
                <a:latin typeface="DM Sans" pitchFamily="2" charset="0"/>
              </a:rPr>
              <a:t>, indicating moderate family-oriented stays.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Babies account for less than 1%</a:t>
            </a:r>
            <a:r>
              <a:rPr lang="en-US" sz="1300" dirty="0">
                <a:latin typeface="DM Sans" pitchFamily="2" charset="0"/>
              </a:rPr>
              <a:t>, indicating very low demand for infant-specific amenities.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Prioritize adult-centric services</a:t>
            </a:r>
            <a:r>
              <a:rPr lang="en-US" sz="1300" dirty="0">
                <a:latin typeface="DM Sans" pitchFamily="2" charset="0"/>
              </a:rPr>
              <a:t> (premium rooms, business amenities, leisure add-ons), as adults form the core revenue base.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Enhance family-friendly offerings</a:t>
            </a:r>
            <a:r>
              <a:rPr lang="en-US" sz="1300" dirty="0">
                <a:latin typeface="DM Sans" pitchFamily="2" charset="0"/>
              </a:rPr>
              <a:t> (kids’ meals, family packages) to grow the Children segment.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Optional low-cost baby amenities</a:t>
            </a:r>
            <a:r>
              <a:rPr lang="en-US" sz="1300" dirty="0">
                <a:latin typeface="DM Sans" pitchFamily="2" charset="0"/>
              </a:rPr>
              <a:t> (cribs, baby toiletries) can improve satisfaction for the tiny Baby segment without major investment.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6D4A1324-E632-911A-6455-3CC26A14419F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61C2F5FB-01A5-053F-DEB7-04469E19FDC7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4AC27A62-3C7F-82D2-F10F-E9130AE8653C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1B84B900-1E7D-4DC8-23AB-F48A6748E3A0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E9D921B2-D3A0-A0F7-6797-0EE2FEBFAE79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F56B3C52-9F74-BBDB-D505-D812B3C1B195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775BB787-BDFF-EBEF-4825-FE35B2AD65D9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D019FBBB-B8C2-2610-9665-9E071A7D3C99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BFECBC09-B372-298C-85E2-5DD43C67EF0E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0B4D45D5-21EA-67BF-0D7D-81141BAA62DA}"/>
              </a:ext>
            </a:extLst>
          </p:cNvPr>
          <p:cNvGrpSpPr/>
          <p:nvPr/>
        </p:nvGrpSpPr>
        <p:grpSpPr>
          <a:xfrm>
            <a:off x="3133749" y="2790961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883060B7-F66F-22E4-47E5-90B80518846E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19B17D99-5BE4-265B-9484-E7F2A37F475D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1A19B6A6-8FF1-0F8E-A2C8-B1AED741BF65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CF408E64-E4BA-9431-9C5E-B991ADE95B69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DC2E5408-910F-2CBF-6ED5-25A31AC8706F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66B75CAC-8AFE-4DEF-7F8B-DE64DF064F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984" y="1070856"/>
            <a:ext cx="2688558" cy="3815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3497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428ADD-B38A-9AF2-DC80-13D9E65D8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DD65C2C9-B465-7D04-421C-4C10C391A4C8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1FAC9AAF-1225-F5F4-A5AD-D57D60293998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3FAEBC42-4ADF-14F7-5F96-45951EFC1F84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C1B349C9-158F-BC44-530C-5972199E6EDC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6FE285-DDC2-93A3-558A-2AFAF60E2B04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Booking Distribution by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Channel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076C23-E8B1-C9AF-8D8F-9C5FF5B28DB8}"/>
              </a:ext>
            </a:extLst>
          </p:cNvPr>
          <p:cNvSpPr txBox="1"/>
          <p:nvPr/>
        </p:nvSpPr>
        <p:spPr>
          <a:xfrm>
            <a:off x="3143652" y="1100565"/>
            <a:ext cx="558099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Travel Agents/Tour Operators dominate bookings (97K+),</a:t>
            </a:r>
            <a:r>
              <a:rPr lang="en-US" sz="1300" dirty="0">
                <a:latin typeface="DM Sans" pitchFamily="2" charset="0"/>
              </a:rPr>
              <a:t> making them the hotel’s strongest acquisition channel.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Direct bookings are second-highest</a:t>
            </a:r>
            <a:r>
              <a:rPr lang="en-US" sz="1300" dirty="0">
                <a:latin typeface="DM Sans" pitchFamily="2" charset="0"/>
              </a:rPr>
              <a:t>, but still far below OTA/agent numbers, so the hotel has only moderate brand trust and big scope to increase direct traffic.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Corporate and GDS channels contribute minimally,</a:t>
            </a:r>
            <a:r>
              <a:rPr lang="en-US" sz="1300" dirty="0">
                <a:latin typeface="DM Sans" pitchFamily="2" charset="0"/>
              </a:rPr>
              <a:t> indicating under-leveraged business travel opportunities.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Strengthen partnerships &amp; visibility on top OTA/agent networks</a:t>
            </a:r>
            <a:r>
              <a:rPr lang="en-US" sz="1300" dirty="0">
                <a:latin typeface="DM Sans" pitchFamily="2" charset="0"/>
              </a:rPr>
              <a:t> to sustain the dominant channel performance.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Boost direct bookings</a:t>
            </a:r>
            <a:r>
              <a:rPr lang="en-US" sz="1300" dirty="0">
                <a:latin typeface="DM Sans" pitchFamily="2" charset="0"/>
              </a:rPr>
              <a:t> through website discounts, loyalty rewards, and exclusive member benefits.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Develop targeted corporate deals &amp; GDS promotions</a:t>
            </a:r>
            <a:r>
              <a:rPr lang="en-US" sz="1300" dirty="0">
                <a:latin typeface="DM Sans" pitchFamily="2" charset="0"/>
              </a:rPr>
              <a:t> to expand low-performing but high-value business segments.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DACC7B56-A5D0-29C2-62A7-7029A86D8F09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1A6C5000-47A8-4E02-A5AE-6791F27FD991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BEEDFE53-ABC7-B094-6329-5F1CE100F195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05F2E8AF-6A2F-6E1C-E862-6E06338A6A89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86C3E226-7DEE-BE82-5863-A889D5EA1097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F8A2297A-DFBF-B749-A136-E56C5A8A3EEC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D109C6CD-0F8E-9B14-C149-F8F97F9FFDF3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78BF8B52-367F-9116-2F55-E3D43B74AEF8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5BDD2552-C8CD-0531-CA8E-181295070BDE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8B563EFE-7292-9C43-8875-445A12B0510B}"/>
              </a:ext>
            </a:extLst>
          </p:cNvPr>
          <p:cNvGrpSpPr/>
          <p:nvPr/>
        </p:nvGrpSpPr>
        <p:grpSpPr>
          <a:xfrm>
            <a:off x="3111519" y="3014924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35ACD425-9801-888E-A5F3-F07CF55B1F74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33BC8351-65D9-1589-9C05-D9983808279A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055BFB50-6385-E744-95E6-CA46C3E8ABC1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E4509D7F-6569-A4B6-FD5A-5B207C7C186E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6BA3FB99-06CA-23B0-F48A-A3857A73A3AB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643FE01-9CA6-815F-1070-52B72EBEFA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24" y="1100565"/>
            <a:ext cx="2802805" cy="3828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5425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25B2B-7150-E7B8-481A-51729F1C30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6B161381-9BC9-89C2-F3AB-2A67EAB4F3EC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55146AC4-1896-D77A-21AD-D2E597ABD2E1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D33DE29B-869A-4997-E700-E2BB4E6B7914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04B31FAB-8D64-3060-860C-51D02E9494AD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D4302C-F8BC-9088-ABD2-7EB93BF64A01}"/>
              </a:ext>
            </a:extLst>
          </p:cNvPr>
          <p:cNvSpPr txBox="1"/>
          <p:nvPr/>
        </p:nvSpPr>
        <p:spPr>
          <a:xfrm>
            <a:off x="1171353" y="267880"/>
            <a:ext cx="73183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Lead Time Comparison by Hotel Type</a:t>
            </a:r>
            <a:endParaRPr lang="en-IN" sz="3200" dirty="0">
              <a:solidFill>
                <a:schemeClr val="tx2">
                  <a:lumMod val="50000"/>
                </a:schemeClr>
              </a:solidFill>
              <a:latin typeface="Outfit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B2D794-B512-2127-84D1-C8956B0205B2}"/>
              </a:ext>
            </a:extLst>
          </p:cNvPr>
          <p:cNvSpPr txBox="1"/>
          <p:nvPr/>
        </p:nvSpPr>
        <p:spPr>
          <a:xfrm>
            <a:off x="3143652" y="1100565"/>
            <a:ext cx="5580993" cy="3739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City Hotels have a higher average lead time (110 days)</a:t>
            </a:r>
            <a:r>
              <a:rPr lang="en-US" sz="1300" dirty="0">
                <a:latin typeface="DM Sans" pitchFamily="2" charset="0"/>
              </a:rPr>
              <a:t>, indicating guests tend to book much earlier, often for planned business or long-stay travel.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Resort Hotels show a shorter lead time (93 days)</a:t>
            </a:r>
            <a:r>
              <a:rPr lang="en-US" sz="1300" dirty="0">
                <a:latin typeface="DM Sans" pitchFamily="2" charset="0"/>
              </a:rPr>
              <a:t>, suggesting more spontaneous travel, such as vacations and leisure trips.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The long booking window increases cancellation risk</a:t>
            </a:r>
            <a:r>
              <a:rPr lang="en-US" sz="1300" dirty="0">
                <a:latin typeface="DM Sans" pitchFamily="2" charset="0"/>
              </a:rPr>
              <a:t>, especially for City Hotels due to early planning and uncertain schedules.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For City Hotels, stricter policies </a:t>
            </a:r>
            <a:r>
              <a:rPr lang="en-US" sz="1300" dirty="0">
                <a:latin typeface="DM Sans" pitchFamily="2" charset="0"/>
              </a:rPr>
              <a:t>help reduce cancellations because long lead times increase the chance of plan changes.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Run early-bird promotions for Resort Hotels</a:t>
            </a:r>
            <a:r>
              <a:rPr lang="en-US" sz="1300" dirty="0">
                <a:latin typeface="DM Sans" pitchFamily="2" charset="0"/>
              </a:rPr>
              <a:t> to encourage guests to book sooner and stabilize demand.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Optimize pricing by lead time</a:t>
            </a:r>
            <a:r>
              <a:rPr lang="en-US" sz="1300" dirty="0">
                <a:latin typeface="DM Sans" pitchFamily="2" charset="0"/>
              </a:rPr>
              <a:t> — higher rates for last-minute bookings and structured discounts for early planners.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D768D7B0-F830-1A4B-42DD-15CE162AE405}"/>
              </a:ext>
            </a:extLst>
          </p:cNvPr>
          <p:cNvGrpSpPr/>
          <p:nvPr/>
        </p:nvGrpSpPr>
        <p:grpSpPr>
          <a:xfrm>
            <a:off x="3090914" y="115163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7E17B7BC-003C-37B6-B77E-2CA25624B4C1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4937D3BB-D6B3-961A-E27C-741CEFF8B149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FD2D312E-9C3A-1787-A25F-09BB211C95CC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D8E3800D-670E-6A19-CF4D-AA8E4DCFA758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C47435D5-A44F-A4E7-73C2-5825A568677E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C6915206-8C82-0CF9-FFD7-053D9339C3F4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DEBE5C25-BFE9-6CB7-6E65-556FFF856B0A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D77C8437-DBF6-8435-D5B0-B2216927A804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56C545B0-1BD7-54F5-50C9-64C35027945A}"/>
              </a:ext>
            </a:extLst>
          </p:cNvPr>
          <p:cNvGrpSpPr/>
          <p:nvPr/>
        </p:nvGrpSpPr>
        <p:grpSpPr>
          <a:xfrm>
            <a:off x="3141874" y="3016859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90BBAF99-FE12-2F51-8C4D-87679804D36A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7C0D5647-6A07-C4AE-226A-DD3D4D8996DE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776935EB-BBBE-E4DE-28AC-7EA7493B63EE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B0049C12-E110-3C5E-B1A1-07AD5AC68F6F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60D2D133-B043-9CD8-F4B1-A2CDD78B6FFE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F9B6556-0F9A-D430-C546-118A4201B2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614" y="1094589"/>
            <a:ext cx="2693249" cy="376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5735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14734-2ABB-C2E1-E4A9-3B29074807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F2FC1F12-8E98-A741-BFF5-6105F4E4822C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547DEB8A-D1B9-CBCE-0B20-E831C2D54A97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6B8596D3-C1F0-ED4C-2AF8-17C6C041FEB1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2A30AC51-FBA7-7778-D990-F30C75B01D22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4E8AC5-C8E8-A2A3-9652-513433C46070}"/>
              </a:ext>
            </a:extLst>
          </p:cNvPr>
          <p:cNvSpPr txBox="1"/>
          <p:nvPr/>
        </p:nvSpPr>
        <p:spPr>
          <a:xfrm>
            <a:off x="1171354" y="267880"/>
            <a:ext cx="730261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Cancellation Rate by Market Segment</a:t>
            </a:r>
            <a:endParaRPr lang="en-IN" sz="3200" dirty="0">
              <a:solidFill>
                <a:schemeClr val="tx2">
                  <a:lumMod val="50000"/>
                </a:schemeClr>
              </a:solidFill>
              <a:latin typeface="Outfit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7D8FB38-DE50-FB12-EBF5-A82448D9C9AC}"/>
              </a:ext>
            </a:extLst>
          </p:cNvPr>
          <p:cNvSpPr txBox="1"/>
          <p:nvPr/>
        </p:nvSpPr>
        <p:spPr>
          <a:xfrm>
            <a:off x="3143652" y="1100565"/>
            <a:ext cx="5748100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Group bookings show the highest cancellation rate (~61%)</a:t>
            </a:r>
            <a:r>
              <a:rPr lang="en-US" sz="1300" dirty="0">
                <a:latin typeface="DM Sans" pitchFamily="2" charset="0"/>
              </a:rPr>
              <a:t>, indicating high volatility and limited commitment from large travel groups.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Online Travel Agencies (36%) and Offline Travel Agencies (34%)</a:t>
            </a:r>
            <a:r>
              <a:rPr lang="en-US" sz="1300" dirty="0">
                <a:latin typeface="DM Sans" pitchFamily="2" charset="0"/>
              </a:rPr>
              <a:t> display elevated cancellation risk due to flexible policies and price-sensitive customers.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Direct &amp; Corporate bookings have the lowest cancellation rates (~15–18%)</a:t>
            </a:r>
            <a:r>
              <a:rPr lang="en-US" sz="1300" dirty="0">
                <a:latin typeface="DM Sans" pitchFamily="2" charset="0"/>
              </a:rPr>
              <a:t>, reflecting stronger intent and more reliable demand.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Tighten cancellation policies for Group &amp; OTA bookings</a:t>
            </a:r>
            <a:r>
              <a:rPr lang="en-US" sz="1300" dirty="0">
                <a:latin typeface="DM Sans" pitchFamily="2" charset="0"/>
              </a:rPr>
              <a:t> (advance deposits, stricter deadlines) to reduce last-minute losses.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Promote incentives for Direct Bookings</a:t>
            </a:r>
            <a:r>
              <a:rPr lang="en-US" sz="1300" dirty="0">
                <a:latin typeface="DM Sans" pitchFamily="2" charset="0"/>
              </a:rPr>
              <a:t> (discounts, loyalty rewards) to shift customers toward lower-risk channels.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Strengthen Corporate partnerships</a:t>
            </a:r>
            <a:r>
              <a:rPr lang="en-US" sz="1300" dirty="0">
                <a:latin typeface="DM Sans" pitchFamily="2" charset="0"/>
              </a:rPr>
              <a:t> through fixed-rate contracts and commitment-based deals to stabilize business demand.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03AD17A6-61BF-9F54-515B-49163F12F56C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949FFFB3-4702-E17F-F109-ADF6947F18F5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EEE3113D-F96C-68CC-EC67-823FD190AA7C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9FB2B6C7-73D5-C21A-6115-F58B173D6ECB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423FF3F9-57C7-8531-DAC8-546E2CD7D573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7461B2F3-EC48-07F4-72C7-FA567A771BAB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B8FA8BB5-ACDC-080E-09A1-3911296D0F6E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0BFF97E1-039A-C15D-F39E-AF7C6F3AFF99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9E799B87-A13A-D8F7-329D-0A92B8AD7615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1DB3230E-F519-C635-C040-1B2F287F510D}"/>
              </a:ext>
            </a:extLst>
          </p:cNvPr>
          <p:cNvGrpSpPr/>
          <p:nvPr/>
        </p:nvGrpSpPr>
        <p:grpSpPr>
          <a:xfrm>
            <a:off x="3130870" y="3216630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E57FE657-B657-90C6-FDB8-A8F46399F33B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4F410457-E7CE-AA9A-C5BD-8A0E666B43B3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BB55ED6A-6279-989E-BB86-771B48A22132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E32B91AB-C4A2-AF7B-8FD5-3BDE6C43FB68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99CAC97A-4B01-B540-2D2A-3F659C01FEF1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EEE773E9-863E-96A2-2621-C5AEC81BED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026" y="1100565"/>
            <a:ext cx="2802804" cy="3831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9975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9BB7A-7805-B857-CD82-0E4B7BE95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DC9D4975-EE30-C141-5D27-2682139EDECA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8503A734-1869-E089-7AB9-A989629EF041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220C74A3-186F-152A-686B-41A743904171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A6767B3E-BCAB-FAE2-1AD6-E7678A4C8B99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2AB35B6-CABB-DA66-022A-0CF387CE8135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Lead Time vs Cancellation Rate</a:t>
            </a:r>
            <a:endParaRPr lang="en-IN" sz="3200" dirty="0">
              <a:solidFill>
                <a:schemeClr val="tx2">
                  <a:lumMod val="50000"/>
                </a:schemeClr>
              </a:solidFill>
              <a:latin typeface="Outfit" panose="020B060402020202020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9561D3E-FA34-0AFE-1FE6-FDE21DC6FDFC}"/>
              </a:ext>
            </a:extLst>
          </p:cNvPr>
          <p:cNvSpPr txBox="1"/>
          <p:nvPr/>
        </p:nvSpPr>
        <p:spPr>
          <a:xfrm>
            <a:off x="3106967" y="1040251"/>
            <a:ext cx="6006083" cy="3924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City Hotel guests book much earlier (~110 days)</a:t>
            </a:r>
            <a:r>
              <a:rPr lang="en-US" sz="1300" dirty="0">
                <a:latin typeface="DM Sans" pitchFamily="2" charset="0"/>
              </a:rPr>
              <a:t> but show a </a:t>
            </a:r>
            <a:r>
              <a:rPr lang="en-US" sz="1300" b="1" dirty="0">
                <a:latin typeface="DM Sans" pitchFamily="2" charset="0"/>
              </a:rPr>
              <a:t>higher cancellation rate (~42%)</a:t>
            </a:r>
            <a:r>
              <a:rPr lang="en-US" sz="1300" dirty="0">
                <a:latin typeface="DM Sans" pitchFamily="2" charset="0"/>
              </a:rPr>
              <a:t>, indicating early-planned trips with less commitment.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Resort Hotel guests book closer to the stay (~92 days)</a:t>
            </a:r>
            <a:r>
              <a:rPr lang="en-US" sz="1300" dirty="0">
                <a:latin typeface="DM Sans" pitchFamily="2" charset="0"/>
              </a:rPr>
              <a:t> and have a </a:t>
            </a:r>
            <a:r>
              <a:rPr lang="en-US" sz="1300" b="1" dirty="0">
                <a:latin typeface="DM Sans" pitchFamily="2" charset="0"/>
              </a:rPr>
              <a:t>lower cancellation rate (~28%)</a:t>
            </a:r>
            <a:r>
              <a:rPr lang="en-US" sz="1300" dirty="0">
                <a:latin typeface="DM Sans" pitchFamily="2" charset="0"/>
              </a:rPr>
              <a:t>, signaling more stable, leisure-driven demand.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latin typeface="DM Sans" pitchFamily="2" charset="0"/>
              </a:rPr>
              <a:t>Bubble sizes show booking volume — </a:t>
            </a:r>
            <a:r>
              <a:rPr lang="en-US" sz="1300" b="1" dirty="0">
                <a:latin typeface="DM Sans" pitchFamily="2" charset="0"/>
              </a:rPr>
              <a:t>City Hotels have slightly higher volume</a:t>
            </a:r>
            <a:r>
              <a:rPr lang="en-US" sz="1300" dirty="0">
                <a:latin typeface="DM Sans" pitchFamily="2" charset="0"/>
              </a:rPr>
              <a:t>, but also face higher cancellation risk at longer lead times.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Reduce cancellation risk for City Hotels</a:t>
            </a:r>
            <a:r>
              <a:rPr lang="en-US" sz="1300" dirty="0">
                <a:latin typeface="DM Sans" pitchFamily="2" charset="0"/>
              </a:rPr>
              <a:t> by tightening policies for long lead-time bookings (advance deposits, stricter cancellation windows).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dirty="0">
                <a:latin typeface="DM Sans" pitchFamily="2" charset="0"/>
              </a:rPr>
              <a:t>Encourage </a:t>
            </a:r>
            <a:r>
              <a:rPr lang="en-US" sz="1300" b="1" dirty="0">
                <a:latin typeface="DM Sans" pitchFamily="2" charset="0"/>
              </a:rPr>
              <a:t>more early bookings</a:t>
            </a:r>
            <a:r>
              <a:rPr lang="en-US" sz="1300" dirty="0">
                <a:latin typeface="DM Sans" pitchFamily="2" charset="0"/>
              </a:rPr>
              <a:t> for Resort Hotels through early-bird discounts and flexible upgrade incentives.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Adopt lead-time–based pricing</a:t>
            </a:r>
            <a:r>
              <a:rPr lang="en-US" sz="1300" dirty="0">
                <a:latin typeface="DM Sans" pitchFamily="2" charset="0"/>
              </a:rPr>
              <a:t> — premium pricing for last-minute stays, structured discounts for early planners.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0209BD86-7269-CDF6-EE51-2B7503668D4C}"/>
              </a:ext>
            </a:extLst>
          </p:cNvPr>
          <p:cNvGrpSpPr/>
          <p:nvPr/>
        </p:nvGrpSpPr>
        <p:grpSpPr>
          <a:xfrm>
            <a:off x="3106967" y="1048134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0426AB19-C99B-75D1-3C20-62EA45A84143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08DF7D40-28D9-2F8E-D0F4-266E293002E2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6603F6B1-4E74-008A-F670-E426A1FD76A4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B9B6DCAB-BB86-FD77-D7E4-A8FEED5A1772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F956223D-3AB7-1159-DA4F-760FDCC49EBC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5BA65C0D-81E1-9000-F62E-FFED992C5AA9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89CB8BD5-63CE-8153-2B80-F76DF3784730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90C8C909-6E8D-7F3B-405F-1638958F60D7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BB6D79E5-837E-8BD9-F4AD-5460B3E86B74}"/>
              </a:ext>
            </a:extLst>
          </p:cNvPr>
          <p:cNvGrpSpPr/>
          <p:nvPr/>
        </p:nvGrpSpPr>
        <p:grpSpPr>
          <a:xfrm>
            <a:off x="3146344" y="3366402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DE8591D3-ECAC-353F-4BC7-25AC492A787E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514D5F2B-6374-2B1D-32AD-9DF61E6E84EE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320257AD-967E-5E2F-98AC-FE2737CE7E1A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07EFE188-0897-8158-83A6-EB5EB2154D53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7B6E0CFE-6A74-A1B9-4D25-69AB04FDE5F4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5186F1D7-352C-7AD0-DA24-69046B3F79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8510"/>
          <a:stretch>
            <a:fillRect/>
          </a:stretch>
        </p:blipFill>
        <p:spPr>
          <a:xfrm>
            <a:off x="131169" y="1109697"/>
            <a:ext cx="2802805" cy="3751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21499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610EC-0025-61F4-F282-D22CD74C4C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6A9337EF-E8E1-9F84-D2C6-7B849ADD83C0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B4FCD7BA-2FBF-10DC-B6E1-3B26DF572002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3DFD0F1E-DBDE-B5C6-91E8-5A8B11DA5F14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BE923B12-745C-2897-02D4-C082191B3CC2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EF5CD0-0B4A-0A53-4D61-93FFD4732608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Monthly Cancellation Trends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716F38-E7EF-6B78-86CB-82F76EA924F3}"/>
              </a:ext>
            </a:extLst>
          </p:cNvPr>
          <p:cNvSpPr txBox="1"/>
          <p:nvPr/>
        </p:nvSpPr>
        <p:spPr>
          <a:xfrm>
            <a:off x="3143652" y="1100565"/>
            <a:ext cx="5636718" cy="34932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00" b="1" dirty="0">
                <a:latin typeface="DM Sans" pitchFamily="2" charset="0"/>
              </a:rPr>
              <a:t>         Insights</a:t>
            </a:r>
          </a:p>
          <a:p>
            <a:r>
              <a:rPr lang="en-US" sz="1300" b="1" dirty="0">
                <a:latin typeface="DM Sans" pitchFamily="2" charset="0"/>
              </a:rPr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Seasonal spikes</a:t>
            </a:r>
            <a:r>
              <a:rPr lang="en-US" sz="1300" dirty="0">
                <a:latin typeface="DM Sans" pitchFamily="2" charset="0"/>
              </a:rPr>
              <a:t> in cancellations appear in </a:t>
            </a:r>
            <a:r>
              <a:rPr lang="en-US" sz="1300" b="1" dirty="0">
                <a:latin typeface="DM Sans" pitchFamily="2" charset="0"/>
              </a:rPr>
              <a:t>Oct–Nov</a:t>
            </a:r>
            <a:r>
              <a:rPr lang="en-US" sz="1300" dirty="0">
                <a:latin typeface="DM Sans" pitchFamily="2" charset="0"/>
              </a:rPr>
              <a:t> and </a:t>
            </a:r>
            <a:r>
              <a:rPr lang="en-US" sz="1300" b="1" dirty="0">
                <a:latin typeface="DM Sans" pitchFamily="2" charset="0"/>
              </a:rPr>
              <a:t>Apr–Jun</a:t>
            </a:r>
            <a:r>
              <a:rPr lang="en-US" sz="1300" dirty="0">
                <a:latin typeface="DM Sans" pitchFamily="2" charset="0"/>
              </a:rPr>
              <a:t>, indicating predictable high-risk periods.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Lowest cancellation months</a:t>
            </a:r>
            <a:r>
              <a:rPr lang="en-US" sz="1300" dirty="0">
                <a:latin typeface="DM Sans" pitchFamily="2" charset="0"/>
              </a:rPr>
              <a:t> occur in </a:t>
            </a:r>
            <a:r>
              <a:rPr lang="en-US" sz="1300" b="1" dirty="0">
                <a:latin typeface="DM Sans" pitchFamily="2" charset="0"/>
              </a:rPr>
              <a:t>Dec–Jan</a:t>
            </a:r>
            <a:r>
              <a:rPr lang="en-US" sz="1300" dirty="0">
                <a:latin typeface="DM Sans" pitchFamily="2" charset="0"/>
              </a:rPr>
              <a:t>, showing stronger commitment during holiday travel.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Total cancellations mirror the same pattern</a:t>
            </a:r>
            <a:r>
              <a:rPr lang="en-US" sz="1300" dirty="0">
                <a:latin typeface="DM Sans" pitchFamily="2" charset="0"/>
              </a:rPr>
              <a:t> as cancellation rate, confirming the trend is driven by real booking volume changes.</a:t>
            </a:r>
            <a:br>
              <a:rPr lang="en-US" sz="1300" dirty="0">
                <a:latin typeface="DM Sans" pitchFamily="2" charset="0"/>
              </a:rPr>
            </a:br>
            <a:endParaRPr lang="en-US" sz="1300" dirty="0">
              <a:latin typeface="DM Sans" pitchFamily="2" charset="0"/>
            </a:endParaRPr>
          </a:p>
          <a:p>
            <a:r>
              <a:rPr lang="en-US" sz="1300" b="1" dirty="0">
                <a:latin typeface="DM Sans" pitchFamily="2" charset="0"/>
              </a:rPr>
              <a:t>         Recommendations </a:t>
            </a:r>
          </a:p>
          <a:p>
            <a:endParaRPr lang="en-US" sz="1300" b="1" dirty="0">
              <a:latin typeface="DM Sans" pitchFamily="2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Strengthen cancellation rules in peak months</a:t>
            </a:r>
            <a:r>
              <a:rPr lang="en-US" sz="1300" dirty="0">
                <a:latin typeface="DM Sans" pitchFamily="2" charset="0"/>
              </a:rPr>
              <a:t> (advanced deposits, shorter free-cancellation windows).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Provide off-peak incentives</a:t>
            </a:r>
            <a:r>
              <a:rPr lang="en-US" sz="1300" dirty="0">
                <a:latin typeface="DM Sans" pitchFamily="2" charset="0"/>
              </a:rPr>
              <a:t> (discounts, flexible upgrades) to stabilize demand.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300" b="1" dirty="0">
                <a:latin typeface="DM Sans" pitchFamily="2" charset="0"/>
              </a:rPr>
              <a:t>Use seasonal patterns for staffing &amp; inventory planning</a:t>
            </a:r>
            <a:r>
              <a:rPr lang="en-US" sz="1300" dirty="0">
                <a:latin typeface="DM Sans" pitchFamily="2" charset="0"/>
              </a:rPr>
              <a:t> to reduce revenue loss and avoid overbooking.</a:t>
            </a:r>
          </a:p>
        </p:txBody>
      </p:sp>
      <p:grpSp>
        <p:nvGrpSpPr>
          <p:cNvPr id="18" name="Google Shape;9221;p84">
            <a:extLst>
              <a:ext uri="{FF2B5EF4-FFF2-40B4-BE49-F238E27FC236}">
                <a16:creationId xmlns:a16="http://schemas.microsoft.com/office/drawing/2014/main" id="{347B38B4-2C14-CE78-EB92-2234B6FA174B}"/>
              </a:ext>
            </a:extLst>
          </p:cNvPr>
          <p:cNvGrpSpPr/>
          <p:nvPr/>
        </p:nvGrpSpPr>
        <p:grpSpPr>
          <a:xfrm>
            <a:off x="3090914" y="1107322"/>
            <a:ext cx="354724" cy="256326"/>
            <a:chOff x="5053900" y="2021500"/>
            <a:chExt cx="483750" cy="483125"/>
          </a:xfrm>
        </p:grpSpPr>
        <p:sp>
          <p:nvSpPr>
            <p:cNvPr id="19" name="Google Shape;9222;p84">
              <a:extLst>
                <a:ext uri="{FF2B5EF4-FFF2-40B4-BE49-F238E27FC236}">
                  <a16:creationId xmlns:a16="http://schemas.microsoft.com/office/drawing/2014/main" id="{3C0DBA81-7F01-019E-6FE1-8257956D6C27}"/>
                </a:ext>
              </a:extLst>
            </p:cNvPr>
            <p:cNvSpPr/>
            <p:nvPr/>
          </p:nvSpPr>
          <p:spPr>
            <a:xfrm>
              <a:off x="5281350" y="2078100"/>
              <a:ext cx="127375" cy="127350"/>
            </a:xfrm>
            <a:custGeom>
              <a:avLst/>
              <a:gdLst/>
              <a:ahLst/>
              <a:cxnLst/>
              <a:rect l="l" t="t" r="r" b="b"/>
              <a:pathLst>
                <a:path w="5095" h="5094" extrusionOk="0">
                  <a:moveTo>
                    <a:pt x="565" y="0"/>
                  </a:moveTo>
                  <a:cubicBezTo>
                    <a:pt x="251" y="0"/>
                    <a:pt x="1" y="254"/>
                    <a:pt x="1" y="568"/>
                  </a:cubicBezTo>
                  <a:cubicBezTo>
                    <a:pt x="1" y="879"/>
                    <a:pt x="251" y="1132"/>
                    <a:pt x="565" y="1132"/>
                  </a:cubicBezTo>
                  <a:cubicBezTo>
                    <a:pt x="2440" y="1135"/>
                    <a:pt x="3959" y="2654"/>
                    <a:pt x="3962" y="4529"/>
                  </a:cubicBezTo>
                  <a:cubicBezTo>
                    <a:pt x="3962" y="4843"/>
                    <a:pt x="4216" y="5094"/>
                    <a:pt x="4530" y="5094"/>
                  </a:cubicBezTo>
                  <a:cubicBezTo>
                    <a:pt x="4841" y="5094"/>
                    <a:pt x="5094" y="4843"/>
                    <a:pt x="5094" y="4529"/>
                  </a:cubicBezTo>
                  <a:cubicBezTo>
                    <a:pt x="5091" y="2029"/>
                    <a:pt x="3065" y="3"/>
                    <a:pt x="56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0" name="Google Shape;9223;p84">
              <a:extLst>
                <a:ext uri="{FF2B5EF4-FFF2-40B4-BE49-F238E27FC236}">
                  <a16:creationId xmlns:a16="http://schemas.microsoft.com/office/drawing/2014/main" id="{0B651006-9C48-E240-D8F7-C87D3343621F}"/>
                </a:ext>
              </a:extLst>
            </p:cNvPr>
            <p:cNvSpPr/>
            <p:nvPr/>
          </p:nvSpPr>
          <p:spPr>
            <a:xfrm>
              <a:off x="5118000" y="2021500"/>
              <a:ext cx="368700" cy="483125"/>
            </a:xfrm>
            <a:custGeom>
              <a:avLst/>
              <a:gdLst/>
              <a:ahLst/>
              <a:cxnLst/>
              <a:rect l="l" t="t" r="r" b="b"/>
              <a:pathLst>
                <a:path w="14748" h="19325" extrusionOk="0">
                  <a:moveTo>
                    <a:pt x="7088" y="1135"/>
                  </a:moveTo>
                  <a:cubicBezTo>
                    <a:pt x="8391" y="1135"/>
                    <a:pt x="9651" y="1571"/>
                    <a:pt x="10668" y="2397"/>
                  </a:cubicBezTo>
                  <a:cubicBezTo>
                    <a:pt x="13159" y="4417"/>
                    <a:pt x="13473" y="8104"/>
                    <a:pt x="11360" y="10516"/>
                  </a:cubicBezTo>
                  <a:cubicBezTo>
                    <a:pt x="10572" y="11419"/>
                    <a:pt x="10085" y="12503"/>
                    <a:pt x="9962" y="13626"/>
                  </a:cubicBezTo>
                  <a:lnTo>
                    <a:pt x="4237" y="13626"/>
                  </a:lnTo>
                  <a:cubicBezTo>
                    <a:pt x="4107" y="12482"/>
                    <a:pt x="3630" y="11407"/>
                    <a:pt x="2866" y="10550"/>
                  </a:cubicBezTo>
                  <a:cubicBezTo>
                    <a:pt x="1658" y="9191"/>
                    <a:pt x="1184" y="7367"/>
                    <a:pt x="1571" y="5549"/>
                  </a:cubicBezTo>
                  <a:cubicBezTo>
                    <a:pt x="2020" y="3427"/>
                    <a:pt x="3748" y="1706"/>
                    <a:pt x="5873" y="1262"/>
                  </a:cubicBezTo>
                  <a:cubicBezTo>
                    <a:pt x="6278" y="1177"/>
                    <a:pt x="6685" y="1135"/>
                    <a:pt x="7088" y="1135"/>
                  </a:cubicBezTo>
                  <a:close/>
                  <a:moveTo>
                    <a:pt x="9931" y="14759"/>
                  </a:moveTo>
                  <a:lnTo>
                    <a:pt x="9931" y="15323"/>
                  </a:lnTo>
                  <a:cubicBezTo>
                    <a:pt x="9931" y="15637"/>
                    <a:pt x="9678" y="15891"/>
                    <a:pt x="9364" y="15891"/>
                  </a:cubicBezTo>
                  <a:lnTo>
                    <a:pt x="4835" y="15891"/>
                  </a:lnTo>
                  <a:cubicBezTo>
                    <a:pt x="4521" y="15891"/>
                    <a:pt x="4270" y="15637"/>
                    <a:pt x="4270" y="15323"/>
                  </a:cubicBezTo>
                  <a:lnTo>
                    <a:pt x="4270" y="14759"/>
                  </a:lnTo>
                  <a:close/>
                  <a:moveTo>
                    <a:pt x="8699" y="17023"/>
                  </a:moveTo>
                  <a:cubicBezTo>
                    <a:pt x="8464" y="17694"/>
                    <a:pt x="7827" y="18192"/>
                    <a:pt x="7099" y="18192"/>
                  </a:cubicBezTo>
                  <a:cubicBezTo>
                    <a:pt x="6371" y="18192"/>
                    <a:pt x="5734" y="17694"/>
                    <a:pt x="5499" y="17023"/>
                  </a:cubicBezTo>
                  <a:close/>
                  <a:moveTo>
                    <a:pt x="7087" y="0"/>
                  </a:moveTo>
                  <a:cubicBezTo>
                    <a:pt x="6607" y="0"/>
                    <a:pt x="6123" y="50"/>
                    <a:pt x="5641" y="151"/>
                  </a:cubicBezTo>
                  <a:cubicBezTo>
                    <a:pt x="3053" y="712"/>
                    <a:pt x="1027" y="2729"/>
                    <a:pt x="462" y="5314"/>
                  </a:cubicBezTo>
                  <a:cubicBezTo>
                    <a:pt x="0" y="7488"/>
                    <a:pt x="568" y="9671"/>
                    <a:pt x="2020" y="11301"/>
                  </a:cubicBezTo>
                  <a:cubicBezTo>
                    <a:pt x="2730" y="12099"/>
                    <a:pt x="3135" y="13149"/>
                    <a:pt x="3135" y="14191"/>
                  </a:cubicBezTo>
                  <a:lnTo>
                    <a:pt x="3135" y="15323"/>
                  </a:lnTo>
                  <a:cubicBezTo>
                    <a:pt x="3138" y="16060"/>
                    <a:pt x="3612" y="16709"/>
                    <a:pt x="4309" y="16939"/>
                  </a:cubicBezTo>
                  <a:cubicBezTo>
                    <a:pt x="4409" y="17518"/>
                    <a:pt x="4681" y="18053"/>
                    <a:pt x="5094" y="18473"/>
                  </a:cubicBezTo>
                  <a:cubicBezTo>
                    <a:pt x="5642" y="19040"/>
                    <a:pt x="6371" y="19324"/>
                    <a:pt x="7099" y="19324"/>
                  </a:cubicBezTo>
                  <a:cubicBezTo>
                    <a:pt x="7828" y="19324"/>
                    <a:pt x="8556" y="19040"/>
                    <a:pt x="9104" y="18473"/>
                  </a:cubicBezTo>
                  <a:cubicBezTo>
                    <a:pt x="9518" y="18053"/>
                    <a:pt x="9790" y="17518"/>
                    <a:pt x="9889" y="16939"/>
                  </a:cubicBezTo>
                  <a:cubicBezTo>
                    <a:pt x="10587" y="16709"/>
                    <a:pt x="11061" y="16060"/>
                    <a:pt x="11064" y="15323"/>
                  </a:cubicBezTo>
                  <a:lnTo>
                    <a:pt x="11064" y="14191"/>
                  </a:lnTo>
                  <a:cubicBezTo>
                    <a:pt x="11064" y="13149"/>
                    <a:pt x="11471" y="12108"/>
                    <a:pt x="12211" y="11262"/>
                  </a:cubicBezTo>
                  <a:cubicBezTo>
                    <a:pt x="14747" y="8366"/>
                    <a:pt x="14370" y="3943"/>
                    <a:pt x="11381" y="1518"/>
                  </a:cubicBezTo>
                  <a:cubicBezTo>
                    <a:pt x="10159" y="525"/>
                    <a:pt x="8647" y="0"/>
                    <a:pt x="70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1" name="Google Shape;9224;p84">
              <a:extLst>
                <a:ext uri="{FF2B5EF4-FFF2-40B4-BE49-F238E27FC236}">
                  <a16:creationId xmlns:a16="http://schemas.microsoft.com/office/drawing/2014/main" id="{A375E4E2-3C33-0C8E-4E32-73065BA26FCB}"/>
                </a:ext>
              </a:extLst>
            </p:cNvPr>
            <p:cNvSpPr/>
            <p:nvPr/>
          </p:nvSpPr>
          <p:spPr>
            <a:xfrm>
              <a:off x="50539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9" y="0"/>
                  </a:moveTo>
                  <a:cubicBezTo>
                    <a:pt x="255" y="0"/>
                    <a:pt x="1" y="254"/>
                    <a:pt x="1" y="568"/>
                  </a:cubicBezTo>
                  <a:cubicBezTo>
                    <a:pt x="1" y="879"/>
                    <a:pt x="255" y="1133"/>
                    <a:pt x="569" y="1133"/>
                  </a:cubicBezTo>
                  <a:lnTo>
                    <a:pt x="1701" y="1133"/>
                  </a:lnTo>
                  <a:cubicBezTo>
                    <a:pt x="2012" y="1133"/>
                    <a:pt x="2266" y="879"/>
                    <a:pt x="2266" y="568"/>
                  </a:cubicBezTo>
                  <a:cubicBezTo>
                    <a:pt x="2266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2" name="Google Shape;9225;p84">
              <a:extLst>
                <a:ext uri="{FF2B5EF4-FFF2-40B4-BE49-F238E27FC236}">
                  <a16:creationId xmlns:a16="http://schemas.microsoft.com/office/drawing/2014/main" id="{E33798E5-1B8C-8E49-D591-19C9A6877788}"/>
                </a:ext>
              </a:extLst>
            </p:cNvPr>
            <p:cNvSpPr/>
            <p:nvPr/>
          </p:nvSpPr>
          <p:spPr>
            <a:xfrm>
              <a:off x="5056850" y="2096550"/>
              <a:ext cx="50750" cy="48025"/>
            </a:xfrm>
            <a:custGeom>
              <a:avLst/>
              <a:gdLst/>
              <a:ahLst/>
              <a:cxnLst/>
              <a:rect l="l" t="t" r="r" b="b"/>
              <a:pathLst>
                <a:path w="2030" h="1921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9"/>
                    <a:pt x="215" y="962"/>
                  </a:cubicBezTo>
                  <a:lnTo>
                    <a:pt x="1015" y="1762"/>
                  </a:lnTo>
                  <a:cubicBezTo>
                    <a:pt x="1125" y="1868"/>
                    <a:pt x="1267" y="1921"/>
                    <a:pt x="1409" y="1921"/>
                  </a:cubicBezTo>
                  <a:cubicBezTo>
                    <a:pt x="1554" y="1921"/>
                    <a:pt x="1699" y="1865"/>
                    <a:pt x="1809" y="1753"/>
                  </a:cubicBezTo>
                  <a:cubicBezTo>
                    <a:pt x="2027" y="1536"/>
                    <a:pt x="2030" y="1183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3" name="Google Shape;9226;p84">
              <a:extLst>
                <a:ext uri="{FF2B5EF4-FFF2-40B4-BE49-F238E27FC236}">
                  <a16:creationId xmlns:a16="http://schemas.microsoft.com/office/drawing/2014/main" id="{A76C5F84-BFB9-C516-726B-D216DE3E9211}"/>
                </a:ext>
              </a:extLst>
            </p:cNvPr>
            <p:cNvSpPr/>
            <p:nvPr/>
          </p:nvSpPr>
          <p:spPr>
            <a:xfrm>
              <a:off x="5056400" y="2266400"/>
              <a:ext cx="51200" cy="48350"/>
            </a:xfrm>
            <a:custGeom>
              <a:avLst/>
              <a:gdLst/>
              <a:ahLst/>
              <a:cxnLst/>
              <a:rect l="l" t="t" r="r" b="b"/>
              <a:pathLst>
                <a:path w="2048" h="1934" extrusionOk="0">
                  <a:moveTo>
                    <a:pt x="1427" y="0"/>
                  </a:moveTo>
                  <a:cubicBezTo>
                    <a:pt x="1285" y="0"/>
                    <a:pt x="1143" y="53"/>
                    <a:pt x="1033" y="159"/>
                  </a:cubicBezTo>
                  <a:lnTo>
                    <a:pt x="233" y="962"/>
                  </a:lnTo>
                  <a:cubicBezTo>
                    <a:pt x="4" y="1179"/>
                    <a:pt x="1" y="1545"/>
                    <a:pt x="227" y="1768"/>
                  </a:cubicBezTo>
                  <a:cubicBezTo>
                    <a:pt x="338" y="1879"/>
                    <a:pt x="482" y="1934"/>
                    <a:pt x="627" y="1934"/>
                  </a:cubicBezTo>
                  <a:cubicBezTo>
                    <a:pt x="774" y="1934"/>
                    <a:pt x="922" y="1876"/>
                    <a:pt x="1033" y="1762"/>
                  </a:cubicBezTo>
                  <a:lnTo>
                    <a:pt x="1833" y="962"/>
                  </a:lnTo>
                  <a:cubicBezTo>
                    <a:pt x="2048" y="738"/>
                    <a:pt x="2045" y="385"/>
                    <a:pt x="1827" y="168"/>
                  </a:cubicBezTo>
                  <a:cubicBezTo>
                    <a:pt x="1717" y="56"/>
                    <a:pt x="1572" y="0"/>
                    <a:pt x="142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4" name="Google Shape;9227;p84">
              <a:extLst>
                <a:ext uri="{FF2B5EF4-FFF2-40B4-BE49-F238E27FC236}">
                  <a16:creationId xmlns:a16="http://schemas.microsoft.com/office/drawing/2014/main" id="{AB5E46AE-2481-981F-421D-35EAD7B6F931}"/>
                </a:ext>
              </a:extLst>
            </p:cNvPr>
            <p:cNvSpPr/>
            <p:nvPr/>
          </p:nvSpPr>
          <p:spPr>
            <a:xfrm>
              <a:off x="5480400" y="2191325"/>
              <a:ext cx="56650" cy="28325"/>
            </a:xfrm>
            <a:custGeom>
              <a:avLst/>
              <a:gdLst/>
              <a:ahLst/>
              <a:cxnLst/>
              <a:rect l="l" t="t" r="r" b="b"/>
              <a:pathLst>
                <a:path w="2266" h="1133" extrusionOk="0">
                  <a:moveTo>
                    <a:pt x="568" y="0"/>
                  </a:moveTo>
                  <a:cubicBezTo>
                    <a:pt x="254" y="0"/>
                    <a:pt x="1" y="254"/>
                    <a:pt x="1" y="568"/>
                  </a:cubicBezTo>
                  <a:cubicBezTo>
                    <a:pt x="1" y="879"/>
                    <a:pt x="254" y="1133"/>
                    <a:pt x="568" y="1133"/>
                  </a:cubicBezTo>
                  <a:lnTo>
                    <a:pt x="1701" y="1133"/>
                  </a:lnTo>
                  <a:cubicBezTo>
                    <a:pt x="2012" y="1133"/>
                    <a:pt x="2265" y="879"/>
                    <a:pt x="2265" y="568"/>
                  </a:cubicBezTo>
                  <a:cubicBezTo>
                    <a:pt x="2265" y="254"/>
                    <a:pt x="2012" y="0"/>
                    <a:pt x="17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5" name="Google Shape;9228;p84">
              <a:extLst>
                <a:ext uri="{FF2B5EF4-FFF2-40B4-BE49-F238E27FC236}">
                  <a16:creationId xmlns:a16="http://schemas.microsoft.com/office/drawing/2014/main" id="{B6C26584-2C16-0038-4D0D-8C9DA480D6F8}"/>
                </a:ext>
              </a:extLst>
            </p:cNvPr>
            <p:cNvSpPr/>
            <p:nvPr/>
          </p:nvSpPr>
          <p:spPr>
            <a:xfrm>
              <a:off x="5479800" y="209655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1550" y="0"/>
                  </a:moveTo>
                  <a:cubicBezTo>
                    <a:pt x="1409" y="0"/>
                    <a:pt x="1267" y="53"/>
                    <a:pt x="1157" y="159"/>
                  </a:cubicBezTo>
                  <a:lnTo>
                    <a:pt x="357" y="962"/>
                  </a:lnTo>
                  <a:cubicBezTo>
                    <a:pt x="1" y="1318"/>
                    <a:pt x="251" y="1928"/>
                    <a:pt x="756" y="1928"/>
                  </a:cubicBezTo>
                  <a:cubicBezTo>
                    <a:pt x="907" y="1928"/>
                    <a:pt x="1051" y="1868"/>
                    <a:pt x="1157" y="1762"/>
                  </a:cubicBezTo>
                  <a:lnTo>
                    <a:pt x="1957" y="959"/>
                  </a:lnTo>
                  <a:cubicBezTo>
                    <a:pt x="2172" y="739"/>
                    <a:pt x="2169" y="385"/>
                    <a:pt x="1951" y="168"/>
                  </a:cubicBezTo>
                  <a:cubicBezTo>
                    <a:pt x="1841" y="56"/>
                    <a:pt x="1696" y="0"/>
                    <a:pt x="155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6" name="Google Shape;9229;p84">
              <a:extLst>
                <a:ext uri="{FF2B5EF4-FFF2-40B4-BE49-F238E27FC236}">
                  <a16:creationId xmlns:a16="http://schemas.microsoft.com/office/drawing/2014/main" id="{5A84369D-D370-6E5F-7FBF-B9232CA33B30}"/>
                </a:ext>
              </a:extLst>
            </p:cNvPr>
            <p:cNvSpPr/>
            <p:nvPr/>
          </p:nvSpPr>
          <p:spPr>
            <a:xfrm>
              <a:off x="5483350" y="2266400"/>
              <a:ext cx="54300" cy="48225"/>
            </a:xfrm>
            <a:custGeom>
              <a:avLst/>
              <a:gdLst/>
              <a:ahLst/>
              <a:cxnLst/>
              <a:rect l="l" t="t" r="r" b="b"/>
              <a:pathLst>
                <a:path w="2172" h="1929" extrusionOk="0">
                  <a:moveTo>
                    <a:pt x="622" y="0"/>
                  </a:moveTo>
                  <a:cubicBezTo>
                    <a:pt x="476" y="0"/>
                    <a:pt x="331" y="56"/>
                    <a:pt x="221" y="168"/>
                  </a:cubicBezTo>
                  <a:cubicBezTo>
                    <a:pt x="4" y="385"/>
                    <a:pt x="1" y="738"/>
                    <a:pt x="215" y="962"/>
                  </a:cubicBezTo>
                  <a:lnTo>
                    <a:pt x="1015" y="1762"/>
                  </a:lnTo>
                  <a:cubicBezTo>
                    <a:pt x="1121" y="1868"/>
                    <a:pt x="1266" y="1928"/>
                    <a:pt x="1417" y="1928"/>
                  </a:cubicBezTo>
                  <a:cubicBezTo>
                    <a:pt x="1921" y="1928"/>
                    <a:pt x="2172" y="1318"/>
                    <a:pt x="1815" y="962"/>
                  </a:cubicBezTo>
                  <a:lnTo>
                    <a:pt x="1015" y="159"/>
                  </a:lnTo>
                  <a:cubicBezTo>
                    <a:pt x="905" y="53"/>
                    <a:pt x="763" y="0"/>
                    <a:pt x="622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27" name="Google Shape;9104;p84">
            <a:extLst>
              <a:ext uri="{FF2B5EF4-FFF2-40B4-BE49-F238E27FC236}">
                <a16:creationId xmlns:a16="http://schemas.microsoft.com/office/drawing/2014/main" id="{74EF6586-1FC4-B4A1-3BF2-24DE5B1438C9}"/>
              </a:ext>
            </a:extLst>
          </p:cNvPr>
          <p:cNvGrpSpPr/>
          <p:nvPr/>
        </p:nvGrpSpPr>
        <p:grpSpPr>
          <a:xfrm>
            <a:off x="3130291" y="2847197"/>
            <a:ext cx="301161" cy="319319"/>
            <a:chOff x="3299850" y="238575"/>
            <a:chExt cx="427725" cy="482225"/>
          </a:xfrm>
        </p:grpSpPr>
        <p:sp>
          <p:nvSpPr>
            <p:cNvPr id="28" name="Google Shape;9105;p84">
              <a:extLst>
                <a:ext uri="{FF2B5EF4-FFF2-40B4-BE49-F238E27FC236}">
                  <a16:creationId xmlns:a16="http://schemas.microsoft.com/office/drawing/2014/main" id="{6BEA46CB-33A2-8854-E012-90E07EA671D6}"/>
                </a:ext>
              </a:extLst>
            </p:cNvPr>
            <p:cNvSpPr/>
            <p:nvPr/>
          </p:nvSpPr>
          <p:spPr>
            <a:xfrm>
              <a:off x="3299850" y="323500"/>
              <a:ext cx="427725" cy="397300"/>
            </a:xfrm>
            <a:custGeom>
              <a:avLst/>
              <a:gdLst/>
              <a:ahLst/>
              <a:cxnLst/>
              <a:rect l="l" t="t" r="r" b="b"/>
              <a:pathLst>
                <a:path w="17109" h="15892" extrusionOk="0">
                  <a:moveTo>
                    <a:pt x="3397" y="6794"/>
                  </a:moveTo>
                  <a:lnTo>
                    <a:pt x="3397" y="14759"/>
                  </a:lnTo>
                  <a:lnTo>
                    <a:pt x="1132" y="14759"/>
                  </a:lnTo>
                  <a:lnTo>
                    <a:pt x="1132" y="6794"/>
                  </a:lnTo>
                  <a:close/>
                  <a:moveTo>
                    <a:pt x="9034" y="1132"/>
                  </a:moveTo>
                  <a:cubicBezTo>
                    <a:pt x="9683" y="1175"/>
                    <a:pt x="10191" y="1712"/>
                    <a:pt x="10191" y="2364"/>
                  </a:cubicBezTo>
                  <a:cubicBezTo>
                    <a:pt x="10191" y="3346"/>
                    <a:pt x="9774" y="5275"/>
                    <a:pt x="9221" y="5828"/>
                  </a:cubicBezTo>
                  <a:cubicBezTo>
                    <a:pt x="8865" y="6184"/>
                    <a:pt x="9119" y="6794"/>
                    <a:pt x="9623" y="6794"/>
                  </a:cubicBezTo>
                  <a:lnTo>
                    <a:pt x="15285" y="6794"/>
                  </a:lnTo>
                  <a:cubicBezTo>
                    <a:pt x="15599" y="6794"/>
                    <a:pt x="15849" y="7047"/>
                    <a:pt x="15849" y="7361"/>
                  </a:cubicBezTo>
                  <a:cubicBezTo>
                    <a:pt x="15849" y="7672"/>
                    <a:pt x="15599" y="7926"/>
                    <a:pt x="15285" y="7926"/>
                  </a:cubicBezTo>
                  <a:lnTo>
                    <a:pt x="11888" y="7926"/>
                  </a:lnTo>
                  <a:cubicBezTo>
                    <a:pt x="11574" y="7926"/>
                    <a:pt x="11323" y="8180"/>
                    <a:pt x="11323" y="8494"/>
                  </a:cubicBezTo>
                  <a:cubicBezTo>
                    <a:pt x="11323" y="8805"/>
                    <a:pt x="11574" y="9058"/>
                    <a:pt x="11888" y="9058"/>
                  </a:cubicBezTo>
                  <a:lnTo>
                    <a:pt x="15285" y="9058"/>
                  </a:lnTo>
                  <a:cubicBezTo>
                    <a:pt x="15586" y="9058"/>
                    <a:pt x="15852" y="9342"/>
                    <a:pt x="15852" y="9662"/>
                  </a:cubicBezTo>
                  <a:cubicBezTo>
                    <a:pt x="15852" y="9976"/>
                    <a:pt x="15599" y="10230"/>
                    <a:pt x="15285" y="10230"/>
                  </a:cubicBezTo>
                  <a:lnTo>
                    <a:pt x="11888" y="10230"/>
                  </a:lnTo>
                  <a:cubicBezTo>
                    <a:pt x="11574" y="10230"/>
                    <a:pt x="11323" y="10484"/>
                    <a:pt x="11323" y="10795"/>
                  </a:cubicBezTo>
                  <a:cubicBezTo>
                    <a:pt x="11323" y="11109"/>
                    <a:pt x="11574" y="11362"/>
                    <a:pt x="11888" y="11362"/>
                  </a:cubicBezTo>
                  <a:lnTo>
                    <a:pt x="14152" y="11362"/>
                  </a:lnTo>
                  <a:cubicBezTo>
                    <a:pt x="14466" y="11362"/>
                    <a:pt x="14717" y="11616"/>
                    <a:pt x="14717" y="11927"/>
                  </a:cubicBezTo>
                  <a:cubicBezTo>
                    <a:pt x="14717" y="12241"/>
                    <a:pt x="14466" y="12494"/>
                    <a:pt x="14152" y="12494"/>
                  </a:cubicBezTo>
                  <a:lnTo>
                    <a:pt x="11888" y="12494"/>
                  </a:lnTo>
                  <a:cubicBezTo>
                    <a:pt x="11574" y="12494"/>
                    <a:pt x="11323" y="12748"/>
                    <a:pt x="11323" y="13059"/>
                  </a:cubicBezTo>
                  <a:cubicBezTo>
                    <a:pt x="11323" y="13373"/>
                    <a:pt x="11574" y="13627"/>
                    <a:pt x="11888" y="13627"/>
                  </a:cubicBezTo>
                  <a:lnTo>
                    <a:pt x="13020" y="13627"/>
                  </a:lnTo>
                  <a:cubicBezTo>
                    <a:pt x="13334" y="13627"/>
                    <a:pt x="13585" y="13880"/>
                    <a:pt x="13585" y="14191"/>
                  </a:cubicBezTo>
                  <a:cubicBezTo>
                    <a:pt x="13585" y="14505"/>
                    <a:pt x="13334" y="14759"/>
                    <a:pt x="13020" y="14759"/>
                  </a:cubicBezTo>
                  <a:lnTo>
                    <a:pt x="9197" y="14759"/>
                  </a:lnTo>
                  <a:cubicBezTo>
                    <a:pt x="8041" y="14759"/>
                    <a:pt x="6890" y="14572"/>
                    <a:pt x="5794" y="14207"/>
                  </a:cubicBezTo>
                  <a:lnTo>
                    <a:pt x="4529" y="13784"/>
                  </a:lnTo>
                  <a:lnTo>
                    <a:pt x="4529" y="7712"/>
                  </a:lnTo>
                  <a:lnTo>
                    <a:pt x="5686" y="7132"/>
                  </a:lnTo>
                  <a:cubicBezTo>
                    <a:pt x="6265" y="6842"/>
                    <a:pt x="6797" y="6459"/>
                    <a:pt x="7253" y="6003"/>
                  </a:cubicBezTo>
                  <a:lnTo>
                    <a:pt x="7289" y="5963"/>
                  </a:lnTo>
                  <a:cubicBezTo>
                    <a:pt x="8352" y="4901"/>
                    <a:pt x="8917" y="2654"/>
                    <a:pt x="9034" y="1132"/>
                  </a:cubicBezTo>
                  <a:close/>
                  <a:moveTo>
                    <a:pt x="8491" y="0"/>
                  </a:moveTo>
                  <a:cubicBezTo>
                    <a:pt x="8177" y="0"/>
                    <a:pt x="7926" y="254"/>
                    <a:pt x="7926" y="568"/>
                  </a:cubicBezTo>
                  <a:cubicBezTo>
                    <a:pt x="7926" y="1887"/>
                    <a:pt x="7380" y="4276"/>
                    <a:pt x="6492" y="5166"/>
                  </a:cubicBezTo>
                  <a:lnTo>
                    <a:pt x="6456" y="5203"/>
                  </a:lnTo>
                  <a:cubicBezTo>
                    <a:pt x="6081" y="5574"/>
                    <a:pt x="5652" y="5885"/>
                    <a:pt x="5181" y="6120"/>
                  </a:cubicBezTo>
                  <a:lnTo>
                    <a:pt x="4529" y="6444"/>
                  </a:lnTo>
                  <a:lnTo>
                    <a:pt x="4529" y="6229"/>
                  </a:lnTo>
                  <a:cubicBezTo>
                    <a:pt x="4529" y="5915"/>
                    <a:pt x="4276" y="5661"/>
                    <a:pt x="3962" y="5661"/>
                  </a:cubicBezTo>
                  <a:lnTo>
                    <a:pt x="565" y="5661"/>
                  </a:lnTo>
                  <a:cubicBezTo>
                    <a:pt x="251" y="5661"/>
                    <a:pt x="0" y="5915"/>
                    <a:pt x="0" y="6229"/>
                  </a:cubicBezTo>
                  <a:lnTo>
                    <a:pt x="0" y="15324"/>
                  </a:lnTo>
                  <a:cubicBezTo>
                    <a:pt x="0" y="15638"/>
                    <a:pt x="251" y="15891"/>
                    <a:pt x="565" y="15891"/>
                  </a:cubicBezTo>
                  <a:lnTo>
                    <a:pt x="3962" y="15891"/>
                  </a:lnTo>
                  <a:cubicBezTo>
                    <a:pt x="4276" y="15891"/>
                    <a:pt x="4529" y="15638"/>
                    <a:pt x="4529" y="15324"/>
                  </a:cubicBezTo>
                  <a:lnTo>
                    <a:pt x="4529" y="14976"/>
                  </a:lnTo>
                  <a:lnTo>
                    <a:pt x="5435" y="15278"/>
                  </a:lnTo>
                  <a:cubicBezTo>
                    <a:pt x="6649" y="15683"/>
                    <a:pt x="7917" y="15888"/>
                    <a:pt x="9197" y="15888"/>
                  </a:cubicBezTo>
                  <a:lnTo>
                    <a:pt x="13020" y="15888"/>
                  </a:lnTo>
                  <a:cubicBezTo>
                    <a:pt x="14219" y="15888"/>
                    <a:pt x="15040" y="14681"/>
                    <a:pt x="14599" y="13566"/>
                  </a:cubicBezTo>
                  <a:cubicBezTo>
                    <a:pt x="15577" y="13298"/>
                    <a:pt x="16106" y="12241"/>
                    <a:pt x="15731" y="11302"/>
                  </a:cubicBezTo>
                  <a:cubicBezTo>
                    <a:pt x="16468" y="11100"/>
                    <a:pt x="16981" y="10429"/>
                    <a:pt x="16984" y="9662"/>
                  </a:cubicBezTo>
                  <a:cubicBezTo>
                    <a:pt x="16981" y="9233"/>
                    <a:pt x="16824" y="8823"/>
                    <a:pt x="16541" y="8503"/>
                  </a:cubicBezTo>
                  <a:cubicBezTo>
                    <a:pt x="16994" y="8005"/>
                    <a:pt x="17108" y="7289"/>
                    <a:pt x="16837" y="6673"/>
                  </a:cubicBezTo>
                  <a:cubicBezTo>
                    <a:pt x="16565" y="6060"/>
                    <a:pt x="15958" y="5661"/>
                    <a:pt x="15285" y="5661"/>
                  </a:cubicBezTo>
                  <a:lnTo>
                    <a:pt x="10635" y="5661"/>
                  </a:lnTo>
                  <a:cubicBezTo>
                    <a:pt x="11109" y="4577"/>
                    <a:pt x="11323" y="3104"/>
                    <a:pt x="11323" y="2364"/>
                  </a:cubicBezTo>
                  <a:cubicBezTo>
                    <a:pt x="11320" y="1060"/>
                    <a:pt x="10263" y="3"/>
                    <a:pt x="895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29" name="Google Shape;9106;p84">
              <a:extLst>
                <a:ext uri="{FF2B5EF4-FFF2-40B4-BE49-F238E27FC236}">
                  <a16:creationId xmlns:a16="http://schemas.microsoft.com/office/drawing/2014/main" id="{2849D5DD-09AB-038E-F02C-66B7C1C024CB}"/>
                </a:ext>
              </a:extLst>
            </p:cNvPr>
            <p:cNvSpPr/>
            <p:nvPr/>
          </p:nvSpPr>
          <p:spPr>
            <a:xfrm>
              <a:off x="3467650" y="238575"/>
              <a:ext cx="46525" cy="56650"/>
            </a:xfrm>
            <a:custGeom>
              <a:avLst/>
              <a:gdLst/>
              <a:ahLst/>
              <a:cxnLst/>
              <a:rect l="l" t="t" r="r" b="b"/>
              <a:pathLst>
                <a:path w="1861" h="2266" extrusionOk="0">
                  <a:moveTo>
                    <a:pt x="646" y="1"/>
                  </a:moveTo>
                  <a:cubicBezTo>
                    <a:pt x="561" y="1"/>
                    <a:pt x="475" y="20"/>
                    <a:pt x="393" y="61"/>
                  </a:cubicBezTo>
                  <a:cubicBezTo>
                    <a:pt x="112" y="199"/>
                    <a:pt x="0" y="541"/>
                    <a:pt x="139" y="821"/>
                  </a:cubicBezTo>
                  <a:lnTo>
                    <a:pt x="707" y="1954"/>
                  </a:lnTo>
                  <a:cubicBezTo>
                    <a:pt x="805" y="2150"/>
                    <a:pt x="1005" y="2265"/>
                    <a:pt x="1212" y="2265"/>
                  </a:cubicBezTo>
                  <a:cubicBezTo>
                    <a:pt x="1297" y="2265"/>
                    <a:pt x="1384" y="2246"/>
                    <a:pt x="1465" y="2204"/>
                  </a:cubicBezTo>
                  <a:cubicBezTo>
                    <a:pt x="1746" y="2065"/>
                    <a:pt x="1860" y="1727"/>
                    <a:pt x="1718" y="1446"/>
                  </a:cubicBezTo>
                  <a:lnTo>
                    <a:pt x="1154" y="314"/>
                  </a:lnTo>
                  <a:cubicBezTo>
                    <a:pt x="1053" y="115"/>
                    <a:pt x="854" y="1"/>
                    <a:pt x="6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0" name="Google Shape;9107;p84">
              <a:extLst>
                <a:ext uri="{FF2B5EF4-FFF2-40B4-BE49-F238E27FC236}">
                  <a16:creationId xmlns:a16="http://schemas.microsoft.com/office/drawing/2014/main" id="{60049496-6B20-5E95-366E-98CAE3FCF6C4}"/>
                </a:ext>
              </a:extLst>
            </p:cNvPr>
            <p:cNvSpPr/>
            <p:nvPr/>
          </p:nvSpPr>
          <p:spPr>
            <a:xfrm>
              <a:off x="3566675" y="238575"/>
              <a:ext cx="46525" cy="56675"/>
            </a:xfrm>
            <a:custGeom>
              <a:avLst/>
              <a:gdLst/>
              <a:ahLst/>
              <a:cxnLst/>
              <a:rect l="l" t="t" r="r" b="b"/>
              <a:pathLst>
                <a:path w="1861" h="2267" extrusionOk="0">
                  <a:moveTo>
                    <a:pt x="1215" y="1"/>
                  </a:moveTo>
                  <a:cubicBezTo>
                    <a:pt x="1007" y="1"/>
                    <a:pt x="808" y="115"/>
                    <a:pt x="707" y="314"/>
                  </a:cubicBezTo>
                  <a:lnTo>
                    <a:pt x="143" y="1446"/>
                  </a:lnTo>
                  <a:cubicBezTo>
                    <a:pt x="1" y="1727"/>
                    <a:pt x="116" y="2065"/>
                    <a:pt x="396" y="2207"/>
                  </a:cubicBezTo>
                  <a:cubicBezTo>
                    <a:pt x="477" y="2247"/>
                    <a:pt x="562" y="2266"/>
                    <a:pt x="646" y="2266"/>
                  </a:cubicBezTo>
                  <a:cubicBezTo>
                    <a:pt x="854" y="2266"/>
                    <a:pt x="1055" y="2151"/>
                    <a:pt x="1154" y="1954"/>
                  </a:cubicBezTo>
                  <a:lnTo>
                    <a:pt x="1722" y="821"/>
                  </a:lnTo>
                  <a:cubicBezTo>
                    <a:pt x="1861" y="541"/>
                    <a:pt x="1749" y="199"/>
                    <a:pt x="1468" y="61"/>
                  </a:cubicBezTo>
                  <a:cubicBezTo>
                    <a:pt x="1387" y="20"/>
                    <a:pt x="1300" y="1"/>
                    <a:pt x="12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1" name="Google Shape;9108;p84">
              <a:extLst>
                <a:ext uri="{FF2B5EF4-FFF2-40B4-BE49-F238E27FC236}">
                  <a16:creationId xmlns:a16="http://schemas.microsoft.com/office/drawing/2014/main" id="{F2CB64BF-D0B2-3A38-C6D9-D1B71AF9683D}"/>
                </a:ext>
              </a:extLst>
            </p:cNvPr>
            <p:cNvSpPr/>
            <p:nvPr/>
          </p:nvSpPr>
          <p:spPr>
            <a:xfrm>
              <a:off x="361122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32" name="Google Shape;9109;p84">
              <a:extLst>
                <a:ext uri="{FF2B5EF4-FFF2-40B4-BE49-F238E27FC236}">
                  <a16:creationId xmlns:a16="http://schemas.microsoft.com/office/drawing/2014/main" id="{07A5701D-618F-2082-4C92-DCFB924F7DCD}"/>
                </a:ext>
              </a:extLst>
            </p:cNvPr>
            <p:cNvSpPr/>
            <p:nvPr/>
          </p:nvSpPr>
          <p:spPr>
            <a:xfrm>
              <a:off x="3413075" y="323500"/>
              <a:ext cx="56550" cy="28325"/>
            </a:xfrm>
            <a:custGeom>
              <a:avLst/>
              <a:gdLst/>
              <a:ahLst/>
              <a:cxnLst/>
              <a:rect l="l" t="t" r="r" b="b"/>
              <a:pathLst>
                <a:path w="2262" h="1133" extrusionOk="0">
                  <a:moveTo>
                    <a:pt x="565" y="0"/>
                  </a:moveTo>
                  <a:cubicBezTo>
                    <a:pt x="251" y="0"/>
                    <a:pt x="0" y="254"/>
                    <a:pt x="0" y="568"/>
                  </a:cubicBezTo>
                  <a:cubicBezTo>
                    <a:pt x="0" y="879"/>
                    <a:pt x="251" y="1132"/>
                    <a:pt x="565" y="1132"/>
                  </a:cubicBezTo>
                  <a:lnTo>
                    <a:pt x="1697" y="1132"/>
                  </a:lnTo>
                  <a:cubicBezTo>
                    <a:pt x="2011" y="1132"/>
                    <a:pt x="2262" y="879"/>
                    <a:pt x="2262" y="568"/>
                  </a:cubicBezTo>
                  <a:cubicBezTo>
                    <a:pt x="2262" y="254"/>
                    <a:pt x="2011" y="0"/>
                    <a:pt x="169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7013B3E0-150F-E9EE-F505-4A7C709740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204" y="1132662"/>
            <a:ext cx="2776626" cy="3692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991454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6A17-5DD9-0647-3007-2DAE25C3C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087;p70">
            <a:extLst>
              <a:ext uri="{FF2B5EF4-FFF2-40B4-BE49-F238E27FC236}">
                <a16:creationId xmlns:a16="http://schemas.microsoft.com/office/drawing/2014/main" id="{F7C85809-373E-3717-B9E3-03895984F1E9}"/>
              </a:ext>
            </a:extLst>
          </p:cNvPr>
          <p:cNvSpPr/>
          <p:nvPr/>
        </p:nvSpPr>
        <p:spPr>
          <a:xfrm rot="10800000" flipH="1">
            <a:off x="8305290" y="4175379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9FCBFD">
              <a:alpha val="4114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" name="Google Shape;1094;p70">
            <a:extLst>
              <a:ext uri="{FF2B5EF4-FFF2-40B4-BE49-F238E27FC236}">
                <a16:creationId xmlns:a16="http://schemas.microsoft.com/office/drawing/2014/main" id="{E4F95F3E-DF98-D1E7-8C57-0CA69438396E}"/>
              </a:ext>
            </a:extLst>
          </p:cNvPr>
          <p:cNvSpPr/>
          <p:nvPr/>
        </p:nvSpPr>
        <p:spPr>
          <a:xfrm rot="10800000" flipH="1">
            <a:off x="8724645" y="465622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lt2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" name="Google Shape;1096;p70">
            <a:extLst>
              <a:ext uri="{FF2B5EF4-FFF2-40B4-BE49-F238E27FC236}">
                <a16:creationId xmlns:a16="http://schemas.microsoft.com/office/drawing/2014/main" id="{7A2A7FA9-A5BA-CB2D-CC3A-1470524D06A3}"/>
              </a:ext>
            </a:extLst>
          </p:cNvPr>
          <p:cNvSpPr/>
          <p:nvPr/>
        </p:nvSpPr>
        <p:spPr>
          <a:xfrm>
            <a:off x="0" y="76208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chemeClr val="accent1"/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" name="Google Shape;1097;p70">
            <a:extLst>
              <a:ext uri="{FF2B5EF4-FFF2-40B4-BE49-F238E27FC236}">
                <a16:creationId xmlns:a16="http://schemas.microsoft.com/office/drawing/2014/main" id="{5DB048F2-F3B4-CCB8-8E28-B51D319C5EC1}"/>
              </a:ext>
            </a:extLst>
          </p:cNvPr>
          <p:cNvSpPr/>
          <p:nvPr/>
        </p:nvSpPr>
        <p:spPr>
          <a:xfrm>
            <a:off x="-419355" y="-407853"/>
            <a:ext cx="838710" cy="968121"/>
          </a:xfrm>
          <a:custGeom>
            <a:avLst/>
            <a:gdLst/>
            <a:ahLst/>
            <a:cxnLst/>
            <a:rect l="l" t="t" r="r" b="b"/>
            <a:pathLst>
              <a:path w="181539" h="209550" extrusionOk="0">
                <a:moveTo>
                  <a:pt x="90694" y="0"/>
                </a:moveTo>
                <a:lnTo>
                  <a:pt x="0" y="52388"/>
                </a:lnTo>
                <a:lnTo>
                  <a:pt x="0" y="157163"/>
                </a:lnTo>
                <a:lnTo>
                  <a:pt x="90694" y="209550"/>
                </a:lnTo>
                <a:lnTo>
                  <a:pt x="181539" y="157163"/>
                </a:lnTo>
                <a:lnTo>
                  <a:pt x="181539" y="52388"/>
                </a:lnTo>
                <a:lnTo>
                  <a:pt x="90694" y="0"/>
                </a:lnTo>
                <a:close/>
              </a:path>
            </a:pathLst>
          </a:custGeom>
          <a:solidFill>
            <a:srgbClr val="68DAF8">
              <a:alpha val="34180"/>
            </a:srgbClr>
          </a:solidFill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AF0B28-FC6F-B470-73DE-7FF439686C26}"/>
              </a:ext>
            </a:extLst>
          </p:cNvPr>
          <p:cNvSpPr txBox="1"/>
          <p:nvPr/>
        </p:nvSpPr>
        <p:spPr>
          <a:xfrm>
            <a:off x="1171354" y="267880"/>
            <a:ext cx="686906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Overall</a:t>
            </a:r>
            <a:r>
              <a:rPr lang="en-IN" sz="3200" dirty="0">
                <a:latin typeface="Outfit" panose="020B0604020202020204" charset="0"/>
              </a:rPr>
              <a:t> </a:t>
            </a:r>
            <a:r>
              <a:rPr lang="en-IN" sz="3200" dirty="0">
                <a:solidFill>
                  <a:schemeClr val="tx2">
                    <a:lumMod val="50000"/>
                  </a:schemeClr>
                </a:solidFill>
                <a:latin typeface="Outfit" panose="020B0604020202020204" charset="0"/>
              </a:rPr>
              <a:t>Business Recommendations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7CAFB9-D4A3-22BC-A8FA-DFDC20CBC379}"/>
              </a:ext>
            </a:extLst>
          </p:cNvPr>
          <p:cNvSpPr txBox="1"/>
          <p:nvPr/>
        </p:nvSpPr>
        <p:spPr>
          <a:xfrm>
            <a:off x="102476" y="1068215"/>
            <a:ext cx="8622169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en-US" sz="1800" b="1" dirty="0">
                <a:latin typeface="DM Sans" pitchFamily="2" charset="0"/>
              </a:rPr>
              <a:t>      Top Improvements: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DM Sans" pitchFamily="2" charset="0"/>
              </a:rPr>
              <a:t>Optimize cancellation risk management</a:t>
            </a:r>
            <a:r>
              <a:rPr lang="en-US" sz="1800" dirty="0">
                <a:latin typeface="DM Sans" pitchFamily="2" charset="0"/>
              </a:rPr>
              <a:t> through policy + pricing adjustments.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DM Sans" pitchFamily="2" charset="0"/>
              </a:rPr>
              <a:t>Build a </a:t>
            </a:r>
            <a:r>
              <a:rPr lang="en-US" sz="1800" b="1" dirty="0">
                <a:latin typeface="DM Sans" pitchFamily="2" charset="0"/>
              </a:rPr>
              <a:t>strong direct-booking ecosystem</a:t>
            </a:r>
            <a:r>
              <a:rPr lang="en-US" sz="1800" dirty="0">
                <a:latin typeface="DM Sans" pitchFamily="2" charset="0"/>
              </a:rPr>
              <a:t> (loyalty rewards, website offers, exclusive benefits).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DM Sans" pitchFamily="2" charset="0"/>
              </a:rPr>
              <a:t>Strengthen partnerships with </a:t>
            </a:r>
            <a:r>
              <a:rPr lang="en-US" sz="1800" b="1" dirty="0">
                <a:latin typeface="DM Sans" pitchFamily="2" charset="0"/>
              </a:rPr>
              <a:t>OTA, Corporate, and Group channels</a:t>
            </a:r>
            <a:r>
              <a:rPr lang="en-US" sz="1800" dirty="0">
                <a:latin typeface="DM Sans" pitchFamily="2" charset="0"/>
              </a:rPr>
              <a:t> based on seasonal demand.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latin typeface="DM Sans" pitchFamily="2" charset="0"/>
              </a:rPr>
              <a:t>Use seasonal patterns for </a:t>
            </a:r>
            <a:r>
              <a:rPr lang="en-US" sz="1800" b="1" dirty="0">
                <a:latin typeface="DM Sans" pitchFamily="2" charset="0"/>
              </a:rPr>
              <a:t>inventory forecasting</a:t>
            </a:r>
            <a:r>
              <a:rPr lang="en-US" sz="1800" dirty="0">
                <a:latin typeface="DM Sans" pitchFamily="2" charset="0"/>
              </a:rPr>
              <a:t> and </a:t>
            </a:r>
            <a:r>
              <a:rPr lang="en-US" sz="1800" b="1" dirty="0">
                <a:latin typeface="DM Sans" pitchFamily="2" charset="0"/>
              </a:rPr>
              <a:t>staff allocation</a:t>
            </a:r>
            <a:r>
              <a:rPr lang="en-US" sz="1800" dirty="0">
                <a:latin typeface="DM Sans" pitchFamily="2" charset="0"/>
              </a:rPr>
              <a:t>.</a:t>
            </a:r>
          </a:p>
          <a:p>
            <a:pPr marL="342900" indent="-34290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sz="1800" b="1" dirty="0">
                <a:latin typeface="DM Sans" pitchFamily="2" charset="0"/>
              </a:rPr>
              <a:t>Scale high-performing segments</a:t>
            </a:r>
            <a:r>
              <a:rPr lang="en-US" sz="1800" dirty="0">
                <a:latin typeface="DM Sans" pitchFamily="2" charset="0"/>
              </a:rPr>
              <a:t> while applying targeted strategies to </a:t>
            </a:r>
            <a:r>
              <a:rPr lang="en-US" sz="1800" b="1" dirty="0">
                <a:latin typeface="DM Sans" pitchFamily="2" charset="0"/>
              </a:rPr>
              <a:t>revive underperforming ones.</a:t>
            </a:r>
            <a:endParaRPr lang="en-US" sz="1800" dirty="0">
              <a:latin typeface="DM Sans" pitchFamily="2" charset="0"/>
            </a:endParaRPr>
          </a:p>
        </p:txBody>
      </p:sp>
      <p:grpSp>
        <p:nvGrpSpPr>
          <p:cNvPr id="6" name="Google Shape;11133;p90">
            <a:extLst>
              <a:ext uri="{FF2B5EF4-FFF2-40B4-BE49-F238E27FC236}">
                <a16:creationId xmlns:a16="http://schemas.microsoft.com/office/drawing/2014/main" id="{C0952A1E-E3F8-1D49-B12B-20A7B9F0BEDA}"/>
              </a:ext>
            </a:extLst>
          </p:cNvPr>
          <p:cNvGrpSpPr/>
          <p:nvPr/>
        </p:nvGrpSpPr>
        <p:grpSpPr>
          <a:xfrm>
            <a:off x="102476" y="1114919"/>
            <a:ext cx="316879" cy="322181"/>
            <a:chOff x="-2060175" y="2768875"/>
            <a:chExt cx="291450" cy="292225"/>
          </a:xfrm>
        </p:grpSpPr>
        <p:sp>
          <p:nvSpPr>
            <p:cNvPr id="7" name="Google Shape;11134;p90">
              <a:extLst>
                <a:ext uri="{FF2B5EF4-FFF2-40B4-BE49-F238E27FC236}">
                  <a16:creationId xmlns:a16="http://schemas.microsoft.com/office/drawing/2014/main" id="{EE8A5021-B558-7D08-D72C-ABC2811EC78F}"/>
                </a:ext>
              </a:extLst>
            </p:cNvPr>
            <p:cNvSpPr/>
            <p:nvPr/>
          </p:nvSpPr>
          <p:spPr>
            <a:xfrm>
              <a:off x="-2060175" y="2768875"/>
              <a:ext cx="291450" cy="292225"/>
            </a:xfrm>
            <a:custGeom>
              <a:avLst/>
              <a:gdLst/>
              <a:ahLst/>
              <a:cxnLst/>
              <a:rect l="l" t="t" r="r" b="b"/>
              <a:pathLst>
                <a:path w="11658" h="11689" extrusionOk="0">
                  <a:moveTo>
                    <a:pt x="10649" y="662"/>
                  </a:moveTo>
                  <a:cubicBezTo>
                    <a:pt x="10838" y="662"/>
                    <a:pt x="10996" y="820"/>
                    <a:pt x="10996" y="1009"/>
                  </a:cubicBezTo>
                  <a:cubicBezTo>
                    <a:pt x="10996" y="1198"/>
                    <a:pt x="10838" y="1355"/>
                    <a:pt x="10649" y="1355"/>
                  </a:cubicBezTo>
                  <a:lnTo>
                    <a:pt x="1040" y="1355"/>
                  </a:lnTo>
                  <a:cubicBezTo>
                    <a:pt x="851" y="1355"/>
                    <a:pt x="694" y="1198"/>
                    <a:pt x="694" y="1009"/>
                  </a:cubicBezTo>
                  <a:cubicBezTo>
                    <a:pt x="694" y="820"/>
                    <a:pt x="851" y="662"/>
                    <a:pt x="1040" y="662"/>
                  </a:cubicBezTo>
                  <a:close/>
                  <a:moveTo>
                    <a:pt x="10303" y="2049"/>
                  </a:moveTo>
                  <a:lnTo>
                    <a:pt x="10303" y="7908"/>
                  </a:lnTo>
                  <a:cubicBezTo>
                    <a:pt x="10334" y="8097"/>
                    <a:pt x="10177" y="8255"/>
                    <a:pt x="9988" y="8255"/>
                  </a:cubicBezTo>
                  <a:lnTo>
                    <a:pt x="1702" y="8255"/>
                  </a:lnTo>
                  <a:cubicBezTo>
                    <a:pt x="1513" y="8255"/>
                    <a:pt x="1355" y="8097"/>
                    <a:pt x="1355" y="7908"/>
                  </a:cubicBezTo>
                  <a:lnTo>
                    <a:pt x="1355" y="2049"/>
                  </a:lnTo>
                  <a:close/>
                  <a:moveTo>
                    <a:pt x="5797" y="10271"/>
                  </a:moveTo>
                  <a:cubicBezTo>
                    <a:pt x="5986" y="10271"/>
                    <a:pt x="6144" y="10429"/>
                    <a:pt x="6144" y="10618"/>
                  </a:cubicBezTo>
                  <a:cubicBezTo>
                    <a:pt x="6144" y="10807"/>
                    <a:pt x="5986" y="10964"/>
                    <a:pt x="5797" y="10964"/>
                  </a:cubicBezTo>
                  <a:cubicBezTo>
                    <a:pt x="5608" y="10964"/>
                    <a:pt x="5451" y="10807"/>
                    <a:pt x="5451" y="10618"/>
                  </a:cubicBezTo>
                  <a:cubicBezTo>
                    <a:pt x="5451" y="10429"/>
                    <a:pt x="5608" y="10271"/>
                    <a:pt x="5797" y="10271"/>
                  </a:cubicBezTo>
                  <a:close/>
                  <a:moveTo>
                    <a:pt x="1040" y="1"/>
                  </a:moveTo>
                  <a:cubicBezTo>
                    <a:pt x="473" y="1"/>
                    <a:pt x="1" y="473"/>
                    <a:pt x="1" y="1009"/>
                  </a:cubicBezTo>
                  <a:cubicBezTo>
                    <a:pt x="1" y="1450"/>
                    <a:pt x="284" y="1828"/>
                    <a:pt x="694" y="1986"/>
                  </a:cubicBezTo>
                  <a:lnTo>
                    <a:pt x="694" y="7908"/>
                  </a:lnTo>
                  <a:cubicBezTo>
                    <a:pt x="694" y="8444"/>
                    <a:pt x="1166" y="8917"/>
                    <a:pt x="1702" y="8917"/>
                  </a:cubicBezTo>
                  <a:lnTo>
                    <a:pt x="5482" y="8917"/>
                  </a:lnTo>
                  <a:lnTo>
                    <a:pt x="5482" y="9673"/>
                  </a:lnTo>
                  <a:cubicBezTo>
                    <a:pt x="5104" y="9830"/>
                    <a:pt x="4821" y="10177"/>
                    <a:pt x="4821" y="10649"/>
                  </a:cubicBezTo>
                  <a:cubicBezTo>
                    <a:pt x="4821" y="11216"/>
                    <a:pt x="5293" y="11689"/>
                    <a:pt x="5829" y="11689"/>
                  </a:cubicBezTo>
                  <a:cubicBezTo>
                    <a:pt x="6396" y="11689"/>
                    <a:pt x="6869" y="11216"/>
                    <a:pt x="6869" y="10649"/>
                  </a:cubicBezTo>
                  <a:cubicBezTo>
                    <a:pt x="6869" y="10240"/>
                    <a:pt x="6585" y="9830"/>
                    <a:pt x="6207" y="9673"/>
                  </a:cubicBezTo>
                  <a:lnTo>
                    <a:pt x="6207" y="8917"/>
                  </a:lnTo>
                  <a:lnTo>
                    <a:pt x="10019" y="8917"/>
                  </a:lnTo>
                  <a:cubicBezTo>
                    <a:pt x="10555" y="8917"/>
                    <a:pt x="11027" y="8444"/>
                    <a:pt x="11027" y="7908"/>
                  </a:cubicBezTo>
                  <a:lnTo>
                    <a:pt x="11027" y="1986"/>
                  </a:lnTo>
                  <a:cubicBezTo>
                    <a:pt x="11405" y="1828"/>
                    <a:pt x="11657" y="1450"/>
                    <a:pt x="11657" y="1009"/>
                  </a:cubicBezTo>
                  <a:cubicBezTo>
                    <a:pt x="11657" y="473"/>
                    <a:pt x="11185" y="1"/>
                    <a:pt x="1064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1135;p90">
              <a:extLst>
                <a:ext uri="{FF2B5EF4-FFF2-40B4-BE49-F238E27FC236}">
                  <a16:creationId xmlns:a16="http://schemas.microsoft.com/office/drawing/2014/main" id="{B1F35A49-F58D-5596-728E-6D6954034D5E}"/>
                </a:ext>
              </a:extLst>
            </p:cNvPr>
            <p:cNvSpPr/>
            <p:nvPr/>
          </p:nvSpPr>
          <p:spPr>
            <a:xfrm>
              <a:off x="-2008975" y="2855525"/>
              <a:ext cx="189050" cy="84500"/>
            </a:xfrm>
            <a:custGeom>
              <a:avLst/>
              <a:gdLst/>
              <a:ahLst/>
              <a:cxnLst/>
              <a:rect l="l" t="t" r="r" b="b"/>
              <a:pathLst>
                <a:path w="7562" h="3380" extrusionOk="0">
                  <a:moveTo>
                    <a:pt x="6553" y="0"/>
                  </a:moveTo>
                  <a:cubicBezTo>
                    <a:pt x="6144" y="0"/>
                    <a:pt x="6081" y="504"/>
                    <a:pt x="6427" y="662"/>
                  </a:cubicBezTo>
                  <a:lnTo>
                    <a:pt x="4474" y="2584"/>
                  </a:lnTo>
                  <a:lnTo>
                    <a:pt x="2647" y="788"/>
                  </a:lnTo>
                  <a:cubicBezTo>
                    <a:pt x="2584" y="725"/>
                    <a:pt x="2497" y="693"/>
                    <a:pt x="2410" y="693"/>
                  </a:cubicBezTo>
                  <a:cubicBezTo>
                    <a:pt x="2324" y="693"/>
                    <a:pt x="2237" y="725"/>
                    <a:pt x="2174" y="788"/>
                  </a:cubicBezTo>
                  <a:lnTo>
                    <a:pt x="126" y="2836"/>
                  </a:lnTo>
                  <a:cubicBezTo>
                    <a:pt x="0" y="2930"/>
                    <a:pt x="0" y="3182"/>
                    <a:pt x="126" y="3308"/>
                  </a:cubicBezTo>
                  <a:cubicBezTo>
                    <a:pt x="189" y="3356"/>
                    <a:pt x="276" y="3379"/>
                    <a:pt x="363" y="3379"/>
                  </a:cubicBezTo>
                  <a:cubicBezTo>
                    <a:pt x="449" y="3379"/>
                    <a:pt x="536" y="3356"/>
                    <a:pt x="599" y="3308"/>
                  </a:cubicBezTo>
                  <a:lnTo>
                    <a:pt x="2426" y="1481"/>
                  </a:lnTo>
                  <a:lnTo>
                    <a:pt x="4222" y="3308"/>
                  </a:lnTo>
                  <a:cubicBezTo>
                    <a:pt x="4285" y="3356"/>
                    <a:pt x="4372" y="3379"/>
                    <a:pt x="4458" y="3379"/>
                  </a:cubicBezTo>
                  <a:cubicBezTo>
                    <a:pt x="4545" y="3379"/>
                    <a:pt x="4632" y="3356"/>
                    <a:pt x="4695" y="3308"/>
                  </a:cubicBezTo>
                  <a:lnTo>
                    <a:pt x="6900" y="1134"/>
                  </a:lnTo>
                  <a:cubicBezTo>
                    <a:pt x="6931" y="1260"/>
                    <a:pt x="7057" y="1355"/>
                    <a:pt x="7215" y="1355"/>
                  </a:cubicBezTo>
                  <a:cubicBezTo>
                    <a:pt x="7404" y="1355"/>
                    <a:pt x="7562" y="1197"/>
                    <a:pt x="7562" y="1008"/>
                  </a:cubicBezTo>
                  <a:lnTo>
                    <a:pt x="7562" y="347"/>
                  </a:lnTo>
                  <a:cubicBezTo>
                    <a:pt x="7562" y="158"/>
                    <a:pt x="7467" y="0"/>
                    <a:pt x="724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3F76607-E80C-5AE5-3C49-81ECE78D661E}"/>
              </a:ext>
            </a:extLst>
          </p:cNvPr>
          <p:cNvSpPr txBox="1"/>
          <p:nvPr/>
        </p:nvSpPr>
        <p:spPr>
          <a:xfrm>
            <a:off x="4493172" y="4501055"/>
            <a:ext cx="381211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b="1" i="1" dirty="0">
                <a:solidFill>
                  <a:schemeClr val="bg1">
                    <a:lumMod val="50000"/>
                  </a:schemeClr>
                </a:solidFill>
                <a:latin typeface="DM Sans" pitchFamily="2" charset="0"/>
              </a:rPr>
              <a:t>These insights provide a strong foundation for revenue growth, reduced cancellations, and improved guest satisfaction.</a:t>
            </a:r>
            <a:endParaRPr lang="en-IN" sz="1000" b="1" i="1" dirty="0">
              <a:solidFill>
                <a:schemeClr val="bg1">
                  <a:lumMod val="50000"/>
                </a:schemeClr>
              </a:solidFill>
              <a:latin typeface="DM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6498717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39"/>
          <p:cNvSpPr txBox="1">
            <a:spLocks noGrp="1"/>
          </p:cNvSpPr>
          <p:nvPr>
            <p:ph type="title"/>
          </p:nvPr>
        </p:nvSpPr>
        <p:spPr>
          <a:xfrm>
            <a:off x="271308" y="1153623"/>
            <a:ext cx="3994479" cy="85222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IN" sz="5400" dirty="0"/>
              <a:t>Thank You!</a:t>
            </a:r>
            <a:endParaRPr sz="5000" dirty="0"/>
          </a:p>
        </p:txBody>
      </p:sp>
      <p:grpSp>
        <p:nvGrpSpPr>
          <p:cNvPr id="406" name="Google Shape;406;p39"/>
          <p:cNvGrpSpPr/>
          <p:nvPr/>
        </p:nvGrpSpPr>
        <p:grpSpPr>
          <a:xfrm>
            <a:off x="5007881" y="-644749"/>
            <a:ext cx="4136119" cy="6091167"/>
            <a:chOff x="-541907" y="-622274"/>
            <a:chExt cx="4136119" cy="6091167"/>
          </a:xfrm>
        </p:grpSpPr>
        <p:sp>
          <p:nvSpPr>
            <p:cNvPr id="407" name="Google Shape;407;p39"/>
            <p:cNvSpPr/>
            <p:nvPr/>
          </p:nvSpPr>
          <p:spPr>
            <a:xfrm rot="10800000">
              <a:off x="84193" y="4041766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39"/>
            <p:cNvSpPr/>
            <p:nvPr/>
          </p:nvSpPr>
          <p:spPr>
            <a:xfrm rot="10800000">
              <a:off x="993581" y="4569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39"/>
            <p:cNvSpPr/>
            <p:nvPr/>
          </p:nvSpPr>
          <p:spPr>
            <a:xfrm rot="10800000">
              <a:off x="2040588" y="96213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39"/>
            <p:cNvSpPr/>
            <p:nvPr/>
          </p:nvSpPr>
          <p:spPr>
            <a:xfrm rot="10800000">
              <a:off x="-541907" y="9621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39"/>
            <p:cNvSpPr/>
            <p:nvPr/>
          </p:nvSpPr>
          <p:spPr>
            <a:xfrm flipH="1">
              <a:off x="993584" y="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2" name="Google Shape;412;p39"/>
            <p:cNvSpPr/>
            <p:nvPr/>
          </p:nvSpPr>
          <p:spPr>
            <a:xfrm flipH="1">
              <a:off x="713235" y="227519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3" name="Google Shape;413;p39"/>
            <p:cNvSpPr/>
            <p:nvPr/>
          </p:nvSpPr>
          <p:spPr>
            <a:xfrm flipH="1">
              <a:off x="421473" y="177885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4" name="Google Shape;414;p39"/>
            <p:cNvSpPr/>
            <p:nvPr/>
          </p:nvSpPr>
          <p:spPr>
            <a:xfrm flipH="1">
              <a:off x="1611716" y="147497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5" name="Google Shape;415;p39"/>
            <p:cNvSpPr/>
            <p:nvPr/>
          </p:nvSpPr>
          <p:spPr>
            <a:xfrm flipH="1">
              <a:off x="2597873" y="-62227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39"/>
            <p:cNvSpPr/>
            <p:nvPr/>
          </p:nvSpPr>
          <p:spPr>
            <a:xfrm flipH="1">
              <a:off x="1260177" y="2651257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39"/>
            <p:cNvSpPr/>
            <p:nvPr/>
          </p:nvSpPr>
          <p:spPr>
            <a:xfrm flipH="1">
              <a:off x="2180770" y="-13821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39"/>
            <p:cNvSpPr/>
            <p:nvPr/>
          </p:nvSpPr>
          <p:spPr>
            <a:xfrm rot="10800000">
              <a:off x="1759176" y="4045138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39"/>
            <p:cNvSpPr/>
            <p:nvPr/>
          </p:nvSpPr>
          <p:spPr>
            <a:xfrm rot="10800000">
              <a:off x="2367643" y="265124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39"/>
            <p:cNvSpPr/>
            <p:nvPr/>
          </p:nvSpPr>
          <p:spPr>
            <a:xfrm rot="10800000">
              <a:off x="503546" y="3557703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39"/>
            <p:cNvSpPr/>
            <p:nvPr/>
          </p:nvSpPr>
          <p:spPr>
            <a:xfrm rot="10800000">
              <a:off x="1759170" y="4500771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2" name="Google Shape;422;p39"/>
            <p:cNvSpPr/>
            <p:nvPr/>
          </p:nvSpPr>
          <p:spPr>
            <a:xfrm flipH="1">
              <a:off x="-125473" y="539494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14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3" name="Google Shape;423;p39"/>
            <p:cNvSpPr/>
            <p:nvPr/>
          </p:nvSpPr>
          <p:spPr>
            <a:xfrm flipH="1">
              <a:off x="2755502" y="3194752"/>
              <a:ext cx="838710" cy="968121"/>
            </a:xfrm>
            <a:custGeom>
              <a:avLst/>
              <a:gdLst/>
              <a:ahLst/>
              <a:cxnLst/>
              <a:rect l="l" t="t" r="r" b="b"/>
              <a:pathLst>
                <a:path w="181539" h="209550" extrusionOk="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180"/>
              </a:srgbClr>
            </a:solidFill>
            <a:ln w="1905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2868B69-64DC-4890-59D1-B661DBAB49C9}"/>
              </a:ext>
            </a:extLst>
          </p:cNvPr>
          <p:cNvSpPr txBox="1"/>
          <p:nvPr/>
        </p:nvSpPr>
        <p:spPr>
          <a:xfrm>
            <a:off x="387859" y="1926073"/>
            <a:ext cx="446240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>
                <a:solidFill>
                  <a:schemeClr val="tx1">
                    <a:lumMod val="75000"/>
                  </a:schemeClr>
                </a:solidFill>
                <a:latin typeface="Outfit" panose="020B0604020202020204" charset="0"/>
              </a:rPr>
              <a:t>Feedback &amp; Suggestions Are Welcome</a:t>
            </a:r>
            <a:endParaRPr lang="en-IN" sz="3200" dirty="0">
              <a:solidFill>
                <a:schemeClr val="tx1">
                  <a:lumMod val="75000"/>
                </a:schemeClr>
              </a:solidFill>
              <a:latin typeface="Outfit" panose="020B0604020202020204" charset="0"/>
            </a:endParaRPr>
          </a:p>
        </p:txBody>
      </p:sp>
      <p:cxnSp>
        <p:nvCxnSpPr>
          <p:cNvPr id="3" name="Google Shape;1098;p70">
            <a:extLst>
              <a:ext uri="{FF2B5EF4-FFF2-40B4-BE49-F238E27FC236}">
                <a16:creationId xmlns:a16="http://schemas.microsoft.com/office/drawing/2014/main" id="{F5E27C81-0AC7-50BD-6231-F13CA6216B69}"/>
              </a:ext>
            </a:extLst>
          </p:cNvPr>
          <p:cNvCxnSpPr/>
          <p:nvPr/>
        </p:nvCxnSpPr>
        <p:spPr>
          <a:xfrm>
            <a:off x="387982" y="939662"/>
            <a:ext cx="373500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6588</TotalTime>
  <Words>3091</Words>
  <Application>Microsoft Office PowerPoint</Application>
  <PresentationFormat>On-screen Show (16:9)</PresentationFormat>
  <Paragraphs>315</Paragraphs>
  <Slides>31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Outfit</vt:lpstr>
      <vt:lpstr>DM Sans</vt:lpstr>
      <vt:lpstr>Data Collection and Analysis - Master of Science in Community Health and Prevention Research by Slidesgo</vt:lpstr>
      <vt:lpstr>Hotel Booking Demand &amp; Cancellation Analysis</vt:lpstr>
      <vt:lpstr>Table of contents</vt:lpstr>
      <vt:lpstr>Project Setup &amp; Data Understanding</vt:lpstr>
      <vt:lpstr>PowerPoint Presentation</vt:lpstr>
      <vt:lpstr>PowerPoint Presentation</vt:lpstr>
      <vt:lpstr>Data Cleaning &amp; Feature Preparation</vt:lpstr>
      <vt:lpstr>PowerPoint Presentation</vt:lpstr>
      <vt:lpstr>PowerPoint Presentation</vt:lpstr>
      <vt:lpstr>PowerPoint Presentation</vt:lpstr>
      <vt:lpstr>PowerPoint Presentation</vt:lpstr>
      <vt:lpstr>Exploratory Analysis &amp; KPI Development</vt:lpstr>
      <vt:lpstr>PowerPoint Presentation</vt:lpstr>
      <vt:lpstr>PowerPoint Presentation</vt:lpstr>
      <vt:lpstr>PowerPoint Presentation</vt:lpstr>
      <vt:lpstr>Dashboard Visualization &amp; Strategic Insights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DHRUV MALHOTRA</dc:creator>
  <cp:lastModifiedBy>DHRUV MALHOTRA</cp:lastModifiedBy>
  <cp:revision>4</cp:revision>
  <dcterms:modified xsi:type="dcterms:W3CDTF">2025-11-18T20:35:42Z</dcterms:modified>
</cp:coreProperties>
</file>